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60"/>
  </p:notesMasterIdLst>
  <p:sldIdLst>
    <p:sldId id="4338" r:id="rId2"/>
    <p:sldId id="4919" r:id="rId3"/>
    <p:sldId id="4920" r:id="rId4"/>
    <p:sldId id="4965" r:id="rId5"/>
    <p:sldId id="4966" r:id="rId6"/>
    <p:sldId id="4967" r:id="rId7"/>
    <p:sldId id="4968" r:id="rId8"/>
    <p:sldId id="4969" r:id="rId9"/>
    <p:sldId id="4931" r:id="rId10"/>
    <p:sldId id="4932" r:id="rId11"/>
    <p:sldId id="4934" r:id="rId12"/>
    <p:sldId id="4935" r:id="rId13"/>
    <p:sldId id="4936" r:id="rId14"/>
    <p:sldId id="4937" r:id="rId15"/>
    <p:sldId id="4938" r:id="rId16"/>
    <p:sldId id="4939" r:id="rId17"/>
    <p:sldId id="4940" r:id="rId18"/>
    <p:sldId id="4941" r:id="rId19"/>
    <p:sldId id="4921" r:id="rId20"/>
    <p:sldId id="4922" r:id="rId21"/>
    <p:sldId id="4923" r:id="rId22"/>
    <p:sldId id="4488" r:id="rId23"/>
    <p:sldId id="4924" r:id="rId24"/>
    <p:sldId id="4925" r:id="rId25"/>
    <p:sldId id="4926" r:id="rId26"/>
    <p:sldId id="4927" r:id="rId27"/>
    <p:sldId id="4928" r:id="rId28"/>
    <p:sldId id="4929" r:id="rId29"/>
    <p:sldId id="4971" r:id="rId30"/>
    <p:sldId id="4972" r:id="rId31"/>
    <p:sldId id="4970" r:id="rId32"/>
    <p:sldId id="4945" r:id="rId33"/>
    <p:sldId id="4946" r:id="rId34"/>
    <p:sldId id="4951" r:id="rId35"/>
    <p:sldId id="4952" r:id="rId36"/>
    <p:sldId id="4947" r:id="rId37"/>
    <p:sldId id="4976" r:id="rId38"/>
    <p:sldId id="4948" r:id="rId39"/>
    <p:sldId id="4953" r:id="rId40"/>
    <p:sldId id="4949" r:id="rId41"/>
    <p:sldId id="4954" r:id="rId42"/>
    <p:sldId id="4950" r:id="rId43"/>
    <p:sldId id="4955" r:id="rId44"/>
    <p:sldId id="4980" r:id="rId45"/>
    <p:sldId id="4979" r:id="rId46"/>
    <p:sldId id="4981" r:id="rId47"/>
    <p:sldId id="4957" r:id="rId48"/>
    <p:sldId id="4942" r:id="rId49"/>
    <p:sldId id="4930" r:id="rId50"/>
    <p:sldId id="4982" r:id="rId51"/>
    <p:sldId id="4958" r:id="rId52"/>
    <p:sldId id="4944" r:id="rId53"/>
    <p:sldId id="4959" r:id="rId54"/>
    <p:sldId id="4960" r:id="rId55"/>
    <p:sldId id="4961" r:id="rId56"/>
    <p:sldId id="4962" r:id="rId57"/>
    <p:sldId id="4963" r:id="rId58"/>
    <p:sldId id="4964" r:id="rId59"/>
  </p:sldIdLst>
  <p:sldSz cx="12192000" cy="6858000"/>
  <p:notesSz cx="6858000" cy="9144000"/>
  <p:embeddedFontLst>
    <p:embeddedFont>
      <p:font typeface="Calibri" panose="020F0502020204030204" pitchFamily="34" charset="0"/>
      <p:regular r:id="rId61"/>
      <p:bold r:id="rId62"/>
      <p:italic r:id="rId63"/>
      <p:boldItalic r:id="rId64"/>
    </p:embeddedFont>
    <p:embeddedFont>
      <p:font typeface="Consolas" panose="020B0609020204030204" pitchFamily="49" charset="0"/>
      <p:regular r:id="rId65"/>
      <p:bold r:id="rId66"/>
      <p:italic r:id="rId67"/>
      <p:boldItalic r:id="rId68"/>
    </p:embeddedFont>
    <p:embeddedFont>
      <p:font typeface="맑은 고딕" panose="020B0503020000020004" pitchFamily="50" charset="-127"/>
      <p:regular r:id="rId69"/>
      <p:bold r:id="rId70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B883"/>
    <a:srgbClr val="1E1E1E"/>
    <a:srgbClr val="36546D"/>
    <a:srgbClr val="FDFFFE"/>
    <a:srgbClr val="7EFF80"/>
    <a:srgbClr val="FEFF7F"/>
    <a:srgbClr val="000072"/>
    <a:srgbClr val="FEFEFE"/>
    <a:srgbClr val="0741E6"/>
    <a:srgbClr val="6236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09" autoAdjust="0"/>
    <p:restoredTop sz="94665" autoAdjust="0"/>
  </p:normalViewPr>
  <p:slideViewPr>
    <p:cSldViewPr snapToGrid="0">
      <p:cViewPr varScale="1">
        <p:scale>
          <a:sx n="50" d="100"/>
          <a:sy n="50" d="100"/>
        </p:scale>
        <p:origin x="43" y="15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3.fntdata"/><Relationship Id="rId68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font" Target="fonts/font6.fntdata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font" Target="fonts/font1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font" Target="fonts/font4.fntdata"/><Relationship Id="rId69" Type="http://schemas.openxmlformats.org/officeDocument/2006/relationships/font" Target="fonts/font9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font" Target="fonts/font7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2.fntdata"/><Relationship Id="rId7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65" Type="http://schemas.openxmlformats.org/officeDocument/2006/relationships/font" Target="fonts/font5.fntdata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C69E39-999D-5B4A-986F-FF43A57A78CE}" type="datetimeFigureOut">
              <a:rPr kumimoji="1" lang="ko-Kore-KR" altLang="en-US" smtClean="0"/>
              <a:t>04/03/2025</a:t>
            </a:fld>
            <a:endParaRPr kumimoji="1" lang="ko-Kore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ore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96F2B5-E9AF-9D40-A629-A66BB45D84D2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5424730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59A215-9F2D-2814-C334-CB5E0497AE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EC12D50-EEB2-BBC4-5DFB-EA953F269B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A203FC-F5DC-9FC8-9C80-3B7659E3F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46959-3755-42C6-A836-92F078C95403}" type="datetimeFigureOut">
              <a:rPr lang="ko-KR" altLang="en-US" smtClean="0"/>
              <a:t>2025-04-03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64C1B3B-8370-8842-E0AB-ACED59012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FE5F6C7-A015-92EB-442F-8E30FE182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F5438-D7DA-4C1D-9B84-25AD91F66E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5306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3C99DC-7560-0D31-5E87-1B07C408F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988" y="2828"/>
            <a:ext cx="11260802" cy="1325563"/>
          </a:xfrm>
        </p:spPr>
        <p:txBody>
          <a:bodyPr/>
          <a:lstStyle>
            <a:lvl1pPr>
              <a:defRPr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B687C90-77FA-A4F1-E534-2262CF4FBF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88" y="1328390"/>
            <a:ext cx="11260802" cy="5529609"/>
          </a:xfrm>
        </p:spPr>
        <p:txBody>
          <a:bodyPr/>
          <a:lstStyle>
            <a:lvl1pPr>
              <a:lnSpc>
                <a:spcPct val="150000"/>
              </a:lnSpc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  <a:lvl2pPr>
              <a:lnSpc>
                <a:spcPct val="150000"/>
              </a:lnSpc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2pPr>
            <a:lvl3pPr>
              <a:lnSpc>
                <a:spcPct val="150000"/>
              </a:lnSpc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3pPr>
            <a:lvl4pPr>
              <a:lnSpc>
                <a:spcPct val="150000"/>
              </a:lnSpc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4pPr>
            <a:lvl5pPr>
              <a:lnSpc>
                <a:spcPct val="150000"/>
              </a:lnSpc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DF13712-F9A9-C10D-82CE-69F09CDB28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11130"/>
          <a:stretch/>
        </p:blipFill>
        <p:spPr>
          <a:xfrm>
            <a:off x="11026588" y="0"/>
            <a:ext cx="1165412" cy="831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134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A25ED7-0633-6679-B353-4BF85A809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C42F748-DF81-9C59-A6D0-05652024E5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55B245F-7889-658E-709B-863F596B3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fld id="{FCF46959-3755-42C6-A836-92F078C95403}" type="datetimeFigureOut">
              <a:rPr lang="ko-KR" altLang="en-US" smtClean="0"/>
              <a:pPr/>
              <a:t>2025-04-03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5B84671-432A-65AB-BBFF-27F7A1528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25110BD-F9F5-DBC6-7DE2-172487974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fld id="{47BF5438-D7DA-4C1D-9B84-25AD91F66EB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867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071DE9-CD57-0979-FEB8-0433D68A5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EA8A1E-A09E-E576-9FFC-72C6EC4F5F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  <a:lvl2pPr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2pPr>
            <a:lvl3pPr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3pPr>
            <a:lvl4pPr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4pPr>
            <a:lvl5pPr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D523D18-680E-C3AF-EA9F-659737098A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  <a:lvl2pPr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2pPr>
            <a:lvl3pPr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3pPr>
            <a:lvl4pPr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4pPr>
            <a:lvl5pPr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78B0EC6-E4D7-3E25-9464-B07D7C0A0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fld id="{FCF46959-3755-42C6-A836-92F078C95403}" type="datetimeFigureOut">
              <a:rPr lang="ko-KR" altLang="en-US" smtClean="0"/>
              <a:pPr/>
              <a:t>2025-04-03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A41624D-31BD-0747-E207-F3739A324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AA68745-814C-EF11-9C19-28D6FDEB6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fld id="{47BF5438-D7DA-4C1D-9B84-25AD91F66EB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7201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83FB1D-CBFC-21E3-7811-32697E49C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35A2F0D-6034-D658-CAA2-71F3D41A6F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E2B5590-2786-6DE8-AB0F-6E53900143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  <a:lvl2pPr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2pPr>
            <a:lvl3pPr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3pPr>
            <a:lvl4pPr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4pPr>
            <a:lvl5pPr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C304A27-3906-A0B3-5907-9864B4565D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06DCC80-E50D-D5DE-293E-1965CB2BF7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  <a:lvl2pPr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2pPr>
            <a:lvl3pPr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3pPr>
            <a:lvl4pPr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4pPr>
            <a:lvl5pPr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81F0E11-F1CA-9D06-D9F1-7685C9622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fld id="{FCF46959-3755-42C6-A836-92F078C95403}" type="datetimeFigureOut">
              <a:rPr lang="ko-KR" altLang="en-US" smtClean="0"/>
              <a:pPr/>
              <a:t>2025-04-03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E3F8348-EAF9-A1E8-100E-DC1621129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3790FD7-F0BE-5AE5-02EC-E4CAC082D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fld id="{47BF5438-D7DA-4C1D-9B84-25AD91F66EB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74022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121541-94EC-1C7D-C6E1-8CB33524D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727702A-8FDB-B754-E8C2-AA6F5B33F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46959-3755-42C6-A836-92F078C95403}" type="datetimeFigureOut">
              <a:rPr lang="ko-KR" altLang="en-US" smtClean="0"/>
              <a:t>2025-04-03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A041409-ED7B-DCE5-ED7E-CB24E91D6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E29DEBE-680D-C89F-0AD8-D5B7B3324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F5438-D7DA-4C1D-9B84-25AD91F66E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2495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8FB2809-B328-6467-69C6-08023D002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46959-3755-42C6-A836-92F078C95403}" type="datetimeFigureOut">
              <a:rPr lang="ko-KR" altLang="en-US" smtClean="0"/>
              <a:t>2025-04-03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9F57083-1937-0E78-41D1-B30001806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52827DE-AC3B-C649-094D-3150335FD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F5438-D7DA-4C1D-9B84-25AD91F66E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4753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83C609-AF4C-D25A-2A0A-34168C3C7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363E7D2-3DF9-E76A-66E8-FE39280D69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A60D915-D32C-C6DF-2245-DE100AF013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E3A5308-1A6B-9B73-5852-2853B7F11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46959-3755-42C6-A836-92F078C95403}" type="datetimeFigureOut">
              <a:rPr lang="ko-KR" altLang="en-US" smtClean="0"/>
              <a:t>2025-04-03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3E92ED2-B847-20C6-4AA2-CE44FDC16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C479958-D44D-C3CA-6664-ED7014A41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F5438-D7DA-4C1D-9B84-25AD91F66E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0408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C4DAFB-0DD5-EA21-CBE8-89641426F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CF73641-61F2-E85B-0E20-909E1A3474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781A9F3-F2A8-58C6-4AEC-114A7413FF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F00BF4B-8479-8AFF-CA53-B63C72D63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46959-3755-42C6-A836-92F078C95403}" type="datetimeFigureOut">
              <a:rPr lang="ko-KR" altLang="en-US" smtClean="0"/>
              <a:t>2025-04-03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7E20B89-C40B-BD91-10D6-05B87B1C0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FA0FC91-4B0E-F57D-6FF8-2943047A2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F5438-D7DA-4C1D-9B84-25AD91F66E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0109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AC7142-D6C8-742B-156D-89690ECDA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3F19B84-3D6D-2444-221C-5EC1A851BE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9193D9-83E4-2A9D-39B6-EBD97CFDE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46959-3755-42C6-A836-92F078C95403}" type="datetimeFigureOut">
              <a:rPr lang="ko-KR" altLang="en-US" smtClean="0"/>
              <a:t>2025-04-03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7D10FC9-8896-10EB-F8B3-BDBB75AAC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8BA2A8C-801F-F1BA-EDEC-6D40BF738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F5438-D7DA-4C1D-9B84-25AD91F66E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77979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AD59B3F-F60A-7F84-0EEF-215A4BC743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7BA10DC-E5C2-BC1D-9B9B-4DED4F456D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54A3621-AD83-48D6-B5C4-51B28828C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46959-3755-42C6-A836-92F078C95403}" type="datetimeFigureOut">
              <a:rPr lang="ko-KR" altLang="en-US" smtClean="0"/>
              <a:t>2025-04-03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A07C61E-E1BC-E56E-91A8-10EEEE365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BE7A2A4-7F4D-3368-AAB4-A2053C17E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F5438-D7DA-4C1D-9B84-25AD91F66E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1562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A8E710F-5208-72AB-D3A7-67F48ABD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C0EAA63-4C18-B22C-0F89-A0C63D8A1B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7394A3-0808-1108-F192-F33EC5D783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F46959-3755-42C6-A836-92F078C95403}" type="datetimeFigureOut">
              <a:rPr lang="ko-KR" altLang="en-US" smtClean="0"/>
              <a:t>2025-04-03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0962FF1-D4F2-F611-0F14-E9975A2401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0204C58-52A9-835F-708A-5231C0599A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BF5438-D7DA-4C1D-9B84-25AD91F66E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69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postman.com/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gi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g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8DB3970-85DF-154B-4E7A-DDF0FC044C61}"/>
              </a:ext>
            </a:extLst>
          </p:cNvPr>
          <p:cNvSpPr txBox="1"/>
          <p:nvPr/>
        </p:nvSpPr>
        <p:spPr>
          <a:xfrm>
            <a:off x="595619" y="1920664"/>
            <a:ext cx="9157981" cy="19283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8800" dirty="0">
                <a:solidFill>
                  <a:srgbClr val="776C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It’s Your </a:t>
            </a:r>
            <a:r>
              <a:rPr lang="en-US" altLang="ko-KR" sz="8800" dirty="0">
                <a:solidFill>
                  <a:srgbClr val="FCAF16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Life</a:t>
            </a:r>
          </a:p>
        </p:txBody>
      </p:sp>
      <p:pic>
        <p:nvPicPr>
          <p:cNvPr id="1026" name="Picture 2" descr="KB금융그룹 - 위키백과, 우리 모두의 백과사전">
            <a:extLst>
              <a:ext uri="{FF2B5EF4-FFF2-40B4-BE49-F238E27FC236}">
                <a16:creationId xmlns:a16="http://schemas.microsoft.com/office/drawing/2014/main" id="{942DC9FA-7646-5691-155D-A0F52EF6C5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619" y="733454"/>
            <a:ext cx="3662345" cy="1187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FB9A00C6-FDE4-E63D-B0A0-A4DBF36355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4691" y="4141913"/>
            <a:ext cx="3177309" cy="25498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6C4D309-2C53-E2E4-716D-AF4AC3E1D578}"/>
              </a:ext>
            </a:extLst>
          </p:cNvPr>
          <p:cNvSpPr txBox="1"/>
          <p:nvPr/>
        </p:nvSpPr>
        <p:spPr>
          <a:xfrm>
            <a:off x="7573439" y="5627440"/>
            <a:ext cx="16847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dirty="0">
                <a:solidFill>
                  <a:srgbClr val="776C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with</a:t>
            </a:r>
            <a:endParaRPr lang="ko-KR" altLang="en-US" sz="5400" dirty="0">
              <a:solidFill>
                <a:srgbClr val="776C6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41927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51A304-90D1-7EA9-EBAE-E5B3155D64CA}"/>
              </a:ext>
            </a:extLst>
          </p:cNvPr>
          <p:cNvSpPr txBox="1"/>
          <p:nvPr/>
        </p:nvSpPr>
        <p:spPr>
          <a:xfrm>
            <a:off x="0" y="0"/>
            <a:ext cx="121920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960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JSON SERVER</a:t>
            </a:r>
          </a:p>
          <a:p>
            <a:pPr algn="ctr">
              <a:lnSpc>
                <a:spcPct val="150000"/>
              </a:lnSpc>
            </a:pPr>
            <a:r>
              <a:rPr lang="ko-KR" altLang="en-US" sz="960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세팅하기</a:t>
            </a:r>
          </a:p>
        </p:txBody>
      </p:sp>
    </p:spTree>
    <p:extLst>
      <p:ext uri="{BB962C8B-B14F-4D97-AF65-F5344CB8AC3E}">
        <p14:creationId xmlns:p14="http://schemas.microsoft.com/office/powerpoint/2010/main" val="2860104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0FCF4FE-5DB9-9999-835C-8BE713DAE3E8}"/>
              </a:ext>
            </a:extLst>
          </p:cNvPr>
          <p:cNvSpPr txBox="1"/>
          <p:nvPr/>
        </p:nvSpPr>
        <p:spPr>
          <a:xfrm>
            <a:off x="-1" y="0"/>
            <a:ext cx="8617527" cy="698652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{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</a:t>
            </a:r>
            <a:r>
              <a:rPr lang="en-US" altLang="ko-KR" sz="1400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"</a:t>
            </a:r>
            <a:r>
              <a:rPr lang="en-US" altLang="ko-KR" sz="1400" b="0" dirty="0" err="1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todos</a:t>
            </a:r>
            <a:r>
              <a:rPr lang="en-US" altLang="ko-KR" sz="1400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"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: [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{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</a:t>
            </a:r>
            <a:r>
              <a:rPr lang="en-US" altLang="ko-KR" sz="1400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"id"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: 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"1"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,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</a:t>
            </a:r>
            <a:r>
              <a:rPr lang="en-US" altLang="ko-KR" sz="1400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"</a:t>
            </a:r>
            <a:r>
              <a:rPr lang="en-US" altLang="ko-KR" sz="1400" b="0" dirty="0" err="1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todo</a:t>
            </a:r>
            <a:r>
              <a:rPr lang="en-US" altLang="ko-KR" sz="1400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"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: 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"</a:t>
            </a:r>
            <a:r>
              <a:rPr lang="ko-KR" altLang="en-US" sz="1400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첫 과제 제출 하기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"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,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</a:t>
            </a:r>
            <a:r>
              <a:rPr lang="en-US" altLang="ko-KR" sz="1400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"desc"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: 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"</a:t>
            </a:r>
            <a:r>
              <a:rPr lang="ko-KR" altLang="en-US" sz="1400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이거 어떻게 </a:t>
            </a:r>
            <a:r>
              <a:rPr lang="ko-KR" altLang="en-US" sz="1400" b="0" dirty="0" err="1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하는거죠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!?"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,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</a:t>
            </a:r>
            <a:r>
              <a:rPr lang="en-US" altLang="ko-KR" sz="1400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"done"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: </a:t>
            </a:r>
            <a:r>
              <a:rPr lang="en-US" altLang="ko-KR" sz="14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false</a:t>
            </a:r>
            <a:endParaRPr lang="ko-KR" altLang="en-US" sz="1400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  <a:p>
            <a:pPr>
              <a:buNone/>
            </a:pPr>
            <a:r>
              <a:rPr lang="ko-KR" altLang="en-US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},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{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</a:t>
            </a:r>
            <a:r>
              <a:rPr lang="en-US" altLang="ko-KR" sz="1400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"id"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: 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"2"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,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</a:t>
            </a:r>
            <a:r>
              <a:rPr lang="en-US" altLang="ko-KR" sz="1400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"</a:t>
            </a:r>
            <a:r>
              <a:rPr lang="en-US" altLang="ko-KR" sz="1400" b="0" dirty="0" err="1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todo</a:t>
            </a:r>
            <a:r>
              <a:rPr lang="en-US" altLang="ko-KR" sz="1400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"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: 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"</a:t>
            </a:r>
            <a:r>
              <a:rPr lang="ko-KR" altLang="en-US" sz="1400" b="0" dirty="0" err="1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페이커</a:t>
            </a:r>
            <a:r>
              <a:rPr lang="ko-KR" altLang="en-US" sz="1400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 숭배하기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"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,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</a:t>
            </a:r>
            <a:r>
              <a:rPr lang="en-US" altLang="ko-KR" sz="1400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"desc"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: 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"</a:t>
            </a:r>
            <a:r>
              <a:rPr lang="ko-KR" altLang="en-US" sz="1400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여러분 숭배할 시간입니다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. </a:t>
            </a:r>
            <a:r>
              <a:rPr lang="ko-KR" altLang="en-US" sz="1400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진짜 이번 우승 까지는 안바랍니다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! </a:t>
            </a:r>
            <a:r>
              <a:rPr lang="ko-KR" altLang="en-US" sz="1400" b="0" dirty="0" err="1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ㅎㅎㅎㅎ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"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,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</a:t>
            </a:r>
            <a:r>
              <a:rPr lang="en-US" altLang="ko-KR" sz="1400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"done"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: </a:t>
            </a:r>
            <a:r>
              <a:rPr lang="en-US" altLang="ko-KR" sz="14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false</a:t>
            </a:r>
            <a:endParaRPr lang="ko-KR" altLang="en-US" sz="1400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  <a:p>
            <a:pPr>
              <a:buNone/>
            </a:pPr>
            <a:r>
              <a:rPr lang="ko-KR" altLang="en-US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},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{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</a:t>
            </a:r>
            <a:r>
              <a:rPr lang="en-US" altLang="ko-KR" sz="1400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"id"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: 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"3"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,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</a:t>
            </a:r>
            <a:r>
              <a:rPr lang="en-US" altLang="ko-KR" sz="1400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"</a:t>
            </a:r>
            <a:r>
              <a:rPr lang="en-US" altLang="ko-KR" sz="1400" b="0" dirty="0" err="1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todo</a:t>
            </a:r>
            <a:r>
              <a:rPr lang="en-US" altLang="ko-KR" sz="1400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"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: 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"Vue </a:t>
            </a:r>
            <a:r>
              <a:rPr lang="ko-KR" altLang="en-US" sz="1400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학습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"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,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</a:t>
            </a:r>
            <a:r>
              <a:rPr lang="en-US" altLang="ko-KR" sz="1400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"desc"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: 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"Vue </a:t>
            </a:r>
            <a:r>
              <a:rPr lang="ko-KR" altLang="en-US" sz="1400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부수기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"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,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</a:t>
            </a:r>
            <a:r>
              <a:rPr lang="en-US" altLang="ko-KR" sz="1400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"done"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: </a:t>
            </a:r>
            <a:r>
              <a:rPr lang="en-US" altLang="ko-KR" sz="14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false</a:t>
            </a:r>
            <a:endParaRPr lang="ko-KR" altLang="en-US" sz="1400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  <a:p>
            <a:pPr>
              <a:buNone/>
            </a:pPr>
            <a:r>
              <a:rPr lang="ko-KR" altLang="en-US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},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{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</a:t>
            </a:r>
            <a:r>
              <a:rPr lang="en-US" altLang="ko-KR" sz="1400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"id"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: 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"4"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,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</a:t>
            </a:r>
            <a:r>
              <a:rPr lang="en-US" altLang="ko-KR" sz="1400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"</a:t>
            </a:r>
            <a:r>
              <a:rPr lang="en-US" altLang="ko-KR" sz="1400" b="0" dirty="0" err="1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todo</a:t>
            </a:r>
            <a:r>
              <a:rPr lang="en-US" altLang="ko-KR" sz="1400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"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: 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"</a:t>
            </a:r>
            <a:r>
              <a:rPr lang="ko-KR" altLang="en-US" sz="1400" b="0" dirty="0" err="1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코테</a:t>
            </a:r>
            <a:r>
              <a:rPr lang="ko-KR" altLang="en-US" sz="1400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 정복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"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,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</a:t>
            </a:r>
            <a:r>
              <a:rPr lang="en-US" altLang="ko-KR" sz="1400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"desc"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: 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"</a:t>
            </a:r>
            <a:r>
              <a:rPr lang="ko-KR" altLang="en-US" sz="1400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취업용 </a:t>
            </a:r>
            <a:r>
              <a:rPr lang="ko-KR" altLang="en-US" sz="1400" b="0" dirty="0" err="1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코테</a:t>
            </a:r>
            <a:r>
              <a:rPr lang="ko-KR" altLang="en-US" sz="1400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 까지만 </a:t>
            </a:r>
            <a:r>
              <a:rPr lang="ko-KR" altLang="en-US" sz="1400" b="0" dirty="0" err="1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퐈이팅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!!"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,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</a:t>
            </a:r>
            <a:r>
              <a:rPr lang="en-US" altLang="ko-KR" sz="1400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"done"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: </a:t>
            </a:r>
            <a:r>
              <a:rPr lang="en-US" altLang="ko-KR" sz="14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false</a:t>
            </a:r>
            <a:endParaRPr lang="ko-KR" altLang="en-US" sz="1400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  <a:p>
            <a:pPr>
              <a:buNone/>
            </a:pPr>
            <a:r>
              <a:rPr lang="ko-KR" altLang="en-US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}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],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</a:t>
            </a:r>
            <a:r>
              <a:rPr lang="en-US" altLang="ko-KR" sz="1400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"users"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: [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{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</a:t>
            </a:r>
            <a:r>
              <a:rPr lang="en-US" altLang="ko-KR" sz="1400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"id"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: 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"12"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,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</a:t>
            </a:r>
            <a:r>
              <a:rPr lang="en-US" altLang="ko-KR" sz="1400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"password"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: 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"12“</a:t>
            </a:r>
          </a:p>
          <a:p>
            <a:pPr>
              <a:buNone/>
            </a:pPr>
            <a:r>
              <a:rPr lang="ko-KR" altLang="en-US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}]}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91487BA2-F7B2-5C8A-D2AB-9ACAA234F152}"/>
              </a:ext>
            </a:extLst>
          </p:cNvPr>
          <p:cNvSpPr/>
          <p:nvPr/>
        </p:nvSpPr>
        <p:spPr>
          <a:xfrm>
            <a:off x="7035469" y="-14514"/>
            <a:ext cx="1582057" cy="7810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db.json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74184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BFF5A6C-8350-6D98-414E-E6030C3D3A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91" y="117356"/>
            <a:ext cx="8065597" cy="2492494"/>
          </a:xfrm>
          <a:prstGeom prst="rect">
            <a:avLst/>
          </a:prstGeom>
        </p:spPr>
      </p:pic>
      <p:sp>
        <p:nvSpPr>
          <p:cNvPr id="6" name="사각형: 둥근 모서리 8">
            <a:extLst>
              <a:ext uri="{FF2B5EF4-FFF2-40B4-BE49-F238E27FC236}">
                <a16:creationId xmlns:a16="http://schemas.microsoft.com/office/drawing/2014/main" id="{437DECB5-F42C-7F4A-1D69-DE461426B082}"/>
              </a:ext>
            </a:extLst>
          </p:cNvPr>
          <p:cNvSpPr/>
          <p:nvPr/>
        </p:nvSpPr>
        <p:spPr>
          <a:xfrm>
            <a:off x="6915150" y="700971"/>
            <a:ext cx="4762500" cy="11930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npm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install </a:t>
            </a:r>
            <a:r>
              <a:rPr lang="en-US" altLang="ko-KR" sz="24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json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-server</a:t>
            </a:r>
          </a:p>
          <a:p>
            <a:pPr algn="ctr"/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로 설치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A747A102-D77E-32C9-AE00-0FF906EB28AC}"/>
              </a:ext>
            </a:extLst>
          </p:cNvPr>
          <p:cNvCxnSpPr>
            <a:cxnSpLocks/>
          </p:cNvCxnSpPr>
          <p:nvPr/>
        </p:nvCxnSpPr>
        <p:spPr>
          <a:xfrm>
            <a:off x="2628900" y="685800"/>
            <a:ext cx="4638675" cy="590550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그림 10">
            <a:extLst>
              <a:ext uri="{FF2B5EF4-FFF2-40B4-BE49-F238E27FC236}">
                <a16:creationId xmlns:a16="http://schemas.microsoft.com/office/drawing/2014/main" id="{3398A670-6A3D-5493-7117-7E6B1AB7B2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90" y="2676306"/>
            <a:ext cx="7106433" cy="4064338"/>
          </a:xfrm>
          <a:prstGeom prst="rect">
            <a:avLst/>
          </a:prstGeom>
        </p:spPr>
      </p:pic>
      <p:sp>
        <p:nvSpPr>
          <p:cNvPr id="12" name="사각형: 둥근 모서리 8">
            <a:extLst>
              <a:ext uri="{FF2B5EF4-FFF2-40B4-BE49-F238E27FC236}">
                <a16:creationId xmlns:a16="http://schemas.microsoft.com/office/drawing/2014/main" id="{5B7302FA-9AB0-7DFD-8067-5F682ABA30BC}"/>
              </a:ext>
            </a:extLst>
          </p:cNvPr>
          <p:cNvSpPr/>
          <p:nvPr/>
        </p:nvSpPr>
        <p:spPr>
          <a:xfrm>
            <a:off x="7391400" y="3149719"/>
            <a:ext cx="4762500" cy="11930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npx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en-US" altLang="ko-KR" sz="24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json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-server </a:t>
            </a:r>
            <a:r>
              <a:rPr lang="en-US" altLang="ko-KR" sz="24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db.json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으로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실행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7A239E1E-BDBE-58A2-FBEC-BE83B3918A3C}"/>
              </a:ext>
            </a:extLst>
          </p:cNvPr>
          <p:cNvCxnSpPr>
            <a:cxnSpLocks/>
          </p:cNvCxnSpPr>
          <p:nvPr/>
        </p:nvCxnSpPr>
        <p:spPr>
          <a:xfrm>
            <a:off x="2990850" y="3149719"/>
            <a:ext cx="4752975" cy="575379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8585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21A772AC-F0D4-4251-EE20-C2A12C177ED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7343"/>
          <a:stretch/>
        </p:blipFill>
        <p:spPr>
          <a:xfrm>
            <a:off x="88515" y="76199"/>
            <a:ext cx="7106433" cy="920869"/>
          </a:xfrm>
          <a:prstGeom prst="rect">
            <a:avLst/>
          </a:prstGeom>
        </p:spPr>
      </p:pic>
      <p:sp>
        <p:nvSpPr>
          <p:cNvPr id="5" name="사각형: 둥근 모서리 8">
            <a:extLst>
              <a:ext uri="{FF2B5EF4-FFF2-40B4-BE49-F238E27FC236}">
                <a16:creationId xmlns:a16="http://schemas.microsoft.com/office/drawing/2014/main" id="{3E652354-C3C8-6C7C-E6BC-B4D72EC41D44}"/>
              </a:ext>
            </a:extLst>
          </p:cNvPr>
          <p:cNvSpPr/>
          <p:nvPr/>
        </p:nvSpPr>
        <p:spPr>
          <a:xfrm>
            <a:off x="6505575" y="319971"/>
            <a:ext cx="4762500" cy="11930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엔드 포인트가 잘 작동하는지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확인해 봅시다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!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E44D113-C9F2-F449-24AE-F3B25BC8F6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15" y="1890478"/>
            <a:ext cx="5277587" cy="3362794"/>
          </a:xfrm>
          <a:prstGeom prst="rect">
            <a:avLst/>
          </a:prstGeom>
        </p:spPr>
      </p:pic>
      <p:pic>
        <p:nvPicPr>
          <p:cNvPr id="1028" name="Picture 4" descr="요근래 봤던 거 같은데 혹시 '아쉽게 된 거지' 드립 나온 영상 아시는 분 계실까요? - 🍳추천 침투부 &amp; 찾아요 - 침하하">
            <a:extLst>
              <a:ext uri="{FF2B5EF4-FFF2-40B4-BE49-F238E27FC236}">
                <a16:creationId xmlns:a16="http://schemas.microsoft.com/office/drawing/2014/main" id="{D2BB29BC-7F23-3E9F-2B80-526E5FF302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9562" y="1890478"/>
            <a:ext cx="4904347" cy="4253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0583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역사적으로도 이게 약이었다 - 뽐뿌:짤방갤러리">
            <a:extLst>
              <a:ext uri="{FF2B5EF4-FFF2-40B4-BE49-F238E27FC236}">
                <a16:creationId xmlns:a16="http://schemas.microsoft.com/office/drawing/2014/main" id="{7ECE4E9B-028D-2A90-10C5-B23E465A62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025" y="516731"/>
            <a:ext cx="5769975" cy="5824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B8538EA1-56C6-41F1-2A56-D2D94A3B63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9037437">
            <a:off x="1025815" y="2261568"/>
            <a:ext cx="4912151" cy="168715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7D53ECF-DF0D-099A-1ADD-A23A4E05DCA3}"/>
              </a:ext>
            </a:extLst>
          </p:cNvPr>
          <p:cNvSpPr txBox="1"/>
          <p:nvPr/>
        </p:nvSpPr>
        <p:spPr>
          <a:xfrm>
            <a:off x="6448425" y="2076451"/>
            <a:ext cx="551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dirty="0">
                <a:latin typeface="나눔스퀘어 Bold" panose="020B0600000101010101" pitchFamily="50" charset="-127"/>
                <a:ea typeface="나눔스퀘어 Bold" panose="020B0600000101010101" pitchFamily="50" charset="-127"/>
                <a:hlinkClick r:id="rId4"/>
              </a:rPr>
              <a:t>https://www.postman.com/</a:t>
            </a:r>
            <a:endParaRPr lang="ko-KR" altLang="en-US" sz="32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8" name="사각형: 둥근 모서리 8">
            <a:extLst>
              <a:ext uri="{FF2B5EF4-FFF2-40B4-BE49-F238E27FC236}">
                <a16:creationId xmlns:a16="http://schemas.microsoft.com/office/drawing/2014/main" id="{60F59EFE-2840-9195-C61C-8109307DFE91}"/>
              </a:ext>
            </a:extLst>
          </p:cNvPr>
          <p:cNvSpPr/>
          <p:nvPr/>
        </p:nvSpPr>
        <p:spPr>
          <a:xfrm>
            <a:off x="6523456" y="517883"/>
            <a:ext cx="4762500" cy="11930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전통의 강자인 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POSTMAN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과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친숙해 집시다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~!</a:t>
            </a:r>
          </a:p>
        </p:txBody>
      </p:sp>
    </p:spTree>
    <p:extLst>
      <p:ext uri="{BB962C8B-B14F-4D97-AF65-F5344CB8AC3E}">
        <p14:creationId xmlns:p14="http://schemas.microsoft.com/office/powerpoint/2010/main" val="215708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79DD8FB8-F1DE-AABE-5CF2-08FEF5C6B6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123359"/>
            <a:ext cx="5866157" cy="4991566"/>
          </a:xfrm>
          <a:prstGeom prst="rect">
            <a:avLst/>
          </a:prstGeom>
        </p:spPr>
      </p:pic>
      <p:sp>
        <p:nvSpPr>
          <p:cNvPr id="6" name="오른쪽 화살표 6">
            <a:extLst>
              <a:ext uri="{FF2B5EF4-FFF2-40B4-BE49-F238E27FC236}">
                <a16:creationId xmlns:a16="http://schemas.microsoft.com/office/drawing/2014/main" id="{24F56451-29D6-5316-96F2-FE8DFF93BDD8}"/>
              </a:ext>
            </a:extLst>
          </p:cNvPr>
          <p:cNvSpPr/>
          <p:nvPr/>
        </p:nvSpPr>
        <p:spPr>
          <a:xfrm rot="12498005">
            <a:off x="1844677" y="2147833"/>
            <a:ext cx="800100" cy="62865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8">
            <a:extLst>
              <a:ext uri="{FF2B5EF4-FFF2-40B4-BE49-F238E27FC236}">
                <a16:creationId xmlns:a16="http://schemas.microsoft.com/office/drawing/2014/main" id="{4AF88334-4F5C-A9E8-68F7-E87538564D15}"/>
              </a:ext>
            </a:extLst>
          </p:cNvPr>
          <p:cNvSpPr/>
          <p:nvPr/>
        </p:nvSpPr>
        <p:spPr>
          <a:xfrm>
            <a:off x="6294856" y="946508"/>
            <a:ext cx="4762500" cy="11930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각자 자신의 컴퓨터에 맞는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POSTMAN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을 설치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4142342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CC9C2B6-C9C1-F901-471C-8253742434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213" y="133202"/>
            <a:ext cx="5363323" cy="211484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C3E51EB-C91B-6DA0-FE8B-825CFF0A6C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5409" y="133202"/>
            <a:ext cx="6468378" cy="3915321"/>
          </a:xfrm>
          <a:prstGeom prst="rect">
            <a:avLst/>
          </a:prstGeom>
        </p:spPr>
      </p:pic>
      <p:pic>
        <p:nvPicPr>
          <p:cNvPr id="3074" name="Picture 2" descr="칭찬 박수 레오나르도 디카프리오 잘했어 좋아 그래 그거야 영화 배우 헐리우드&#10;&lt;script src=">
            <a:extLst>
              <a:ext uri="{FF2B5EF4-FFF2-40B4-BE49-F238E27FC236}">
                <a16:creationId xmlns:a16="http://schemas.microsoft.com/office/drawing/2014/main" id="{2A988809-1053-48E9-6263-8EE13DF8E8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936" y="2400154"/>
            <a:ext cx="4419600" cy="441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1390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51A304-90D1-7EA9-EBAE-E5B3155D64CA}"/>
              </a:ext>
            </a:extLst>
          </p:cNvPr>
          <p:cNvSpPr txBox="1"/>
          <p:nvPr/>
        </p:nvSpPr>
        <p:spPr>
          <a:xfrm>
            <a:off x="0" y="1428452"/>
            <a:ext cx="12192000" cy="20952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9600" dirty="0" err="1">
                <a:solidFill>
                  <a:schemeClr val="accent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LocalStorage</a:t>
            </a:r>
            <a:endParaRPr lang="ko-KR" altLang="en-US" sz="9600" dirty="0">
              <a:solidFill>
                <a:schemeClr val="accent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102082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475533C6-BC96-8DB2-1497-929045B54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988" y="2828"/>
            <a:ext cx="11260802" cy="13255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LocalStorage</a:t>
            </a:r>
            <a:endParaRPr lang="en-US" altLang="ko-KR" sz="44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9195033C-7DC4-4189-431C-9F4BD013D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88" y="1328390"/>
            <a:ext cx="11260802" cy="5324959"/>
          </a:xfrm>
        </p:spPr>
        <p:txBody>
          <a:bodyPr>
            <a:normAutofit/>
          </a:bodyPr>
          <a:lstStyle/>
          <a:p>
            <a:r>
              <a:rPr lang="ko-KR" altLang="en-US" dirty="0"/>
              <a:t>브라우저에</a:t>
            </a:r>
            <a:r>
              <a:rPr lang="en-US" altLang="ko-KR" dirty="0"/>
              <a:t> </a:t>
            </a:r>
            <a:r>
              <a:rPr lang="ko-KR" altLang="en-US" dirty="0"/>
              <a:t>간단한 정보를 저장하기 위한 수단 입니다</a:t>
            </a:r>
            <a:r>
              <a:rPr lang="en-US" altLang="ko-KR" dirty="0"/>
              <a:t>!</a:t>
            </a:r>
          </a:p>
          <a:p>
            <a:r>
              <a:rPr lang="ko-KR" altLang="en-US" dirty="0" err="1"/>
              <a:t>라떼에는</a:t>
            </a:r>
            <a:r>
              <a:rPr lang="ko-KR" altLang="en-US" dirty="0"/>
              <a:t> </a:t>
            </a:r>
            <a:r>
              <a:rPr lang="en-US" altLang="ko-KR" dirty="0"/>
              <a:t>Cookie </a:t>
            </a:r>
            <a:r>
              <a:rPr lang="ko-KR" altLang="en-US" dirty="0"/>
              <a:t>라는 것을 정말 불편하게 사용 </a:t>
            </a:r>
            <a:r>
              <a:rPr lang="ko-KR" altLang="en-US" dirty="0" err="1"/>
              <a:t>했었는데요</a:t>
            </a:r>
            <a:r>
              <a:rPr lang="en-US" altLang="ko-KR" dirty="0"/>
              <a:t>. </a:t>
            </a:r>
            <a:r>
              <a:rPr lang="ko-KR" altLang="en-US" dirty="0"/>
              <a:t>세상 참 좋아졌</a:t>
            </a:r>
            <a:r>
              <a:rPr lang="en-US" altLang="ko-KR" dirty="0"/>
              <a:t>… </a:t>
            </a:r>
            <a:r>
              <a:rPr lang="en-US" altLang="ko-KR" dirty="0">
                <a:sym typeface="Wingdings" panose="05000000000000000000" pitchFamily="2" charset="2"/>
              </a:rPr>
              <a:t></a:t>
            </a:r>
          </a:p>
          <a:p>
            <a:r>
              <a:rPr lang="ko-KR" altLang="en-US" dirty="0">
                <a:sym typeface="Wingdings" panose="05000000000000000000" pitchFamily="2" charset="2"/>
              </a:rPr>
              <a:t>프론트에서 저장할 것이 필요할 때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브라우저에게 간단하게 정보를 저장 시키는 수단입니다</a:t>
            </a:r>
            <a:r>
              <a:rPr lang="en-US" altLang="ko-KR" dirty="0">
                <a:sym typeface="Wingdings" panose="05000000000000000000" pitchFamily="2" charset="2"/>
              </a:rPr>
              <a:t>!</a:t>
            </a:r>
          </a:p>
          <a:p>
            <a:r>
              <a:rPr lang="ko-KR" altLang="en-US" dirty="0">
                <a:sym typeface="Wingdings" panose="05000000000000000000" pitchFamily="2" charset="2"/>
              </a:rPr>
              <a:t>정말 최근에는 더 복잡하고 큰 대용량 데이터 저장을 위해 </a:t>
            </a:r>
            <a:r>
              <a:rPr lang="en-US" altLang="ko-KR" dirty="0" err="1">
                <a:sym typeface="Wingdings" panose="05000000000000000000" pitchFamily="2" charset="2"/>
              </a:rPr>
              <a:t>IndexedDB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라는 것도 사용하고 있습니다</a:t>
            </a:r>
            <a:r>
              <a:rPr lang="en-US" altLang="ko-KR" dirty="0">
                <a:sym typeface="Wingdings" panose="05000000000000000000" pitchFamily="2" charset="2"/>
              </a:rPr>
              <a:t>!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6424717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475533C6-BC96-8DB2-1497-929045B54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988" y="2828"/>
            <a:ext cx="11260802" cy="13255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LocalStorage</a:t>
            </a:r>
            <a:r>
              <a:rPr lang="en-US" altLang="ko-KR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ko-KR" altLang="en-US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기능</a:t>
            </a:r>
            <a:endParaRPr lang="en-US" altLang="ko-KR" sz="44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E7812F5-66CE-3F69-3E5A-B9BAB5B2B3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988" y="1498266"/>
            <a:ext cx="6310743" cy="3857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6643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475533C6-BC96-8DB2-1497-929045B54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988" y="2828"/>
            <a:ext cx="11260802" cy="13255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LocalStorage</a:t>
            </a:r>
            <a:r>
              <a:rPr lang="ko-KR" altLang="en-US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에 값 저장하기</a:t>
            </a:r>
            <a:r>
              <a:rPr lang="en-US" altLang="ko-KR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!</a:t>
            </a:r>
            <a:endParaRPr lang="en-US" altLang="ko-KR" sz="44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9195033C-7DC4-4189-431C-9F4BD013D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88" y="1328390"/>
            <a:ext cx="11260802" cy="5324959"/>
          </a:xfrm>
        </p:spPr>
        <p:txBody>
          <a:bodyPr>
            <a:normAutofit/>
          </a:bodyPr>
          <a:lstStyle/>
          <a:p>
            <a:r>
              <a:rPr lang="en-US" altLang="ko-KR" dirty="0" err="1"/>
              <a:t>window.localStorage.setItem</a:t>
            </a:r>
            <a:r>
              <a:rPr lang="en-US" altLang="ko-KR" dirty="0"/>
              <a:t>(‘key’,</a:t>
            </a:r>
            <a:r>
              <a:rPr lang="ko-KR" altLang="en-US" dirty="0"/>
              <a:t> </a:t>
            </a:r>
            <a:r>
              <a:rPr lang="en-US" altLang="ko-KR" dirty="0"/>
              <a:t>‘value’) </a:t>
            </a:r>
            <a:r>
              <a:rPr lang="ko-KR" altLang="en-US" dirty="0"/>
              <a:t>로 값을 저장 가능합니다</a:t>
            </a:r>
            <a:r>
              <a:rPr lang="en-US" altLang="ko-KR" dirty="0"/>
              <a:t>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9A450E-2510-084A-12E3-D5CC457FA9C4}"/>
              </a:ext>
            </a:extLst>
          </p:cNvPr>
          <p:cNvSpPr txBox="1"/>
          <p:nvPr/>
        </p:nvSpPr>
        <p:spPr>
          <a:xfrm>
            <a:off x="644433" y="2228671"/>
            <a:ext cx="7968343" cy="92333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script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window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localStorage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setItem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'name'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이효석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script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03682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475533C6-BC96-8DB2-1497-929045B54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988" y="2828"/>
            <a:ext cx="11260802" cy="13255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LocalStorage</a:t>
            </a:r>
            <a:r>
              <a:rPr lang="ko-KR" altLang="en-US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의 값 불러오기</a:t>
            </a:r>
            <a:endParaRPr lang="en-US" altLang="ko-KR" sz="44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9195033C-7DC4-4189-431C-9F4BD013D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88" y="1328390"/>
            <a:ext cx="11260802" cy="5324959"/>
          </a:xfrm>
        </p:spPr>
        <p:txBody>
          <a:bodyPr>
            <a:normAutofit/>
          </a:bodyPr>
          <a:lstStyle/>
          <a:p>
            <a:r>
              <a:rPr lang="en-US" altLang="ko-KR" dirty="0" err="1"/>
              <a:t>window.localStorage.getItem</a:t>
            </a:r>
            <a:r>
              <a:rPr lang="en-US" altLang="ko-KR" dirty="0"/>
              <a:t>(‘key’) </a:t>
            </a:r>
            <a:r>
              <a:rPr lang="ko-KR" altLang="en-US" dirty="0"/>
              <a:t>로 값을 저장 가능합니다</a:t>
            </a:r>
            <a:r>
              <a:rPr lang="en-US" altLang="ko-KR" dirty="0"/>
              <a:t>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9A450E-2510-084A-12E3-D5CC457FA9C4}"/>
              </a:ext>
            </a:extLst>
          </p:cNvPr>
          <p:cNvSpPr txBox="1"/>
          <p:nvPr/>
        </p:nvSpPr>
        <p:spPr>
          <a:xfrm>
            <a:off x="644433" y="2228671"/>
            <a:ext cx="7968343" cy="120032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script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window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localStorage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setItem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'name'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이효석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 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window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localStorage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getItem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'name'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r>
              <a:rPr lang="en-US" altLang="ko-K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script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6140BAD-5F43-8804-15E8-37F80A9CA4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433" y="3790815"/>
            <a:ext cx="3847476" cy="1016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7497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475533C6-BC96-8DB2-1497-929045B54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988" y="2828"/>
            <a:ext cx="11260802" cy="13255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하지만 우리는 </a:t>
            </a:r>
            <a:r>
              <a:rPr lang="en-US" altLang="ko-KR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Vue</a:t>
            </a:r>
            <a:r>
              <a:rPr lang="en-US" altLang="ko-KR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ko-KR" altLang="en-US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를 쓰고 있죠</a:t>
            </a:r>
            <a:r>
              <a:rPr lang="en-US" altLang="ko-KR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!?</a:t>
            </a:r>
            <a:endParaRPr lang="en-US" altLang="ko-KR" sz="44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9195033C-7DC4-4189-431C-9F4BD013D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88" y="1328390"/>
            <a:ext cx="11260802" cy="5324959"/>
          </a:xfrm>
        </p:spPr>
        <p:txBody>
          <a:bodyPr>
            <a:normAutofit/>
          </a:bodyPr>
          <a:lstStyle/>
          <a:p>
            <a:r>
              <a:rPr lang="en-US" altLang="ko-KR" dirty="0" err="1"/>
              <a:t>localStorage</a:t>
            </a:r>
            <a:r>
              <a:rPr lang="en-US" altLang="ko-KR" dirty="0"/>
              <a:t> </a:t>
            </a:r>
            <a:r>
              <a:rPr lang="ko-KR" altLang="en-US" dirty="0"/>
              <a:t>만 쓰셔도 사용이 가능합니다</a:t>
            </a:r>
            <a:r>
              <a:rPr lang="en-US" altLang="ko-KR" dirty="0"/>
              <a:t>!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752475" y="2222838"/>
            <a:ext cx="6781800" cy="147732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808080"/>
                </a:solidFill>
                <a:latin typeface="Jetbrains Mono" panose="02000009000000000000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00009000000000000" pitchFamily="49" charset="0"/>
              </a:rPr>
              <a:t>script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 </a:t>
            </a:r>
            <a:r>
              <a:rPr lang="en-US" altLang="ko-KR" dirty="0">
                <a:solidFill>
                  <a:srgbClr val="9CDCFE"/>
                </a:solidFill>
                <a:latin typeface="Jetbrains Mono" panose="02000009000000000000" pitchFamily="49" charset="0"/>
              </a:rPr>
              <a:t>setup</a:t>
            </a:r>
            <a:r>
              <a:rPr lang="en-US" altLang="ko-KR" dirty="0">
                <a:solidFill>
                  <a:srgbClr val="808080"/>
                </a:solidFill>
                <a:latin typeface="Jetbrains Mono" panose="02000009000000000000" pitchFamily="49" charset="0"/>
              </a:rPr>
              <a:t>&gt;</a:t>
            </a:r>
            <a:endParaRPr lang="en-US" altLang="ko-KR" dirty="0">
              <a:solidFill>
                <a:srgbClr val="D4D4D4"/>
              </a:solidFill>
              <a:latin typeface="Jetbrains Mono" panose="02000009000000000000" pitchFamily="49" charset="0"/>
            </a:endParaRPr>
          </a:p>
          <a:p>
            <a:r>
              <a:rPr lang="en-US" altLang="ko-KR" dirty="0" err="1">
                <a:solidFill>
                  <a:srgbClr val="9CDCFE"/>
                </a:solidFill>
                <a:latin typeface="Jetbrains Mono" panose="02000009000000000000" pitchFamily="49" charset="0"/>
              </a:rPr>
              <a:t>localStorage</a:t>
            </a:r>
            <a:r>
              <a:rPr lang="en-US" altLang="ko-KR" dirty="0" err="1">
                <a:solidFill>
                  <a:srgbClr val="D4D4D4"/>
                </a:solidFill>
                <a:latin typeface="Jetbrains Mono" panose="02000009000000000000" pitchFamily="49" charset="0"/>
              </a:rPr>
              <a:t>.</a:t>
            </a:r>
            <a:r>
              <a:rPr lang="en-US" altLang="ko-KR" dirty="0" err="1">
                <a:solidFill>
                  <a:srgbClr val="DCDCAA"/>
                </a:solidFill>
                <a:latin typeface="Jetbrains Mono" panose="02000009000000000000" pitchFamily="49" charset="0"/>
              </a:rPr>
              <a:t>setItem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(</a:t>
            </a:r>
            <a:r>
              <a:rPr lang="en-US" altLang="ko-KR" dirty="0">
                <a:solidFill>
                  <a:srgbClr val="CE9178"/>
                </a:solidFill>
                <a:latin typeface="Jetbrains Mono" panose="02000009000000000000" pitchFamily="49" charset="0"/>
              </a:rPr>
              <a:t>'name'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, </a:t>
            </a:r>
            <a:r>
              <a:rPr lang="en-US" altLang="ko-KR" dirty="0">
                <a:solidFill>
                  <a:srgbClr val="CE9178"/>
                </a:solidFill>
                <a:latin typeface="Jetbrains Mono" panose="02000009000000000000" pitchFamily="49" charset="0"/>
              </a:rPr>
              <a:t>'</a:t>
            </a:r>
            <a:r>
              <a:rPr lang="ko-KR" altLang="en-US" dirty="0">
                <a:solidFill>
                  <a:srgbClr val="CE9178"/>
                </a:solidFill>
                <a:latin typeface="Jetbrains Mono" panose="02000009000000000000" pitchFamily="49" charset="0"/>
              </a:rPr>
              <a:t>이효석</a:t>
            </a:r>
            <a:r>
              <a:rPr lang="en-US" altLang="ko-KR" dirty="0">
                <a:solidFill>
                  <a:srgbClr val="CE9178"/>
                </a:solidFill>
                <a:latin typeface="Jetbrains Mono" panose="02000009000000000000" pitchFamily="49" charset="0"/>
              </a:rPr>
              <a:t>'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);</a:t>
            </a:r>
          </a:p>
          <a:p>
            <a:r>
              <a:rPr lang="en-US" altLang="ko-KR" dirty="0" err="1">
                <a:solidFill>
                  <a:srgbClr val="569CD6"/>
                </a:solidFill>
                <a:latin typeface="Jetbrains Mono" panose="02000009000000000000" pitchFamily="49" charset="0"/>
              </a:rPr>
              <a:t>const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 </a:t>
            </a:r>
            <a:r>
              <a:rPr lang="en-US" altLang="ko-KR" dirty="0">
                <a:solidFill>
                  <a:srgbClr val="4FC1FF"/>
                </a:solidFill>
                <a:latin typeface="Jetbrains Mono" panose="02000009000000000000" pitchFamily="49" charset="0"/>
              </a:rPr>
              <a:t>name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 = 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00009000000000000" pitchFamily="49" charset="0"/>
              </a:rPr>
              <a:t>localStorage</a:t>
            </a:r>
            <a:r>
              <a:rPr lang="en-US" altLang="ko-KR" dirty="0" err="1">
                <a:solidFill>
                  <a:srgbClr val="D4D4D4"/>
                </a:solidFill>
                <a:latin typeface="Jetbrains Mono" panose="02000009000000000000" pitchFamily="49" charset="0"/>
              </a:rPr>
              <a:t>.</a:t>
            </a:r>
            <a:r>
              <a:rPr lang="en-US" altLang="ko-KR" dirty="0" err="1">
                <a:solidFill>
                  <a:srgbClr val="DCDCAA"/>
                </a:solidFill>
                <a:latin typeface="Jetbrains Mono" panose="02000009000000000000" pitchFamily="49" charset="0"/>
              </a:rPr>
              <a:t>getItem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(</a:t>
            </a:r>
            <a:r>
              <a:rPr lang="en-US" altLang="ko-KR" dirty="0">
                <a:solidFill>
                  <a:srgbClr val="CE9178"/>
                </a:solidFill>
                <a:latin typeface="Jetbrains Mono" panose="02000009000000000000" pitchFamily="49" charset="0"/>
              </a:rPr>
              <a:t>'name'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);</a:t>
            </a:r>
          </a:p>
          <a:p>
            <a:r>
              <a:rPr lang="en-US" altLang="ko-KR" dirty="0">
                <a:solidFill>
                  <a:srgbClr val="9CDCFE"/>
                </a:solidFill>
                <a:latin typeface="Jetbrains Mono" panose="02000009000000000000" pitchFamily="49" charset="0"/>
              </a:rPr>
              <a:t>console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.</a:t>
            </a:r>
            <a:r>
              <a:rPr lang="en-US" altLang="ko-KR" dirty="0">
                <a:solidFill>
                  <a:srgbClr val="DCDCAA"/>
                </a:solidFill>
                <a:latin typeface="Jetbrains Mono" panose="02000009000000000000" pitchFamily="49" charset="0"/>
              </a:rPr>
              <a:t>log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(</a:t>
            </a:r>
            <a:r>
              <a:rPr lang="en-US" altLang="ko-KR" dirty="0">
                <a:solidFill>
                  <a:srgbClr val="4FC1FF"/>
                </a:solidFill>
                <a:latin typeface="Jetbrains Mono" panose="02000009000000000000" pitchFamily="49" charset="0"/>
              </a:rPr>
              <a:t>name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);</a:t>
            </a:r>
          </a:p>
          <a:p>
            <a:r>
              <a:rPr lang="en-US" altLang="ko-KR" dirty="0">
                <a:solidFill>
                  <a:srgbClr val="808080"/>
                </a:solidFill>
                <a:latin typeface="Jetbrains Mono" panose="02000009000000000000" pitchFamily="49" charset="0"/>
              </a:rPr>
              <a:t>&lt;/</a:t>
            </a:r>
            <a:r>
              <a:rPr lang="en-US" altLang="ko-KR" dirty="0">
                <a:solidFill>
                  <a:srgbClr val="569CD6"/>
                </a:solidFill>
                <a:latin typeface="Jetbrains Mono" panose="02000009000000000000" pitchFamily="49" charset="0"/>
              </a:rPr>
              <a:t>script</a:t>
            </a:r>
            <a:r>
              <a:rPr lang="en-US" altLang="ko-KR" dirty="0">
                <a:solidFill>
                  <a:srgbClr val="808080"/>
                </a:solidFill>
                <a:latin typeface="Jetbrains Mono" panose="02000009000000000000" pitchFamily="49" charset="0"/>
              </a:rPr>
              <a:t>&gt;</a:t>
            </a:r>
            <a:endParaRPr lang="en-US" altLang="ko-KR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475" y="3876641"/>
            <a:ext cx="8945927" cy="717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716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922" y="318861"/>
            <a:ext cx="7480029" cy="4319813"/>
          </a:xfrm>
          <a:prstGeom prst="rect">
            <a:avLst/>
          </a:prstGeom>
        </p:spPr>
      </p:pic>
      <p:sp>
        <p:nvSpPr>
          <p:cNvPr id="8" name="오른쪽 화살표 7"/>
          <p:cNvSpPr/>
          <p:nvPr/>
        </p:nvSpPr>
        <p:spPr>
          <a:xfrm rot="12660602">
            <a:off x="2962278" y="3328934"/>
            <a:ext cx="800100" cy="62865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오른쪽 화살표 9"/>
          <p:cNvSpPr/>
          <p:nvPr/>
        </p:nvSpPr>
        <p:spPr>
          <a:xfrm rot="12660602">
            <a:off x="6615495" y="2889498"/>
            <a:ext cx="800100" cy="62865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2738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475533C6-BC96-8DB2-1497-929045B54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988" y="2828"/>
            <a:ext cx="11260802" cy="13255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LocalStorage</a:t>
            </a:r>
            <a:r>
              <a:rPr lang="ko-KR" altLang="en-US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에 다른 키 추가하기</a:t>
            </a:r>
            <a:r>
              <a:rPr lang="en-US" altLang="ko-KR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!</a:t>
            </a:r>
            <a:endParaRPr lang="en-US" altLang="ko-KR" sz="44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9195033C-7DC4-4189-431C-9F4BD013D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88" y="1328390"/>
            <a:ext cx="11260802" cy="5324959"/>
          </a:xfrm>
        </p:spPr>
        <p:txBody>
          <a:bodyPr>
            <a:normAutofit/>
          </a:bodyPr>
          <a:lstStyle/>
          <a:p>
            <a:r>
              <a:rPr lang="en-US" altLang="ko-KR" dirty="0" err="1"/>
              <a:t>localStorage</a:t>
            </a:r>
            <a:r>
              <a:rPr lang="en-US" altLang="ko-KR" dirty="0"/>
              <a:t> </a:t>
            </a:r>
            <a:r>
              <a:rPr lang="ko-KR" altLang="en-US" dirty="0"/>
              <a:t>에는 여러 개의 값을 저장 가능합니다</a:t>
            </a:r>
            <a:r>
              <a:rPr lang="en-US" altLang="ko-KR" dirty="0"/>
              <a:t>!</a:t>
            </a:r>
          </a:p>
          <a:p>
            <a:endParaRPr lang="en-US" altLang="ko-KR" dirty="0"/>
          </a:p>
        </p:txBody>
      </p:sp>
      <p:sp>
        <p:nvSpPr>
          <p:cNvPr id="3" name="직사각형 2"/>
          <p:cNvSpPr/>
          <p:nvPr/>
        </p:nvSpPr>
        <p:spPr>
          <a:xfrm>
            <a:off x="775062" y="2169096"/>
            <a:ext cx="6806838" cy="147732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808080"/>
                </a:solidFill>
                <a:latin typeface="Jetbrains Mono" panose="02000009000000000000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00009000000000000" pitchFamily="49" charset="0"/>
              </a:rPr>
              <a:t>script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 </a:t>
            </a:r>
            <a:r>
              <a:rPr lang="en-US" altLang="ko-KR" dirty="0">
                <a:solidFill>
                  <a:srgbClr val="9CDCFE"/>
                </a:solidFill>
                <a:latin typeface="Jetbrains Mono" panose="02000009000000000000" pitchFamily="49" charset="0"/>
              </a:rPr>
              <a:t>setup</a:t>
            </a:r>
            <a:r>
              <a:rPr lang="en-US" altLang="ko-KR" dirty="0">
                <a:solidFill>
                  <a:srgbClr val="808080"/>
                </a:solidFill>
                <a:latin typeface="Jetbrains Mono" panose="02000009000000000000" pitchFamily="49" charset="0"/>
              </a:rPr>
              <a:t>&gt;</a:t>
            </a:r>
            <a:endParaRPr lang="en-US" altLang="ko-KR" dirty="0">
              <a:solidFill>
                <a:srgbClr val="D4D4D4"/>
              </a:solidFill>
              <a:latin typeface="Jetbrains Mono" panose="02000009000000000000" pitchFamily="49" charset="0"/>
            </a:endParaRPr>
          </a:p>
          <a:p>
            <a:r>
              <a:rPr lang="en-US" altLang="ko-KR" dirty="0" err="1">
                <a:solidFill>
                  <a:srgbClr val="9CDCFE"/>
                </a:solidFill>
                <a:latin typeface="Jetbrains Mono" panose="02000009000000000000" pitchFamily="49" charset="0"/>
              </a:rPr>
              <a:t>localStorage</a:t>
            </a:r>
            <a:r>
              <a:rPr lang="en-US" altLang="ko-KR" dirty="0" err="1">
                <a:solidFill>
                  <a:srgbClr val="D4D4D4"/>
                </a:solidFill>
                <a:latin typeface="Jetbrains Mono" panose="02000009000000000000" pitchFamily="49" charset="0"/>
              </a:rPr>
              <a:t>.</a:t>
            </a:r>
            <a:r>
              <a:rPr lang="en-US" altLang="ko-KR" dirty="0" err="1">
                <a:solidFill>
                  <a:srgbClr val="DCDCAA"/>
                </a:solidFill>
                <a:latin typeface="Jetbrains Mono" panose="02000009000000000000" pitchFamily="49" charset="0"/>
              </a:rPr>
              <a:t>setItem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(</a:t>
            </a:r>
            <a:r>
              <a:rPr lang="en-US" altLang="ko-KR" dirty="0">
                <a:solidFill>
                  <a:srgbClr val="CE9178"/>
                </a:solidFill>
                <a:latin typeface="Jetbrains Mono" panose="02000009000000000000" pitchFamily="49" charset="0"/>
              </a:rPr>
              <a:t>'</a:t>
            </a:r>
            <a:r>
              <a:rPr lang="en-US" altLang="ko-KR" dirty="0" err="1">
                <a:solidFill>
                  <a:srgbClr val="CE9178"/>
                </a:solidFill>
                <a:latin typeface="Jetbrains Mono" panose="02000009000000000000" pitchFamily="49" charset="0"/>
              </a:rPr>
              <a:t>tetz</a:t>
            </a:r>
            <a:r>
              <a:rPr lang="en-US" altLang="ko-KR" dirty="0">
                <a:solidFill>
                  <a:srgbClr val="CE9178"/>
                </a:solidFill>
                <a:latin typeface="Jetbrains Mono" panose="02000009000000000000" pitchFamily="49" charset="0"/>
              </a:rPr>
              <a:t>'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, </a:t>
            </a:r>
            <a:r>
              <a:rPr lang="en-US" altLang="ko-KR" dirty="0">
                <a:solidFill>
                  <a:srgbClr val="CE9178"/>
                </a:solidFill>
                <a:latin typeface="Jetbrains Mono" panose="02000009000000000000" pitchFamily="49" charset="0"/>
              </a:rPr>
              <a:t>'</a:t>
            </a:r>
            <a:r>
              <a:rPr lang="ko-KR" altLang="en-US" dirty="0" err="1">
                <a:solidFill>
                  <a:srgbClr val="CE9178"/>
                </a:solidFill>
                <a:latin typeface="Jetbrains Mono" panose="02000009000000000000" pitchFamily="49" charset="0"/>
              </a:rPr>
              <a:t>테츠에요</a:t>
            </a:r>
            <a:r>
              <a:rPr lang="en-US" altLang="ko-KR" dirty="0">
                <a:solidFill>
                  <a:srgbClr val="CE9178"/>
                </a:solidFill>
                <a:latin typeface="Jetbrains Mono" panose="02000009000000000000" pitchFamily="49" charset="0"/>
              </a:rPr>
              <a:t>!'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);</a:t>
            </a:r>
          </a:p>
          <a:p>
            <a:r>
              <a:rPr lang="en-US" altLang="ko-KR" dirty="0" err="1">
                <a:solidFill>
                  <a:srgbClr val="9CDCFE"/>
                </a:solidFill>
                <a:latin typeface="Jetbrains Mono" panose="02000009000000000000" pitchFamily="49" charset="0"/>
              </a:rPr>
              <a:t>localStorage</a:t>
            </a:r>
            <a:r>
              <a:rPr lang="en-US" altLang="ko-KR" dirty="0" err="1">
                <a:solidFill>
                  <a:srgbClr val="D4D4D4"/>
                </a:solidFill>
                <a:latin typeface="Jetbrains Mono" panose="02000009000000000000" pitchFamily="49" charset="0"/>
              </a:rPr>
              <a:t>.</a:t>
            </a:r>
            <a:r>
              <a:rPr lang="en-US" altLang="ko-KR" dirty="0" err="1">
                <a:solidFill>
                  <a:srgbClr val="DCDCAA"/>
                </a:solidFill>
                <a:latin typeface="Jetbrains Mono" panose="02000009000000000000" pitchFamily="49" charset="0"/>
              </a:rPr>
              <a:t>setItem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(</a:t>
            </a:r>
            <a:r>
              <a:rPr lang="en-US" altLang="ko-KR" dirty="0">
                <a:solidFill>
                  <a:srgbClr val="CE9178"/>
                </a:solidFill>
                <a:latin typeface="Jetbrains Mono" panose="02000009000000000000" pitchFamily="49" charset="0"/>
              </a:rPr>
              <a:t>'</a:t>
            </a:r>
            <a:r>
              <a:rPr lang="en-US" altLang="ko-KR" dirty="0" err="1">
                <a:solidFill>
                  <a:srgbClr val="CE9178"/>
                </a:solidFill>
                <a:latin typeface="Jetbrains Mono" panose="02000009000000000000" pitchFamily="49" charset="0"/>
              </a:rPr>
              <a:t>pororo</a:t>
            </a:r>
            <a:r>
              <a:rPr lang="en-US" altLang="ko-KR" dirty="0">
                <a:solidFill>
                  <a:srgbClr val="CE9178"/>
                </a:solidFill>
                <a:latin typeface="Jetbrains Mono" panose="02000009000000000000" pitchFamily="49" charset="0"/>
              </a:rPr>
              <a:t>'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, </a:t>
            </a:r>
            <a:r>
              <a:rPr lang="en-US" altLang="ko-KR" dirty="0">
                <a:solidFill>
                  <a:srgbClr val="CE9178"/>
                </a:solidFill>
                <a:latin typeface="Jetbrains Mono" panose="02000009000000000000" pitchFamily="49" charset="0"/>
              </a:rPr>
              <a:t>'</a:t>
            </a:r>
            <a:r>
              <a:rPr lang="ko-KR" altLang="en-US" dirty="0" err="1">
                <a:solidFill>
                  <a:srgbClr val="CE9178"/>
                </a:solidFill>
                <a:latin typeface="Jetbrains Mono" panose="02000009000000000000" pitchFamily="49" charset="0"/>
              </a:rPr>
              <a:t>뽀로로에요</a:t>
            </a:r>
            <a:r>
              <a:rPr lang="en-US" altLang="ko-KR" dirty="0">
                <a:solidFill>
                  <a:srgbClr val="CE9178"/>
                </a:solidFill>
                <a:latin typeface="Jetbrains Mono" panose="02000009000000000000" pitchFamily="49" charset="0"/>
              </a:rPr>
              <a:t>!'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);</a:t>
            </a:r>
          </a:p>
          <a:p>
            <a:r>
              <a:rPr lang="en-US" altLang="ko-KR" dirty="0">
                <a:solidFill>
                  <a:srgbClr val="9CDCFE"/>
                </a:solidFill>
                <a:latin typeface="Jetbrains Mono" panose="02000009000000000000" pitchFamily="49" charset="0"/>
              </a:rPr>
              <a:t>console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.</a:t>
            </a:r>
            <a:r>
              <a:rPr lang="en-US" altLang="ko-KR" dirty="0">
                <a:solidFill>
                  <a:srgbClr val="DCDCAA"/>
                </a:solidFill>
                <a:latin typeface="Jetbrains Mono" panose="02000009000000000000" pitchFamily="49" charset="0"/>
              </a:rPr>
              <a:t>log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(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00009000000000000" pitchFamily="49" charset="0"/>
              </a:rPr>
              <a:t>localStorage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);</a:t>
            </a:r>
          </a:p>
          <a:p>
            <a:r>
              <a:rPr lang="en-US" altLang="ko-KR" dirty="0">
                <a:solidFill>
                  <a:srgbClr val="808080"/>
                </a:solidFill>
                <a:latin typeface="Jetbrains Mono" panose="02000009000000000000" pitchFamily="49" charset="0"/>
              </a:rPr>
              <a:t>&lt;/</a:t>
            </a:r>
            <a:r>
              <a:rPr lang="en-US" altLang="ko-KR" dirty="0">
                <a:solidFill>
                  <a:srgbClr val="569CD6"/>
                </a:solidFill>
                <a:latin typeface="Jetbrains Mono" panose="02000009000000000000" pitchFamily="49" charset="0"/>
              </a:rPr>
              <a:t>script</a:t>
            </a:r>
            <a:r>
              <a:rPr lang="en-US" altLang="ko-KR" dirty="0">
                <a:solidFill>
                  <a:srgbClr val="808080"/>
                </a:solidFill>
                <a:latin typeface="Jetbrains Mono" panose="02000009000000000000" pitchFamily="49" charset="0"/>
              </a:rPr>
              <a:t>&gt;</a:t>
            </a:r>
            <a:endParaRPr lang="en-US" altLang="ko-KR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062" y="3825049"/>
            <a:ext cx="8678069" cy="2013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2869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475533C6-BC96-8DB2-1497-929045B54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988" y="2828"/>
            <a:ext cx="11260802" cy="13255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LocalStorage</a:t>
            </a:r>
            <a:r>
              <a:rPr lang="ko-KR" altLang="en-US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에 특정 키 삭제하기</a:t>
            </a:r>
            <a:r>
              <a:rPr lang="en-US" altLang="ko-KR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!</a:t>
            </a:r>
            <a:endParaRPr lang="en-US" altLang="ko-KR" sz="44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510987" y="1328391"/>
            <a:ext cx="7587983" cy="175432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808080"/>
                </a:solidFill>
                <a:latin typeface="Jetbrains Mono" panose="02000009000000000000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00009000000000000" pitchFamily="49" charset="0"/>
              </a:rPr>
              <a:t>script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 </a:t>
            </a:r>
            <a:r>
              <a:rPr lang="en-US" altLang="ko-KR" dirty="0">
                <a:solidFill>
                  <a:srgbClr val="9CDCFE"/>
                </a:solidFill>
                <a:latin typeface="Jetbrains Mono" panose="02000009000000000000" pitchFamily="49" charset="0"/>
              </a:rPr>
              <a:t>setup</a:t>
            </a:r>
            <a:r>
              <a:rPr lang="en-US" altLang="ko-KR" dirty="0">
                <a:solidFill>
                  <a:srgbClr val="808080"/>
                </a:solidFill>
                <a:latin typeface="Jetbrains Mono" panose="02000009000000000000" pitchFamily="49" charset="0"/>
              </a:rPr>
              <a:t>&gt;</a:t>
            </a:r>
            <a:endParaRPr lang="en-US" altLang="ko-KR" dirty="0">
              <a:solidFill>
                <a:srgbClr val="D4D4D4"/>
              </a:solidFill>
              <a:latin typeface="Jetbrains Mono" panose="02000009000000000000" pitchFamily="49" charset="0"/>
            </a:endParaRPr>
          </a:p>
          <a:p>
            <a:r>
              <a:rPr lang="en-US" altLang="ko-KR" dirty="0" err="1">
                <a:solidFill>
                  <a:srgbClr val="9CDCFE"/>
                </a:solidFill>
                <a:latin typeface="Jetbrains Mono" panose="02000009000000000000" pitchFamily="49" charset="0"/>
              </a:rPr>
              <a:t>localStorage</a:t>
            </a:r>
            <a:r>
              <a:rPr lang="en-US" altLang="ko-KR" dirty="0" err="1">
                <a:solidFill>
                  <a:srgbClr val="D4D4D4"/>
                </a:solidFill>
                <a:latin typeface="Jetbrains Mono" panose="02000009000000000000" pitchFamily="49" charset="0"/>
              </a:rPr>
              <a:t>.</a:t>
            </a:r>
            <a:r>
              <a:rPr lang="en-US" altLang="ko-KR" dirty="0" err="1">
                <a:solidFill>
                  <a:srgbClr val="DCDCAA"/>
                </a:solidFill>
                <a:latin typeface="Jetbrains Mono" panose="02000009000000000000" pitchFamily="49" charset="0"/>
              </a:rPr>
              <a:t>setItem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(</a:t>
            </a:r>
            <a:r>
              <a:rPr lang="en-US" altLang="ko-KR" dirty="0">
                <a:solidFill>
                  <a:srgbClr val="CE9178"/>
                </a:solidFill>
                <a:latin typeface="Jetbrains Mono" panose="02000009000000000000" pitchFamily="49" charset="0"/>
              </a:rPr>
              <a:t>'</a:t>
            </a:r>
            <a:r>
              <a:rPr lang="en-US" altLang="ko-KR" dirty="0" err="1">
                <a:solidFill>
                  <a:srgbClr val="CE9178"/>
                </a:solidFill>
                <a:latin typeface="Jetbrains Mono" panose="02000009000000000000" pitchFamily="49" charset="0"/>
              </a:rPr>
              <a:t>tetz</a:t>
            </a:r>
            <a:r>
              <a:rPr lang="en-US" altLang="ko-KR" dirty="0">
                <a:solidFill>
                  <a:srgbClr val="CE9178"/>
                </a:solidFill>
                <a:latin typeface="Jetbrains Mono" panose="02000009000000000000" pitchFamily="49" charset="0"/>
              </a:rPr>
              <a:t>'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, </a:t>
            </a:r>
            <a:r>
              <a:rPr lang="en-US" altLang="ko-KR" dirty="0">
                <a:solidFill>
                  <a:srgbClr val="CE9178"/>
                </a:solidFill>
                <a:latin typeface="Jetbrains Mono" panose="02000009000000000000" pitchFamily="49" charset="0"/>
              </a:rPr>
              <a:t>'</a:t>
            </a:r>
            <a:r>
              <a:rPr lang="ko-KR" altLang="en-US" dirty="0" err="1">
                <a:solidFill>
                  <a:srgbClr val="CE9178"/>
                </a:solidFill>
                <a:latin typeface="Jetbrains Mono" panose="02000009000000000000" pitchFamily="49" charset="0"/>
              </a:rPr>
              <a:t>테츠에요</a:t>
            </a:r>
            <a:r>
              <a:rPr lang="en-US" altLang="ko-KR" dirty="0">
                <a:solidFill>
                  <a:srgbClr val="CE9178"/>
                </a:solidFill>
                <a:latin typeface="Jetbrains Mono" panose="02000009000000000000" pitchFamily="49" charset="0"/>
              </a:rPr>
              <a:t>!'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);</a:t>
            </a:r>
          </a:p>
          <a:p>
            <a:r>
              <a:rPr lang="en-US" altLang="ko-KR" dirty="0" err="1">
                <a:solidFill>
                  <a:srgbClr val="9CDCFE"/>
                </a:solidFill>
                <a:latin typeface="Jetbrains Mono" panose="02000009000000000000" pitchFamily="49" charset="0"/>
              </a:rPr>
              <a:t>localStorage</a:t>
            </a:r>
            <a:r>
              <a:rPr lang="en-US" altLang="ko-KR" dirty="0" err="1">
                <a:solidFill>
                  <a:srgbClr val="D4D4D4"/>
                </a:solidFill>
                <a:latin typeface="Jetbrains Mono" panose="02000009000000000000" pitchFamily="49" charset="0"/>
              </a:rPr>
              <a:t>.</a:t>
            </a:r>
            <a:r>
              <a:rPr lang="en-US" altLang="ko-KR" dirty="0" err="1">
                <a:solidFill>
                  <a:srgbClr val="DCDCAA"/>
                </a:solidFill>
                <a:latin typeface="Jetbrains Mono" panose="02000009000000000000" pitchFamily="49" charset="0"/>
              </a:rPr>
              <a:t>setItem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(</a:t>
            </a:r>
            <a:r>
              <a:rPr lang="en-US" altLang="ko-KR" dirty="0">
                <a:solidFill>
                  <a:srgbClr val="CE9178"/>
                </a:solidFill>
                <a:latin typeface="Jetbrains Mono" panose="02000009000000000000" pitchFamily="49" charset="0"/>
              </a:rPr>
              <a:t>'</a:t>
            </a:r>
            <a:r>
              <a:rPr lang="en-US" altLang="ko-KR" dirty="0" err="1">
                <a:solidFill>
                  <a:srgbClr val="CE9178"/>
                </a:solidFill>
                <a:latin typeface="Jetbrains Mono" panose="02000009000000000000" pitchFamily="49" charset="0"/>
              </a:rPr>
              <a:t>pororo</a:t>
            </a:r>
            <a:r>
              <a:rPr lang="en-US" altLang="ko-KR" dirty="0">
                <a:solidFill>
                  <a:srgbClr val="CE9178"/>
                </a:solidFill>
                <a:latin typeface="Jetbrains Mono" panose="02000009000000000000" pitchFamily="49" charset="0"/>
              </a:rPr>
              <a:t>'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, </a:t>
            </a:r>
            <a:r>
              <a:rPr lang="en-US" altLang="ko-KR" dirty="0">
                <a:solidFill>
                  <a:srgbClr val="CE9178"/>
                </a:solidFill>
                <a:latin typeface="Jetbrains Mono" panose="02000009000000000000" pitchFamily="49" charset="0"/>
              </a:rPr>
              <a:t>'</a:t>
            </a:r>
            <a:r>
              <a:rPr lang="ko-KR" altLang="en-US" dirty="0" err="1">
                <a:solidFill>
                  <a:srgbClr val="CE9178"/>
                </a:solidFill>
                <a:latin typeface="Jetbrains Mono" panose="02000009000000000000" pitchFamily="49" charset="0"/>
              </a:rPr>
              <a:t>뽀로로에요</a:t>
            </a:r>
            <a:r>
              <a:rPr lang="en-US" altLang="ko-KR" dirty="0">
                <a:solidFill>
                  <a:srgbClr val="CE9178"/>
                </a:solidFill>
                <a:latin typeface="Jetbrains Mono" panose="02000009000000000000" pitchFamily="49" charset="0"/>
              </a:rPr>
              <a:t>!'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);</a:t>
            </a:r>
          </a:p>
          <a:p>
            <a:r>
              <a:rPr lang="en-US" altLang="ko-KR" dirty="0" err="1">
                <a:solidFill>
                  <a:srgbClr val="9CDCFE"/>
                </a:solidFill>
                <a:latin typeface="Jetbrains Mono" panose="02000009000000000000" pitchFamily="49" charset="0"/>
              </a:rPr>
              <a:t>localStorage</a:t>
            </a:r>
            <a:r>
              <a:rPr lang="en-US" altLang="ko-KR" dirty="0" err="1">
                <a:solidFill>
                  <a:srgbClr val="D4D4D4"/>
                </a:solidFill>
                <a:latin typeface="Jetbrains Mono" panose="02000009000000000000" pitchFamily="49" charset="0"/>
              </a:rPr>
              <a:t>.</a:t>
            </a:r>
            <a:r>
              <a:rPr lang="en-US" altLang="ko-KR" dirty="0" err="1">
                <a:solidFill>
                  <a:srgbClr val="DCDCAA"/>
                </a:solidFill>
                <a:latin typeface="Jetbrains Mono" panose="02000009000000000000" pitchFamily="49" charset="0"/>
              </a:rPr>
              <a:t>removeItem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(</a:t>
            </a:r>
            <a:r>
              <a:rPr lang="en-US" altLang="ko-KR" dirty="0">
                <a:solidFill>
                  <a:srgbClr val="CE9178"/>
                </a:solidFill>
                <a:latin typeface="Jetbrains Mono" panose="02000009000000000000" pitchFamily="49" charset="0"/>
              </a:rPr>
              <a:t>'</a:t>
            </a:r>
            <a:r>
              <a:rPr lang="en-US" altLang="ko-KR" dirty="0" err="1">
                <a:solidFill>
                  <a:srgbClr val="CE9178"/>
                </a:solidFill>
                <a:latin typeface="Jetbrains Mono" panose="02000009000000000000" pitchFamily="49" charset="0"/>
              </a:rPr>
              <a:t>pororo</a:t>
            </a:r>
            <a:r>
              <a:rPr lang="en-US" altLang="ko-KR" dirty="0">
                <a:solidFill>
                  <a:srgbClr val="CE9178"/>
                </a:solidFill>
                <a:latin typeface="Jetbrains Mono" panose="02000009000000000000" pitchFamily="49" charset="0"/>
              </a:rPr>
              <a:t>'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);</a:t>
            </a:r>
          </a:p>
          <a:p>
            <a:r>
              <a:rPr lang="en-US" altLang="ko-KR" dirty="0">
                <a:solidFill>
                  <a:srgbClr val="9CDCFE"/>
                </a:solidFill>
                <a:latin typeface="Jetbrains Mono" panose="02000009000000000000" pitchFamily="49" charset="0"/>
              </a:rPr>
              <a:t>console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.</a:t>
            </a:r>
            <a:r>
              <a:rPr lang="en-US" altLang="ko-KR" dirty="0">
                <a:solidFill>
                  <a:srgbClr val="DCDCAA"/>
                </a:solidFill>
                <a:latin typeface="Jetbrains Mono" panose="02000009000000000000" pitchFamily="49" charset="0"/>
              </a:rPr>
              <a:t>log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(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00009000000000000" pitchFamily="49" charset="0"/>
              </a:rPr>
              <a:t>window</a:t>
            </a:r>
            <a:r>
              <a:rPr lang="en-US" altLang="ko-KR" dirty="0" err="1">
                <a:solidFill>
                  <a:srgbClr val="D4D4D4"/>
                </a:solidFill>
                <a:latin typeface="Jetbrains Mono" panose="02000009000000000000" pitchFamily="49" charset="0"/>
              </a:rPr>
              <a:t>.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00009000000000000" pitchFamily="49" charset="0"/>
              </a:rPr>
              <a:t>localStorage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);</a:t>
            </a:r>
          </a:p>
          <a:p>
            <a:r>
              <a:rPr lang="en-US" altLang="ko-KR" dirty="0">
                <a:solidFill>
                  <a:srgbClr val="808080"/>
                </a:solidFill>
                <a:latin typeface="Jetbrains Mono" panose="02000009000000000000" pitchFamily="49" charset="0"/>
              </a:rPr>
              <a:t>&lt;/</a:t>
            </a:r>
            <a:r>
              <a:rPr lang="en-US" altLang="ko-KR" dirty="0">
                <a:solidFill>
                  <a:srgbClr val="569CD6"/>
                </a:solidFill>
                <a:latin typeface="Jetbrains Mono" panose="02000009000000000000" pitchFamily="49" charset="0"/>
              </a:rPr>
              <a:t>script</a:t>
            </a:r>
            <a:r>
              <a:rPr lang="en-US" altLang="ko-KR" dirty="0">
                <a:solidFill>
                  <a:srgbClr val="808080"/>
                </a:solidFill>
                <a:latin typeface="Jetbrains Mono" panose="02000009000000000000" pitchFamily="49" charset="0"/>
              </a:rPr>
              <a:t>&gt;</a:t>
            </a:r>
            <a:endParaRPr lang="en-US" altLang="ko-KR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987" y="3261796"/>
            <a:ext cx="10095040" cy="1556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6105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475533C6-BC96-8DB2-1497-929045B54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988" y="2828"/>
            <a:ext cx="11260802" cy="13255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 err="1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LocalStorage</a:t>
            </a:r>
            <a:r>
              <a:rPr lang="ko-KR" altLang="en-US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전체 삭제하기</a:t>
            </a:r>
            <a:r>
              <a:rPr lang="en-US" altLang="ko-KR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!</a:t>
            </a:r>
            <a:endParaRPr lang="en-US" altLang="ko-KR" sz="4400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510988" y="1328391"/>
            <a:ext cx="7155543" cy="175432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808080"/>
                </a:solidFill>
                <a:latin typeface="Jetbrains Mono" panose="02000009000000000000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00009000000000000" pitchFamily="49" charset="0"/>
              </a:rPr>
              <a:t>script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 </a:t>
            </a:r>
            <a:r>
              <a:rPr lang="en-US" altLang="ko-KR" dirty="0">
                <a:solidFill>
                  <a:srgbClr val="9CDCFE"/>
                </a:solidFill>
                <a:latin typeface="Jetbrains Mono" panose="02000009000000000000" pitchFamily="49" charset="0"/>
              </a:rPr>
              <a:t>setup</a:t>
            </a:r>
            <a:r>
              <a:rPr lang="en-US" altLang="ko-KR" dirty="0">
                <a:solidFill>
                  <a:srgbClr val="808080"/>
                </a:solidFill>
                <a:latin typeface="Jetbrains Mono" panose="02000009000000000000" pitchFamily="49" charset="0"/>
              </a:rPr>
              <a:t>&gt;</a:t>
            </a:r>
            <a:endParaRPr lang="en-US" altLang="ko-KR" dirty="0">
              <a:solidFill>
                <a:srgbClr val="D4D4D4"/>
              </a:solidFill>
              <a:latin typeface="Jetbrains Mono" panose="02000009000000000000" pitchFamily="49" charset="0"/>
            </a:endParaRPr>
          </a:p>
          <a:p>
            <a:r>
              <a:rPr lang="en-US" altLang="ko-KR" dirty="0" err="1">
                <a:solidFill>
                  <a:srgbClr val="9CDCFE"/>
                </a:solidFill>
                <a:latin typeface="Jetbrains Mono" panose="02000009000000000000" pitchFamily="49" charset="0"/>
              </a:rPr>
              <a:t>localStorage</a:t>
            </a:r>
            <a:r>
              <a:rPr lang="en-US" altLang="ko-KR" dirty="0" err="1">
                <a:solidFill>
                  <a:srgbClr val="D4D4D4"/>
                </a:solidFill>
                <a:latin typeface="Jetbrains Mono" panose="02000009000000000000" pitchFamily="49" charset="0"/>
              </a:rPr>
              <a:t>.</a:t>
            </a:r>
            <a:r>
              <a:rPr lang="en-US" altLang="ko-KR" dirty="0" err="1">
                <a:solidFill>
                  <a:srgbClr val="DCDCAA"/>
                </a:solidFill>
                <a:latin typeface="Jetbrains Mono" panose="02000009000000000000" pitchFamily="49" charset="0"/>
              </a:rPr>
              <a:t>setItem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(</a:t>
            </a:r>
            <a:r>
              <a:rPr lang="en-US" altLang="ko-KR" dirty="0">
                <a:solidFill>
                  <a:srgbClr val="CE9178"/>
                </a:solidFill>
                <a:latin typeface="Jetbrains Mono" panose="02000009000000000000" pitchFamily="49" charset="0"/>
              </a:rPr>
              <a:t>'</a:t>
            </a:r>
            <a:r>
              <a:rPr lang="en-US" altLang="ko-KR" dirty="0" err="1">
                <a:solidFill>
                  <a:srgbClr val="CE9178"/>
                </a:solidFill>
                <a:latin typeface="Jetbrains Mono" panose="02000009000000000000" pitchFamily="49" charset="0"/>
              </a:rPr>
              <a:t>tetz</a:t>
            </a:r>
            <a:r>
              <a:rPr lang="en-US" altLang="ko-KR" dirty="0">
                <a:solidFill>
                  <a:srgbClr val="CE9178"/>
                </a:solidFill>
                <a:latin typeface="Jetbrains Mono" panose="02000009000000000000" pitchFamily="49" charset="0"/>
              </a:rPr>
              <a:t>'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, </a:t>
            </a:r>
            <a:r>
              <a:rPr lang="en-US" altLang="ko-KR" dirty="0">
                <a:solidFill>
                  <a:srgbClr val="CE9178"/>
                </a:solidFill>
                <a:latin typeface="Jetbrains Mono" panose="02000009000000000000" pitchFamily="49" charset="0"/>
              </a:rPr>
              <a:t>'</a:t>
            </a:r>
            <a:r>
              <a:rPr lang="ko-KR" altLang="en-US" dirty="0" err="1">
                <a:solidFill>
                  <a:srgbClr val="CE9178"/>
                </a:solidFill>
                <a:latin typeface="Jetbrains Mono" panose="02000009000000000000" pitchFamily="49" charset="0"/>
              </a:rPr>
              <a:t>테츠에요</a:t>
            </a:r>
            <a:r>
              <a:rPr lang="en-US" altLang="ko-KR" dirty="0">
                <a:solidFill>
                  <a:srgbClr val="CE9178"/>
                </a:solidFill>
                <a:latin typeface="Jetbrains Mono" panose="02000009000000000000" pitchFamily="49" charset="0"/>
              </a:rPr>
              <a:t>!'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);</a:t>
            </a:r>
          </a:p>
          <a:p>
            <a:r>
              <a:rPr lang="en-US" altLang="ko-KR" dirty="0" err="1">
                <a:solidFill>
                  <a:srgbClr val="9CDCFE"/>
                </a:solidFill>
                <a:latin typeface="Jetbrains Mono" panose="02000009000000000000" pitchFamily="49" charset="0"/>
              </a:rPr>
              <a:t>localStorage</a:t>
            </a:r>
            <a:r>
              <a:rPr lang="en-US" altLang="ko-KR" dirty="0" err="1">
                <a:solidFill>
                  <a:srgbClr val="D4D4D4"/>
                </a:solidFill>
                <a:latin typeface="Jetbrains Mono" panose="02000009000000000000" pitchFamily="49" charset="0"/>
              </a:rPr>
              <a:t>.</a:t>
            </a:r>
            <a:r>
              <a:rPr lang="en-US" altLang="ko-KR" dirty="0" err="1">
                <a:solidFill>
                  <a:srgbClr val="DCDCAA"/>
                </a:solidFill>
                <a:latin typeface="Jetbrains Mono" panose="02000009000000000000" pitchFamily="49" charset="0"/>
              </a:rPr>
              <a:t>setItem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(</a:t>
            </a:r>
            <a:r>
              <a:rPr lang="en-US" altLang="ko-KR" dirty="0">
                <a:solidFill>
                  <a:srgbClr val="CE9178"/>
                </a:solidFill>
                <a:latin typeface="Jetbrains Mono" panose="02000009000000000000" pitchFamily="49" charset="0"/>
              </a:rPr>
              <a:t>'</a:t>
            </a:r>
            <a:r>
              <a:rPr lang="en-US" altLang="ko-KR" dirty="0" err="1">
                <a:solidFill>
                  <a:srgbClr val="CE9178"/>
                </a:solidFill>
                <a:latin typeface="Jetbrains Mono" panose="02000009000000000000" pitchFamily="49" charset="0"/>
              </a:rPr>
              <a:t>pororo</a:t>
            </a:r>
            <a:r>
              <a:rPr lang="en-US" altLang="ko-KR" dirty="0">
                <a:solidFill>
                  <a:srgbClr val="CE9178"/>
                </a:solidFill>
                <a:latin typeface="Jetbrains Mono" panose="02000009000000000000" pitchFamily="49" charset="0"/>
              </a:rPr>
              <a:t>'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, </a:t>
            </a:r>
            <a:r>
              <a:rPr lang="en-US" altLang="ko-KR" dirty="0">
                <a:solidFill>
                  <a:srgbClr val="CE9178"/>
                </a:solidFill>
                <a:latin typeface="Jetbrains Mono" panose="02000009000000000000" pitchFamily="49" charset="0"/>
              </a:rPr>
              <a:t>'</a:t>
            </a:r>
            <a:r>
              <a:rPr lang="ko-KR" altLang="en-US" dirty="0" err="1">
                <a:solidFill>
                  <a:srgbClr val="CE9178"/>
                </a:solidFill>
                <a:latin typeface="Jetbrains Mono" panose="02000009000000000000" pitchFamily="49" charset="0"/>
              </a:rPr>
              <a:t>뽀로로에요</a:t>
            </a:r>
            <a:r>
              <a:rPr lang="en-US" altLang="ko-KR" dirty="0">
                <a:solidFill>
                  <a:srgbClr val="CE9178"/>
                </a:solidFill>
                <a:latin typeface="Jetbrains Mono" panose="02000009000000000000" pitchFamily="49" charset="0"/>
              </a:rPr>
              <a:t>!'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);</a:t>
            </a:r>
          </a:p>
          <a:p>
            <a:r>
              <a:rPr lang="en-US" altLang="ko-KR" dirty="0" err="1">
                <a:solidFill>
                  <a:srgbClr val="9CDCFE"/>
                </a:solidFill>
                <a:latin typeface="Jetbrains Mono" panose="02000009000000000000" pitchFamily="49" charset="0"/>
              </a:rPr>
              <a:t>localStorage</a:t>
            </a:r>
            <a:r>
              <a:rPr lang="en-US" altLang="ko-KR" dirty="0" err="1">
                <a:solidFill>
                  <a:srgbClr val="D4D4D4"/>
                </a:solidFill>
                <a:latin typeface="Jetbrains Mono" panose="02000009000000000000" pitchFamily="49" charset="0"/>
              </a:rPr>
              <a:t>.</a:t>
            </a:r>
            <a:r>
              <a:rPr lang="en-US" altLang="ko-KR" dirty="0" err="1">
                <a:solidFill>
                  <a:srgbClr val="DCDCAA"/>
                </a:solidFill>
                <a:latin typeface="Jetbrains Mono" panose="02000009000000000000" pitchFamily="49" charset="0"/>
              </a:rPr>
              <a:t>clear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();</a:t>
            </a:r>
          </a:p>
          <a:p>
            <a:r>
              <a:rPr lang="en-US" altLang="ko-KR" dirty="0">
                <a:solidFill>
                  <a:srgbClr val="9CDCFE"/>
                </a:solidFill>
                <a:latin typeface="Jetbrains Mono" panose="02000009000000000000" pitchFamily="49" charset="0"/>
              </a:rPr>
              <a:t>console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.</a:t>
            </a:r>
            <a:r>
              <a:rPr lang="en-US" altLang="ko-KR" dirty="0">
                <a:solidFill>
                  <a:srgbClr val="DCDCAA"/>
                </a:solidFill>
                <a:latin typeface="Jetbrains Mono" panose="02000009000000000000" pitchFamily="49" charset="0"/>
              </a:rPr>
              <a:t>log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(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00009000000000000" pitchFamily="49" charset="0"/>
              </a:rPr>
              <a:t>window</a:t>
            </a:r>
            <a:r>
              <a:rPr lang="en-US" altLang="ko-KR" dirty="0" err="1">
                <a:solidFill>
                  <a:srgbClr val="D4D4D4"/>
                </a:solidFill>
                <a:latin typeface="Jetbrains Mono" panose="02000009000000000000" pitchFamily="49" charset="0"/>
              </a:rPr>
              <a:t>.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00009000000000000" pitchFamily="49" charset="0"/>
              </a:rPr>
              <a:t>localStorage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);</a:t>
            </a:r>
          </a:p>
          <a:p>
            <a:r>
              <a:rPr lang="en-US" altLang="ko-KR" dirty="0">
                <a:solidFill>
                  <a:srgbClr val="808080"/>
                </a:solidFill>
                <a:latin typeface="Jetbrains Mono" panose="02000009000000000000" pitchFamily="49" charset="0"/>
              </a:rPr>
              <a:t>&lt;/</a:t>
            </a:r>
            <a:r>
              <a:rPr lang="en-US" altLang="ko-KR" dirty="0">
                <a:solidFill>
                  <a:srgbClr val="569CD6"/>
                </a:solidFill>
                <a:latin typeface="Jetbrains Mono" panose="02000009000000000000" pitchFamily="49" charset="0"/>
              </a:rPr>
              <a:t>script</a:t>
            </a:r>
            <a:r>
              <a:rPr lang="en-US" altLang="ko-KR" dirty="0">
                <a:solidFill>
                  <a:srgbClr val="808080"/>
                </a:solidFill>
                <a:latin typeface="Jetbrains Mono" panose="02000009000000000000" pitchFamily="49" charset="0"/>
              </a:rPr>
              <a:t>&gt;</a:t>
            </a:r>
            <a:endParaRPr lang="en-US" altLang="ko-KR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988" y="3323493"/>
            <a:ext cx="8748742" cy="1084787"/>
          </a:xfrm>
          <a:prstGeom prst="rect">
            <a:avLst/>
          </a:prstGeom>
        </p:spPr>
      </p:pic>
      <p:pic>
        <p:nvPicPr>
          <p:cNvPr id="11266" name="Picture 2" descr="던전앤파이터[잡담] 상던러닝 후 왜차큐 리롤 결과 - 던전앤파이터게임조선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49" r="12240"/>
          <a:stretch/>
        </p:blipFill>
        <p:spPr bwMode="auto">
          <a:xfrm>
            <a:off x="7955995" y="1328391"/>
            <a:ext cx="4076668" cy="3258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6397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51A304-90D1-7EA9-EBAE-E5B3155D64CA}"/>
              </a:ext>
            </a:extLst>
          </p:cNvPr>
          <p:cNvSpPr txBox="1"/>
          <p:nvPr/>
        </p:nvSpPr>
        <p:spPr>
          <a:xfrm>
            <a:off x="0" y="0"/>
            <a:ext cx="121920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9600" dirty="0" err="1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로그인을</a:t>
            </a:r>
            <a:endParaRPr lang="en-US" altLang="ko-KR" sz="9600" dirty="0">
              <a:solidFill>
                <a:srgbClr val="0070C0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960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구현해 봅시다</a:t>
            </a:r>
            <a:r>
              <a:rPr lang="en-US" altLang="ko-KR" sz="960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4049890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토꾸 on X: &quot;갑자기 셒구 짤 타래 💖 캡쳐할 때마다 이어요 가... 갑자기요? 거절 아차 많아요  https://t.co/f7EVd7zJXD&quot; / X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088" y="266700"/>
            <a:ext cx="6359525" cy="634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직사각형 3"/>
          <p:cNvSpPr/>
          <p:nvPr/>
        </p:nvSpPr>
        <p:spPr>
          <a:xfrm>
            <a:off x="7372350" y="266700"/>
            <a:ext cx="3733800" cy="175432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  </a:t>
            </a:r>
            <a:r>
              <a:rPr lang="en-US" altLang="ko-KR" dirty="0">
                <a:solidFill>
                  <a:srgbClr val="9CDCFE"/>
                </a:solidFill>
                <a:latin typeface="Jetbrains Mono" panose="02000009000000000000" pitchFamily="49" charset="0"/>
              </a:rPr>
              <a:t>"users"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: [</a:t>
            </a:r>
          </a:p>
          <a:p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    {</a:t>
            </a:r>
          </a:p>
          <a:p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      </a:t>
            </a:r>
            <a:r>
              <a:rPr lang="en-US" altLang="ko-KR" dirty="0">
                <a:solidFill>
                  <a:srgbClr val="9CDCFE"/>
                </a:solidFill>
                <a:latin typeface="Jetbrains Mono" panose="02000009000000000000" pitchFamily="49" charset="0"/>
              </a:rPr>
              <a:t>"id"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: </a:t>
            </a:r>
            <a:r>
              <a:rPr lang="en-US" altLang="ko-KR" dirty="0">
                <a:solidFill>
                  <a:srgbClr val="CE9178"/>
                </a:solidFill>
                <a:latin typeface="Jetbrains Mono" panose="02000009000000000000" pitchFamily="49" charset="0"/>
              </a:rPr>
              <a:t>"12"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,</a:t>
            </a:r>
          </a:p>
          <a:p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      </a:t>
            </a:r>
            <a:r>
              <a:rPr lang="en-US" altLang="ko-KR" dirty="0">
                <a:solidFill>
                  <a:srgbClr val="9CDCFE"/>
                </a:solidFill>
                <a:latin typeface="Jetbrains Mono" panose="02000009000000000000" pitchFamily="49" charset="0"/>
              </a:rPr>
              <a:t>"password"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: </a:t>
            </a:r>
            <a:r>
              <a:rPr lang="en-US" altLang="ko-KR" dirty="0">
                <a:solidFill>
                  <a:srgbClr val="CE9178"/>
                </a:solidFill>
                <a:latin typeface="Jetbrains Mono" panose="02000009000000000000" pitchFamily="49" charset="0"/>
              </a:rPr>
              <a:t>"12"</a:t>
            </a:r>
            <a:endParaRPr lang="en-US" altLang="ko-KR" dirty="0">
              <a:solidFill>
                <a:srgbClr val="D4D4D4"/>
              </a:solidFill>
              <a:latin typeface="Jetbrains Mono" panose="02000009000000000000" pitchFamily="49" charset="0"/>
            </a:endParaRPr>
          </a:p>
          <a:p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    }</a:t>
            </a:r>
          </a:p>
          <a:p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  ]}</a:t>
            </a:r>
            <a:endParaRPr lang="en-US" altLang="ko-KR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</p:txBody>
      </p:sp>
      <p:pic>
        <p:nvPicPr>
          <p:cNvPr id="7174" name="Picture 6" descr="계획대로야 짤 [데스노트, 야가미 라이토]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2350" y="2127961"/>
            <a:ext cx="3733800" cy="4730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8115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사극에 나오는 머슴 특징 | (백업)유머 게시판(2018-2020) | RULIWE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874" y="427037"/>
            <a:ext cx="9369425" cy="6178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사각형: 둥근 모서리 5">
            <a:extLst>
              <a:ext uri="{FF2B5EF4-FFF2-40B4-BE49-F238E27FC236}">
                <a16:creationId xmlns:a16="http://schemas.microsoft.com/office/drawing/2014/main" id="{91487BA2-F7B2-5C8A-D2AB-9ACAA234F152}"/>
              </a:ext>
            </a:extLst>
          </p:cNvPr>
          <p:cNvSpPr/>
          <p:nvPr/>
        </p:nvSpPr>
        <p:spPr>
          <a:xfrm>
            <a:off x="0" y="427037"/>
            <a:ext cx="5143500" cy="283300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2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최고의 코딩 학습법은</a:t>
            </a:r>
            <a:endParaRPr lang="en-US" altLang="ko-KR" sz="32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32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일단 구현하고 보는</a:t>
            </a:r>
            <a:endParaRPr lang="en-US" altLang="ko-KR" sz="32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32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상놈식</a:t>
            </a:r>
            <a:r>
              <a:rPr lang="ko-KR" altLang="en-US" sz="32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코딩이</a:t>
            </a:r>
            <a:endParaRPr lang="en-US" altLang="ko-KR" sz="32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32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최고라고 </a:t>
            </a:r>
            <a:r>
              <a:rPr lang="ko-KR" altLang="en-US" sz="32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들었구만유</a:t>
            </a:r>
            <a:r>
              <a:rPr lang="en-US" altLang="ko-KR" sz="32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~~~</a:t>
            </a:r>
          </a:p>
        </p:txBody>
      </p:sp>
    </p:spTree>
    <p:extLst>
      <p:ext uri="{BB962C8B-B14F-4D97-AF65-F5344CB8AC3E}">
        <p14:creationId xmlns:p14="http://schemas.microsoft.com/office/powerpoint/2010/main" val="291700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51A304-90D1-7EA9-EBAE-E5B3155D64CA}"/>
              </a:ext>
            </a:extLst>
          </p:cNvPr>
          <p:cNvSpPr txBox="1"/>
          <p:nvPr/>
        </p:nvSpPr>
        <p:spPr>
          <a:xfrm>
            <a:off x="0" y="0"/>
            <a:ext cx="12192000" cy="4311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960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프로젝트</a:t>
            </a:r>
            <a:endParaRPr lang="en-US" altLang="ko-KR" sz="9600" dirty="0">
              <a:solidFill>
                <a:srgbClr val="0070C0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960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만들기</a:t>
            </a:r>
            <a:endParaRPr lang="en-US" altLang="ko-KR" sz="9600" dirty="0">
              <a:solidFill>
                <a:srgbClr val="0070C0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597359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A6A19E9-CEE3-749B-9B85-BE4C38EE46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9" y="71510"/>
            <a:ext cx="3289765" cy="6703205"/>
          </a:xfrm>
          <a:prstGeom prst="rect">
            <a:avLst/>
          </a:prstGeom>
        </p:spPr>
      </p:pic>
      <p:sp>
        <p:nvSpPr>
          <p:cNvPr id="2" name="사각형: 둥근 모서리 5">
            <a:extLst>
              <a:ext uri="{FF2B5EF4-FFF2-40B4-BE49-F238E27FC236}">
                <a16:creationId xmlns:a16="http://schemas.microsoft.com/office/drawing/2014/main" id="{01EF004F-9C1A-762A-3E6B-15939F89EEB0}"/>
              </a:ext>
            </a:extLst>
          </p:cNvPr>
          <p:cNvSpPr/>
          <p:nvPr/>
        </p:nvSpPr>
        <p:spPr>
          <a:xfrm>
            <a:off x="3740727" y="71510"/>
            <a:ext cx="5143500" cy="283300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2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금일 제출 과제 및</a:t>
            </a:r>
            <a:endParaRPr lang="en-US" altLang="ko-KR" sz="32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en-US" altLang="ko-KR" sz="32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TodoList</a:t>
            </a:r>
            <a:r>
              <a:rPr lang="en-US" altLang="ko-KR" sz="32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32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구현은</a:t>
            </a:r>
            <a:endParaRPr lang="en-US" altLang="ko-KR" sz="32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32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요 프로젝트에서 같이</a:t>
            </a:r>
            <a:endParaRPr lang="en-US" altLang="ko-KR" sz="32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32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진행하겠습니다</a:t>
            </a:r>
            <a:r>
              <a:rPr lang="en-US" altLang="ko-KR" sz="32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368134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51A304-90D1-7EA9-EBAE-E5B3155D64CA}"/>
              </a:ext>
            </a:extLst>
          </p:cNvPr>
          <p:cNvSpPr txBox="1"/>
          <p:nvPr/>
        </p:nvSpPr>
        <p:spPr>
          <a:xfrm>
            <a:off x="0" y="0"/>
            <a:ext cx="12192000" cy="4311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9600" dirty="0" err="1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axios</a:t>
            </a:r>
            <a:endParaRPr lang="en-US" altLang="ko-KR" sz="9600" dirty="0">
              <a:solidFill>
                <a:srgbClr val="0070C0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960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설치하기</a:t>
            </a:r>
          </a:p>
        </p:txBody>
      </p:sp>
    </p:spTree>
    <p:extLst>
      <p:ext uri="{BB962C8B-B14F-4D97-AF65-F5344CB8AC3E}">
        <p14:creationId xmlns:p14="http://schemas.microsoft.com/office/powerpoint/2010/main" val="35139522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8C93D7C-F0E1-92DD-9128-9A8742BECD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358" y="203200"/>
            <a:ext cx="9390515" cy="5680769"/>
          </a:xfrm>
          <a:prstGeom prst="rect">
            <a:avLst/>
          </a:prstGeom>
        </p:spPr>
      </p:pic>
      <p:sp>
        <p:nvSpPr>
          <p:cNvPr id="5" name="오른쪽 화살표 4"/>
          <p:cNvSpPr/>
          <p:nvPr/>
        </p:nvSpPr>
        <p:spPr>
          <a:xfrm rot="19577318">
            <a:off x="6294007" y="4569734"/>
            <a:ext cx="800100" cy="62865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E7A1AD2-3BC5-3082-7E2F-DC58A3FF16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9475" y="304800"/>
            <a:ext cx="5512525" cy="2143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222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953" y="1498402"/>
            <a:ext cx="10254615" cy="5092897"/>
          </a:xfrm>
          <a:prstGeom prst="rect">
            <a:avLst/>
          </a:prstGeom>
        </p:spPr>
      </p:pic>
      <p:pic>
        <p:nvPicPr>
          <p:cNvPr id="9220" name="Picture 4" descr="React] Axios 로딩 문제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3061" y="1498402"/>
            <a:ext cx="5563054" cy="2494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사각형: 둥근 모서리 5">
            <a:extLst>
              <a:ext uri="{FF2B5EF4-FFF2-40B4-BE49-F238E27FC236}">
                <a16:creationId xmlns:a16="http://schemas.microsoft.com/office/drawing/2014/main" id="{91487BA2-F7B2-5C8A-D2AB-9ACAA234F152}"/>
              </a:ext>
            </a:extLst>
          </p:cNvPr>
          <p:cNvSpPr/>
          <p:nvPr/>
        </p:nvSpPr>
        <p:spPr>
          <a:xfrm>
            <a:off x="4367536" y="163615"/>
            <a:ext cx="6522137" cy="166914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2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귀찮은 건 </a:t>
            </a:r>
            <a:r>
              <a:rPr lang="en-US" altLang="ko-KR" sz="32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Axios </a:t>
            </a:r>
            <a:r>
              <a:rPr lang="ko-KR" altLang="en-US" sz="32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맨이 처리 </a:t>
            </a:r>
            <a:r>
              <a:rPr lang="ko-KR" altLang="en-US" sz="32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했으니안심하라구</a:t>
            </a:r>
            <a:r>
              <a:rPr lang="en-US" altLang="ko-KR" sz="32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939393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51A304-90D1-7EA9-EBAE-E5B3155D64CA}"/>
              </a:ext>
            </a:extLst>
          </p:cNvPr>
          <p:cNvSpPr txBox="1"/>
          <p:nvPr/>
        </p:nvSpPr>
        <p:spPr>
          <a:xfrm>
            <a:off x="0" y="0"/>
            <a:ext cx="12192000" cy="4311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960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라우터</a:t>
            </a:r>
            <a:endParaRPr lang="en-US" altLang="ko-KR" sz="9600" dirty="0">
              <a:solidFill>
                <a:srgbClr val="0070C0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960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세팅하기</a:t>
            </a:r>
          </a:p>
        </p:txBody>
      </p:sp>
    </p:spTree>
    <p:extLst>
      <p:ext uri="{BB962C8B-B14F-4D97-AF65-F5344CB8AC3E}">
        <p14:creationId xmlns:p14="http://schemas.microsoft.com/office/powerpoint/2010/main" val="36928089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E64A2827-02F4-6C13-C4FC-D5DFD8ED5096}"/>
              </a:ext>
            </a:extLst>
          </p:cNvPr>
          <p:cNvSpPr txBox="1"/>
          <p:nvPr/>
        </p:nvSpPr>
        <p:spPr>
          <a:xfrm>
            <a:off x="71582" y="234246"/>
            <a:ext cx="7964054" cy="547842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const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router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= 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createRouter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({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history: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createWebHistory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en-US" altLang="ko-KR" b="0" dirty="0" err="1">
                <a:solidFill>
                  <a:srgbClr val="C586C0"/>
                </a:solidFill>
                <a:effectLst/>
                <a:latin typeface="Jetbrains Mono" panose="02000009000000000000" pitchFamily="49" charset="0"/>
              </a:rPr>
              <a:t>import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meta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env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b="0" dirty="0" err="1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BASE_URL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),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routes: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[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{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path: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'/'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,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name: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'home'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,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</a:t>
            </a:r>
            <a:r>
              <a:rPr lang="en-US" altLang="ko-KR" b="0" dirty="0">
                <a:solidFill>
                  <a:srgbClr val="4EC9B0"/>
                </a:solidFill>
                <a:effectLst/>
                <a:latin typeface="Jetbrains Mono" panose="02000009000000000000" pitchFamily="49" charset="0"/>
              </a:rPr>
              <a:t>component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: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HomePage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,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},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{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path: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'/login'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,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name: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'login'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,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component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: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()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=&gt;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import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'../pages/</a:t>
            </a:r>
            <a:r>
              <a:rPr lang="en-US" altLang="ko-KR" b="0" dirty="0" err="1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LoginPage.vue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),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},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{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path: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'/</a:t>
            </a:r>
            <a:r>
              <a:rPr lang="en-US" altLang="ko-KR" b="0" dirty="0" err="1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todo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,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name: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</a:t>
            </a:r>
            <a:r>
              <a:rPr lang="en-US" altLang="ko-KR" b="0" dirty="0" err="1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todo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,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component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: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()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=&gt;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import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'../pages/</a:t>
            </a:r>
            <a:r>
              <a:rPr lang="en-US" altLang="ko-KR" b="0" dirty="0" err="1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TodoPage.vue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),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meta: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{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requiresAuth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: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true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},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},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],</a:t>
            </a:r>
          </a:p>
          <a:p>
            <a:pPr>
              <a:lnSpc>
                <a:spcPts val="2025"/>
              </a:lnSpc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});</a:t>
            </a:r>
          </a:p>
        </p:txBody>
      </p:sp>
      <p:sp>
        <p:nvSpPr>
          <p:cNvPr id="5" name="사각형: 둥근 모서리 8">
            <a:extLst>
              <a:ext uri="{FF2B5EF4-FFF2-40B4-BE49-F238E27FC236}">
                <a16:creationId xmlns:a16="http://schemas.microsoft.com/office/drawing/2014/main" id="{B17F4156-10EA-BE35-20C1-4378030582A1}"/>
              </a:ext>
            </a:extLst>
          </p:cNvPr>
          <p:cNvSpPr/>
          <p:nvPr/>
        </p:nvSpPr>
        <p:spPr>
          <a:xfrm>
            <a:off x="8153400" y="234246"/>
            <a:ext cx="4038600" cy="11930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기본 페이지로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Home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페이지 연결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7856C966-90A5-AC21-0DBF-348B78367BC3}"/>
              </a:ext>
            </a:extLst>
          </p:cNvPr>
          <p:cNvCxnSpPr>
            <a:cxnSpLocks/>
          </p:cNvCxnSpPr>
          <p:nvPr/>
        </p:nvCxnSpPr>
        <p:spPr>
          <a:xfrm flipV="1">
            <a:off x="3001818" y="818050"/>
            <a:ext cx="5275407" cy="793417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사각형: 둥근 모서리 8">
            <a:extLst>
              <a:ext uri="{FF2B5EF4-FFF2-40B4-BE49-F238E27FC236}">
                <a16:creationId xmlns:a16="http://schemas.microsoft.com/office/drawing/2014/main" id="{B17F4156-10EA-BE35-20C1-4378030582A1}"/>
              </a:ext>
            </a:extLst>
          </p:cNvPr>
          <p:cNvSpPr/>
          <p:nvPr/>
        </p:nvSpPr>
        <p:spPr>
          <a:xfrm>
            <a:off x="8153400" y="1564725"/>
            <a:ext cx="4038600" cy="11930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로그인은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Login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페이지로 연결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7856C966-90A5-AC21-0DBF-348B78367BC3}"/>
              </a:ext>
            </a:extLst>
          </p:cNvPr>
          <p:cNvCxnSpPr>
            <a:cxnSpLocks/>
          </p:cNvCxnSpPr>
          <p:nvPr/>
        </p:nvCxnSpPr>
        <p:spPr>
          <a:xfrm flipV="1">
            <a:off x="3288145" y="2161268"/>
            <a:ext cx="4989080" cy="683949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사각형: 둥근 모서리 8">
            <a:extLst>
              <a:ext uri="{FF2B5EF4-FFF2-40B4-BE49-F238E27FC236}">
                <a16:creationId xmlns:a16="http://schemas.microsoft.com/office/drawing/2014/main" id="{B17F4156-10EA-BE35-20C1-4378030582A1}"/>
              </a:ext>
            </a:extLst>
          </p:cNvPr>
          <p:cNvSpPr/>
          <p:nvPr/>
        </p:nvSpPr>
        <p:spPr>
          <a:xfrm>
            <a:off x="8150225" y="2895204"/>
            <a:ext cx="4038600" cy="11930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로그인을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해야만 볼 수 있는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en-US" altLang="ko-KR" sz="24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todo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페이지 설정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7856C966-90A5-AC21-0DBF-348B78367BC3}"/>
              </a:ext>
            </a:extLst>
          </p:cNvPr>
          <p:cNvCxnSpPr>
            <a:cxnSpLocks/>
          </p:cNvCxnSpPr>
          <p:nvPr/>
        </p:nvCxnSpPr>
        <p:spPr>
          <a:xfrm flipV="1">
            <a:off x="3001818" y="3537527"/>
            <a:ext cx="5275407" cy="580826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사각형: 둥근 모서리 8">
            <a:extLst>
              <a:ext uri="{FF2B5EF4-FFF2-40B4-BE49-F238E27FC236}">
                <a16:creationId xmlns:a16="http://schemas.microsoft.com/office/drawing/2014/main" id="{B17F4156-10EA-BE35-20C1-4378030582A1}"/>
              </a:ext>
            </a:extLst>
          </p:cNvPr>
          <p:cNvSpPr/>
          <p:nvPr/>
        </p:nvSpPr>
        <p:spPr>
          <a:xfrm>
            <a:off x="8150225" y="4231961"/>
            <a:ext cx="4038600" cy="11930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Auth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인가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를 통과해야만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볼 수 있도록 설정하는 옵션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7856C966-90A5-AC21-0DBF-348B78367BC3}"/>
              </a:ext>
            </a:extLst>
          </p:cNvPr>
          <p:cNvCxnSpPr>
            <a:cxnSpLocks/>
          </p:cNvCxnSpPr>
          <p:nvPr/>
        </p:nvCxnSpPr>
        <p:spPr>
          <a:xfrm>
            <a:off x="5061527" y="4724981"/>
            <a:ext cx="3215698" cy="0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1626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13" grpId="0" animBg="1"/>
      <p:bldP spid="2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68DFD-9127-8AD0-C561-6217ADFE4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0AF3CC4-AC07-6D7A-1684-BDAD9280D685}"/>
              </a:ext>
            </a:extLst>
          </p:cNvPr>
          <p:cNvSpPr txBox="1"/>
          <p:nvPr/>
        </p:nvSpPr>
        <p:spPr>
          <a:xfrm>
            <a:off x="0" y="0"/>
            <a:ext cx="12192000" cy="4311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960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프록시</a:t>
            </a:r>
            <a:endParaRPr lang="en-US" altLang="ko-KR" sz="9600" dirty="0">
              <a:solidFill>
                <a:srgbClr val="0070C0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960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설정하기</a:t>
            </a:r>
          </a:p>
        </p:txBody>
      </p:sp>
    </p:spTree>
    <p:extLst>
      <p:ext uri="{BB962C8B-B14F-4D97-AF65-F5344CB8AC3E}">
        <p14:creationId xmlns:p14="http://schemas.microsoft.com/office/powerpoint/2010/main" val="14767622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151657E-E28E-6523-2ABD-B5D02EA378BA}"/>
              </a:ext>
            </a:extLst>
          </p:cNvPr>
          <p:cNvSpPr txBox="1"/>
          <p:nvPr/>
        </p:nvSpPr>
        <p:spPr>
          <a:xfrm>
            <a:off x="107373" y="107202"/>
            <a:ext cx="9097818" cy="44525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C586C0"/>
                </a:solidFill>
                <a:effectLst/>
                <a:latin typeface="Jetbrains Mono" panose="02000009000000000000" pitchFamily="49" charset="0"/>
              </a:rPr>
              <a:t>export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Jetbrains Mono" panose="02000009000000000000" pitchFamily="49" charset="0"/>
              </a:rPr>
              <a:t>default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defineConfig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({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plugins: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[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vue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()],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resolve: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{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alias: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{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'@'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: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fileURLToPath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new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>
                <a:solidFill>
                  <a:srgbClr val="4EC9B0"/>
                </a:solidFill>
                <a:effectLst/>
                <a:latin typeface="Jetbrains Mono" panose="02000009000000000000" pitchFamily="49" charset="0"/>
              </a:rPr>
              <a:t>URL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'./</a:t>
            </a:r>
            <a:r>
              <a:rPr lang="en-US" altLang="ko-KR" b="0" dirty="0" err="1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src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,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Jetbrains Mono" panose="02000009000000000000" pitchFamily="49" charset="0"/>
              </a:rPr>
              <a:t>import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meta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url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)),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},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},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server: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{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proxy: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{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'/</a:t>
            </a:r>
            <a:r>
              <a:rPr lang="en-US" altLang="ko-KR" b="0" dirty="0" err="1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api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: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{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target: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'http://localhost:3000'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,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changeOrigin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: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true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,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rewrite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: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path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=&gt;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path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replace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en-US" altLang="ko-KR" b="0" dirty="0">
                <a:solidFill>
                  <a:srgbClr val="D16969"/>
                </a:solidFill>
                <a:effectLst/>
                <a:latin typeface="Jetbrains Mono" panose="02000009000000000000" pitchFamily="49" charset="0"/>
              </a:rPr>
              <a:t>/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^</a:t>
            </a:r>
            <a:r>
              <a:rPr lang="en-US" altLang="ko-KR" b="0" dirty="0">
                <a:solidFill>
                  <a:srgbClr val="D7BA7D"/>
                </a:solidFill>
                <a:effectLst/>
                <a:latin typeface="Jetbrains Mono" panose="02000009000000000000" pitchFamily="49" charset="0"/>
              </a:rPr>
              <a:t>\/</a:t>
            </a:r>
            <a:r>
              <a:rPr lang="en-US" altLang="ko-KR" b="0" dirty="0" err="1">
                <a:solidFill>
                  <a:srgbClr val="D16969"/>
                </a:solidFill>
                <a:effectLst/>
                <a:latin typeface="Jetbrains Mono" panose="02000009000000000000" pitchFamily="49" charset="0"/>
              </a:rPr>
              <a:t>api</a:t>
            </a:r>
            <a:r>
              <a:rPr lang="en-US" altLang="ko-KR" b="0" dirty="0">
                <a:solidFill>
                  <a:srgbClr val="D16969"/>
                </a:solidFill>
                <a:effectLst/>
                <a:latin typeface="Jetbrains Mono" panose="02000009000000000000" pitchFamily="49" charset="0"/>
              </a:rPr>
              <a:t>/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,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),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},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},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},</a:t>
            </a:r>
          </a:p>
          <a:p>
            <a:pPr>
              <a:lnSpc>
                <a:spcPts val="2025"/>
              </a:lnSpc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29295582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409D2C-D317-1FA5-7F84-ADC0D48B9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7BF3E98-CD9E-A529-E740-DF16CE65271E}"/>
              </a:ext>
            </a:extLst>
          </p:cNvPr>
          <p:cNvSpPr txBox="1"/>
          <p:nvPr/>
        </p:nvSpPr>
        <p:spPr>
          <a:xfrm>
            <a:off x="0" y="0"/>
            <a:ext cx="12192000" cy="4311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960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페이지</a:t>
            </a:r>
            <a:endParaRPr lang="en-US" altLang="ko-KR" sz="9600" dirty="0">
              <a:solidFill>
                <a:srgbClr val="0070C0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960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작업하기</a:t>
            </a:r>
          </a:p>
        </p:txBody>
      </p:sp>
    </p:spTree>
    <p:extLst>
      <p:ext uri="{BB962C8B-B14F-4D97-AF65-F5344CB8AC3E}">
        <p14:creationId xmlns:p14="http://schemas.microsoft.com/office/powerpoint/2010/main" val="14092776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EC9A940-7555-FD24-A2D0-55F7D250A935}"/>
              </a:ext>
            </a:extLst>
          </p:cNvPr>
          <p:cNvSpPr txBox="1"/>
          <p:nvPr/>
        </p:nvSpPr>
        <p:spPr>
          <a:xfrm>
            <a:off x="238122" y="2521281"/>
            <a:ext cx="6883111" cy="188769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&lt;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script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setup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&gt;&lt;/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script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&gt;</a:t>
            </a:r>
            <a:endParaRPr lang="en-US" altLang="ko-KR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/>
            </a:r>
            <a:b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</a:br>
            <a:r>
              <a:rPr lang="en-US" altLang="ko-KR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&lt;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template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&gt;</a:t>
            </a:r>
            <a:endParaRPr lang="en-US" altLang="ko-KR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&lt;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main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&gt;</a:t>
            </a:r>
            <a:endParaRPr lang="en-US" altLang="ko-KR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&lt;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h1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&gt;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TODO PAGE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&lt;/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h1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&gt;</a:t>
            </a:r>
            <a:endParaRPr lang="en-US" altLang="ko-KR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&lt;/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main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&gt;</a:t>
            </a:r>
            <a:endParaRPr lang="en-US" altLang="ko-KR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  <a:p>
            <a:pPr>
              <a:lnSpc>
                <a:spcPts val="2025"/>
              </a:lnSpc>
            </a:pPr>
            <a:r>
              <a:rPr lang="en-US" altLang="ko-KR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&lt;/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template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&gt;</a:t>
            </a:r>
            <a:endParaRPr lang="en-US" altLang="ko-KR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10AC02-117F-6943-C999-01F9DA4B7CE3}"/>
              </a:ext>
            </a:extLst>
          </p:cNvPr>
          <p:cNvSpPr txBox="1"/>
          <p:nvPr/>
        </p:nvSpPr>
        <p:spPr>
          <a:xfrm>
            <a:off x="238123" y="241638"/>
            <a:ext cx="6883111" cy="188769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&lt;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script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setup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&gt;&lt;/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script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&gt;</a:t>
            </a:r>
            <a:endParaRPr lang="en-US" altLang="ko-KR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/>
            </a:r>
            <a:b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</a:br>
            <a:r>
              <a:rPr lang="en-US" altLang="ko-KR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&lt;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template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&gt;</a:t>
            </a:r>
            <a:endParaRPr lang="en-US" altLang="ko-KR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&lt;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main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&gt;</a:t>
            </a:r>
            <a:endParaRPr lang="en-US" altLang="ko-KR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&lt;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h1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&gt;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HOME PAGE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&lt;/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h1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&gt;</a:t>
            </a:r>
            <a:endParaRPr lang="en-US" altLang="ko-KR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&lt;/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main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&gt;</a:t>
            </a:r>
            <a:endParaRPr lang="en-US" altLang="ko-KR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  <a:p>
            <a:pPr>
              <a:lnSpc>
                <a:spcPts val="2025"/>
              </a:lnSpc>
            </a:pPr>
            <a:r>
              <a:rPr lang="en-US" altLang="ko-KR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&lt;/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template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&gt;</a:t>
            </a:r>
            <a:endParaRPr lang="en-US" altLang="ko-KR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</p:txBody>
      </p:sp>
      <p:sp>
        <p:nvSpPr>
          <p:cNvPr id="5" name="사각형: 둥근 모서리 5">
            <a:extLst>
              <a:ext uri="{FF2B5EF4-FFF2-40B4-BE49-F238E27FC236}">
                <a16:creationId xmlns:a16="http://schemas.microsoft.com/office/drawing/2014/main" id="{91487BA2-F7B2-5C8A-D2AB-9ACAA234F152}"/>
              </a:ext>
            </a:extLst>
          </p:cNvPr>
          <p:cNvSpPr/>
          <p:nvPr/>
        </p:nvSpPr>
        <p:spPr>
          <a:xfrm>
            <a:off x="4533900" y="241638"/>
            <a:ext cx="2587336" cy="7810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HomePage.vue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" name="사각형: 둥근 모서리 5">
            <a:extLst>
              <a:ext uri="{FF2B5EF4-FFF2-40B4-BE49-F238E27FC236}">
                <a16:creationId xmlns:a16="http://schemas.microsoft.com/office/drawing/2014/main" id="{91487BA2-F7B2-5C8A-D2AB-9ACAA234F152}"/>
              </a:ext>
            </a:extLst>
          </p:cNvPr>
          <p:cNvSpPr/>
          <p:nvPr/>
        </p:nvSpPr>
        <p:spPr>
          <a:xfrm>
            <a:off x="4533900" y="2527638"/>
            <a:ext cx="2587335" cy="7810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TodoPage.vue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465442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182880" y="127000"/>
            <a:ext cx="10770870" cy="480131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template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main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h1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Login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h1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ko-KR" altLang="en-US" dirty="0">
                <a:solidFill>
                  <a:srgbClr val="CCCCCC"/>
                </a:solidFill>
                <a:latin typeface="JetBrains Mono" panose="020B0509020102050004" pitchFamily="49" charset="0"/>
              </a:rPr>
              <a:t>아이디 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: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input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type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=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"text"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v-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model</a:t>
            </a:r>
            <a:r>
              <a:rPr lang="en-US" altLang="ko-KR" dirty="0" err="1">
                <a:solidFill>
                  <a:srgbClr val="CCCCCC"/>
                </a:solidFill>
                <a:latin typeface="JetBrains Mono" panose="020B0509020102050004" pitchFamily="49" charset="0"/>
              </a:rPr>
              <a:t>.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trim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="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userId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"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/&gt;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 err="1">
                <a:solidFill>
                  <a:srgbClr val="569CD6"/>
                </a:solidFill>
                <a:latin typeface="JetBrains Mono" panose="020B0509020102050004" pitchFamily="49" charset="0"/>
              </a:rPr>
              <a:t>br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/&gt;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ko-KR" altLang="en-US" dirty="0">
                <a:solidFill>
                  <a:srgbClr val="CCCCCC"/>
                </a:solidFill>
                <a:latin typeface="JetBrains Mono" panose="020B0509020102050004" pitchFamily="49" charset="0"/>
              </a:rPr>
              <a:t>패스워드 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: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input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type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=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"password"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v-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model</a:t>
            </a:r>
            <a:r>
              <a:rPr lang="en-US" altLang="ko-KR" dirty="0" err="1">
                <a:solidFill>
                  <a:srgbClr val="CCCCCC"/>
                </a:solidFill>
                <a:latin typeface="JetBrains Mono" panose="020B0509020102050004" pitchFamily="49" charset="0"/>
              </a:rPr>
              <a:t>.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trim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="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userPassword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"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/&gt;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 err="1">
                <a:solidFill>
                  <a:srgbClr val="569CD6"/>
                </a:solidFill>
                <a:latin typeface="JetBrains Mono" panose="020B0509020102050004" pitchFamily="49" charset="0"/>
              </a:rPr>
              <a:t>br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/&gt;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button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v-on</a:t>
            </a:r>
            <a:r>
              <a:rPr lang="en-US" altLang="ko-KR" dirty="0" err="1">
                <a:solidFill>
                  <a:srgbClr val="CCCCCC"/>
                </a:solidFill>
                <a:latin typeface="JetBrains Mono" panose="020B0509020102050004" pitchFamily="49" charset="0"/>
              </a:rPr>
              <a:t>: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click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="</a:t>
            </a:r>
            <a:r>
              <a:rPr lang="en-US" altLang="ko-KR" dirty="0">
                <a:solidFill>
                  <a:srgbClr val="DCDCAA"/>
                </a:solidFill>
                <a:latin typeface="JetBrains Mono" panose="020B0509020102050004" pitchFamily="49" charset="0"/>
              </a:rPr>
              <a:t>login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"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r>
              <a:rPr lang="ko-KR" altLang="en-US" dirty="0">
                <a:solidFill>
                  <a:srgbClr val="CCCCCC"/>
                </a:solidFill>
                <a:latin typeface="JetBrains Mono" panose="020B0509020102050004" pitchFamily="49" charset="0"/>
              </a:rPr>
              <a:t>로그인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button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/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button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r>
              <a:rPr lang="ko-KR" altLang="en-US" dirty="0">
                <a:solidFill>
                  <a:srgbClr val="CCCCCC"/>
                </a:solidFill>
                <a:latin typeface="JetBrains Mono" panose="020B0509020102050004" pitchFamily="49" charset="0"/>
              </a:rPr>
              <a:t>로그아웃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button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 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main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template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/>
            </a:r>
            <a:b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</a:b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script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setup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 smtClean="0">
                <a:solidFill>
                  <a:srgbClr val="C586C0"/>
                </a:solidFill>
                <a:latin typeface="JetBrains Mono" panose="020B0509020102050004" pitchFamily="49" charset="0"/>
              </a:rPr>
              <a:t>import</a:t>
            </a:r>
            <a:r>
              <a:rPr lang="en-US" altLang="ko-KR" dirty="0" smtClean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{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ref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} </a:t>
            </a:r>
            <a:r>
              <a:rPr lang="en-US" altLang="ko-KR" dirty="0">
                <a:solidFill>
                  <a:srgbClr val="C586C0"/>
                </a:solidFill>
                <a:latin typeface="JetBrains Mono" panose="020B0509020102050004" pitchFamily="49" charset="0"/>
              </a:rPr>
              <a:t>from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</a:t>
            </a:r>
            <a:r>
              <a:rPr lang="en-US" altLang="ko-KR" dirty="0" err="1">
                <a:solidFill>
                  <a:srgbClr val="CE9178"/>
                </a:solidFill>
                <a:latin typeface="JetBrains Mono" panose="020B0509020102050004" pitchFamily="49" charset="0"/>
              </a:rPr>
              <a:t>vue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;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/>
            </a:r>
            <a:b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</a:br>
            <a:r>
              <a:rPr lang="en-US" altLang="ko-KR" dirty="0" err="1" smtClean="0">
                <a:solidFill>
                  <a:srgbClr val="569CD6"/>
                </a:solidFill>
                <a:latin typeface="JetBrains Mono" panose="020B0509020102050004" pitchFamily="49" charset="0"/>
              </a:rPr>
              <a:t>const</a:t>
            </a:r>
            <a:r>
              <a:rPr lang="en-US" altLang="ko-KR" dirty="0" smtClean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4FC1FF"/>
                </a:solidFill>
                <a:latin typeface="JetBrains Mono" panose="020B0509020102050004" pitchFamily="49" charset="0"/>
              </a:rPr>
              <a:t>userId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D4D4D4"/>
                </a:solidFill>
                <a:latin typeface="JetBrains Mono" panose="020B0509020102050004" pitchFamily="49" charset="0"/>
              </a:rPr>
              <a:t>=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DCDCAA"/>
                </a:solidFill>
                <a:latin typeface="JetBrains Mono" panose="020B0509020102050004" pitchFamily="49" charset="0"/>
              </a:rPr>
              <a:t>ref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(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);</a:t>
            </a:r>
          </a:p>
          <a:p>
            <a:r>
              <a:rPr lang="en-US" altLang="ko-KR" dirty="0" err="1">
                <a:solidFill>
                  <a:srgbClr val="569CD6"/>
                </a:solidFill>
                <a:latin typeface="JetBrains Mono" panose="020B0509020102050004" pitchFamily="49" charset="0"/>
              </a:rPr>
              <a:t>const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4FC1FF"/>
                </a:solidFill>
                <a:latin typeface="JetBrains Mono" panose="020B0509020102050004" pitchFamily="49" charset="0"/>
              </a:rPr>
              <a:t>userPassword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D4D4D4"/>
                </a:solidFill>
                <a:latin typeface="JetBrains Mono" panose="020B0509020102050004" pitchFamily="49" charset="0"/>
              </a:rPr>
              <a:t>=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DCDCAA"/>
                </a:solidFill>
                <a:latin typeface="JetBrains Mono" panose="020B0509020102050004" pitchFamily="49" charset="0"/>
              </a:rPr>
              <a:t>ref</a:t>
            </a:r>
            <a:r>
              <a:rPr lang="en-US" altLang="ko-KR" dirty="0" smtClean="0">
                <a:solidFill>
                  <a:srgbClr val="CCCCCC"/>
                </a:solidFill>
                <a:latin typeface="JetBrains Mono" panose="020B0509020102050004" pitchFamily="49" charset="0"/>
              </a:rPr>
              <a:t>(</a:t>
            </a:r>
            <a:r>
              <a:rPr lang="en-US" altLang="ko-KR" dirty="0" smtClean="0">
                <a:solidFill>
                  <a:srgbClr val="CE9178"/>
                </a:solidFill>
                <a:latin typeface="JetBrains Mono" panose="020B0509020102050004" pitchFamily="49" charset="0"/>
              </a:rPr>
              <a:t>''</a:t>
            </a:r>
            <a:r>
              <a:rPr lang="en-US" altLang="ko-KR" dirty="0" smtClean="0">
                <a:solidFill>
                  <a:srgbClr val="CCCCCC"/>
                </a:solidFill>
                <a:latin typeface="JetBrains Mono" panose="020B0509020102050004" pitchFamily="49" charset="0"/>
              </a:rPr>
              <a:t>);</a:t>
            </a:r>
          </a:p>
          <a:p>
            <a:r>
              <a:rPr lang="en-US" altLang="ko-KR" dirty="0" smtClean="0">
                <a:solidFill>
                  <a:srgbClr val="808080"/>
                </a:solidFill>
                <a:latin typeface="JetBrains Mono" panose="020B0509020102050004" pitchFamily="49" charset="0"/>
              </a:rPr>
              <a:t>&lt;/</a:t>
            </a:r>
            <a:r>
              <a:rPr lang="en-US" altLang="ko-KR" dirty="0" smtClean="0">
                <a:solidFill>
                  <a:srgbClr val="569CD6"/>
                </a:solidFill>
                <a:latin typeface="JetBrains Mono" panose="020B0509020102050004" pitchFamily="49" charset="0"/>
              </a:rPr>
              <a:t>script</a:t>
            </a:r>
            <a:r>
              <a:rPr lang="en-US" altLang="ko-KR" dirty="0" smtClean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b="0" dirty="0">
              <a:solidFill>
                <a:srgbClr val="CCCCCC"/>
              </a:solidFill>
              <a:effectLst/>
              <a:latin typeface="JetBrains Mono" panose="020B0509020102050004" pitchFamily="49" charset="0"/>
            </a:endParaRPr>
          </a:p>
        </p:txBody>
      </p:sp>
      <p:sp>
        <p:nvSpPr>
          <p:cNvPr id="8" name="사각형: 둥근 모서리 5">
            <a:extLst>
              <a:ext uri="{FF2B5EF4-FFF2-40B4-BE49-F238E27FC236}">
                <a16:creationId xmlns:a16="http://schemas.microsoft.com/office/drawing/2014/main" id="{91487BA2-F7B2-5C8A-D2AB-9ACAA234F152}"/>
              </a:ext>
            </a:extLst>
          </p:cNvPr>
          <p:cNvSpPr/>
          <p:nvPr/>
        </p:nvSpPr>
        <p:spPr>
          <a:xfrm>
            <a:off x="8016875" y="127000"/>
            <a:ext cx="2936875" cy="7810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LoginPage.vue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78329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DAD27153-C271-29B7-1982-F8C699877E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176" y="285630"/>
            <a:ext cx="4525006" cy="215677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CFBA8BF8-86F4-238A-F862-53AC2C0857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7314" y="285630"/>
            <a:ext cx="5229955" cy="281979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34536E70-B6BF-A261-E39A-BA71ADF4DF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176" y="2680855"/>
            <a:ext cx="4525006" cy="2067213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501656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51A304-90D1-7EA9-EBAE-E5B3155D64CA}"/>
              </a:ext>
            </a:extLst>
          </p:cNvPr>
          <p:cNvSpPr txBox="1"/>
          <p:nvPr/>
        </p:nvSpPr>
        <p:spPr>
          <a:xfrm>
            <a:off x="0" y="0"/>
            <a:ext cx="12192000" cy="4311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960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로그인 기능</a:t>
            </a:r>
            <a:r>
              <a:rPr lang="en-US" altLang="ko-KR" sz="960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ko-KR" altLang="en-US" sz="960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추가하기</a:t>
            </a:r>
          </a:p>
        </p:txBody>
      </p:sp>
    </p:spTree>
    <p:extLst>
      <p:ext uri="{BB962C8B-B14F-4D97-AF65-F5344CB8AC3E}">
        <p14:creationId xmlns:p14="http://schemas.microsoft.com/office/powerpoint/2010/main" val="126142541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AA07337C-0F5C-63AD-65BC-7D635D0E65DC}"/>
              </a:ext>
            </a:extLst>
          </p:cNvPr>
          <p:cNvSpPr txBox="1"/>
          <p:nvPr/>
        </p:nvSpPr>
        <p:spPr>
          <a:xfrm>
            <a:off x="54768" y="75278"/>
            <a:ext cx="8432007" cy="496546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&lt;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script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setup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&gt;</a:t>
            </a:r>
            <a:endParaRPr lang="en-US" altLang="ko-KR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C586C0"/>
                </a:solidFill>
                <a:effectLst/>
                <a:latin typeface="Jetbrains Mono" panose="02000009000000000000" pitchFamily="49" charset="0"/>
              </a:rPr>
              <a:t>import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axios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Jetbrains Mono" panose="02000009000000000000" pitchFamily="49" charset="0"/>
              </a:rPr>
              <a:t>from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</a:t>
            </a:r>
            <a:r>
              <a:rPr lang="en-US" altLang="ko-KR" b="0" dirty="0" err="1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axios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/>
            </a:r>
            <a:b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</a:b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const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BASE_URL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=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'/</a:t>
            </a:r>
            <a:r>
              <a:rPr lang="en-US" altLang="ko-KR" b="0" dirty="0" err="1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api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/>
            </a:r>
            <a:b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</a:b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async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function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login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() {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Jetbrains Mono" panose="02000009000000000000" pitchFamily="49" charset="0"/>
              </a:rPr>
              <a:t>try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{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const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 err="1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loginUrl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= </a:t>
            </a:r>
            <a:r>
              <a:rPr lang="en-US" altLang="ko-KR" b="0" dirty="0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BASE_URL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+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'/users'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const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 err="1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loginRes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=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Jetbrains Mono" panose="02000009000000000000" pitchFamily="49" charset="0"/>
              </a:rPr>
              <a:t>await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 err="1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axios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get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en-US" altLang="ko-KR" b="0" dirty="0" err="1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loginUrl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/>
            </a:r>
            <a:b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</a:b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</a:t>
            </a:r>
            <a:r>
              <a:rPr lang="en-US" altLang="ko-KR" b="0" dirty="0" err="1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axios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통신 결과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: 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, </a:t>
            </a:r>
            <a:r>
              <a:rPr lang="en-US" altLang="ko-KR" b="0" dirty="0" err="1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loginRes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}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Jetbrains Mono" panose="02000009000000000000" pitchFamily="49" charset="0"/>
              </a:rPr>
              <a:t>catch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 {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alert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로그인 통신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ERR 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발생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}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}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&lt;/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script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&gt;</a:t>
            </a:r>
            <a:endParaRPr lang="en-US" altLang="ko-KR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  <a:p>
            <a:pPr>
              <a:lnSpc>
                <a:spcPts val="2025"/>
              </a:lnSpc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/>
            </a:r>
            <a:b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</a:br>
            <a:endParaRPr lang="en-US" altLang="ko-KR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</p:txBody>
      </p:sp>
      <p:sp>
        <p:nvSpPr>
          <p:cNvPr id="15" name="사각형: 둥근 모서리 8">
            <a:extLst>
              <a:ext uri="{FF2B5EF4-FFF2-40B4-BE49-F238E27FC236}">
                <a16:creationId xmlns:a16="http://schemas.microsoft.com/office/drawing/2014/main" id="{7AE90D18-9A5F-ACB0-FCF6-E074E0C39954}"/>
              </a:ext>
            </a:extLst>
          </p:cNvPr>
          <p:cNvSpPr/>
          <p:nvPr/>
        </p:nvSpPr>
        <p:spPr>
          <a:xfrm>
            <a:off x="7589838" y="232736"/>
            <a:ext cx="4368800" cy="69118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axios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사용을 위한 </a:t>
            </a:r>
            <a:r>
              <a:rPr lang="ko-KR" altLang="en-US" sz="24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임포트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A857E3ED-D7A0-35A5-EFBD-4AEEE1E6A4B7}"/>
              </a:ext>
            </a:extLst>
          </p:cNvPr>
          <p:cNvCxnSpPr>
            <a:cxnSpLocks/>
          </p:cNvCxnSpPr>
          <p:nvPr/>
        </p:nvCxnSpPr>
        <p:spPr>
          <a:xfrm>
            <a:off x="3819525" y="519540"/>
            <a:ext cx="3895725" cy="90060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사각형: 둥근 모서리 8">
            <a:extLst>
              <a:ext uri="{FF2B5EF4-FFF2-40B4-BE49-F238E27FC236}">
                <a16:creationId xmlns:a16="http://schemas.microsoft.com/office/drawing/2014/main" id="{70E8B5F7-6174-ECD7-0D70-067BB86DE033}"/>
              </a:ext>
            </a:extLst>
          </p:cNvPr>
          <p:cNvSpPr/>
          <p:nvPr/>
        </p:nvSpPr>
        <p:spPr>
          <a:xfrm>
            <a:off x="7589838" y="1054258"/>
            <a:ext cx="4368800" cy="96504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Proxy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처리한 기본 </a:t>
            </a:r>
            <a:r>
              <a:rPr lang="en-US" altLang="ko-KR" sz="24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api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주소를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BASE_URL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로 선언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2FD397B9-B618-0865-4C64-582C510854E4}"/>
              </a:ext>
            </a:extLst>
          </p:cNvPr>
          <p:cNvCxnSpPr>
            <a:cxnSpLocks/>
          </p:cNvCxnSpPr>
          <p:nvPr/>
        </p:nvCxnSpPr>
        <p:spPr>
          <a:xfrm>
            <a:off x="3571875" y="1030310"/>
            <a:ext cx="4143375" cy="400812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0227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21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3627DA-F376-FADC-8C16-A4E827049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3B7318DA-59E1-8C20-7C1A-6DC095DA05D3}"/>
              </a:ext>
            </a:extLst>
          </p:cNvPr>
          <p:cNvSpPr txBox="1"/>
          <p:nvPr/>
        </p:nvSpPr>
        <p:spPr>
          <a:xfrm>
            <a:off x="54768" y="75278"/>
            <a:ext cx="8432007" cy="496546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&lt;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script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setup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&gt;</a:t>
            </a:r>
            <a:endParaRPr lang="en-US" altLang="ko-KR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C586C0"/>
                </a:solidFill>
                <a:effectLst/>
                <a:latin typeface="Jetbrains Mono" panose="02000009000000000000" pitchFamily="49" charset="0"/>
              </a:rPr>
              <a:t>import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axios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Jetbrains Mono" panose="02000009000000000000" pitchFamily="49" charset="0"/>
              </a:rPr>
              <a:t>from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</a:t>
            </a:r>
            <a:r>
              <a:rPr lang="en-US" altLang="ko-KR" b="0" dirty="0" err="1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axios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/>
            </a:r>
            <a:b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</a:b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const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BASE_URL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=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'/</a:t>
            </a:r>
            <a:r>
              <a:rPr lang="en-US" altLang="ko-KR" b="0" dirty="0" err="1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api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/>
            </a:r>
            <a:b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</a:b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async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function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login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() {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Jetbrains Mono" panose="02000009000000000000" pitchFamily="49" charset="0"/>
              </a:rPr>
              <a:t>try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{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const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 err="1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loginUrl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= </a:t>
            </a:r>
            <a:r>
              <a:rPr lang="en-US" altLang="ko-KR" b="0" dirty="0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BASE_URL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+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'/users'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const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 err="1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loginRes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=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Jetbrains Mono" panose="02000009000000000000" pitchFamily="49" charset="0"/>
              </a:rPr>
              <a:t>await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 err="1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axios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get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en-US" altLang="ko-KR" b="0" dirty="0" err="1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loginUrl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/>
            </a:r>
            <a:b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</a:b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en-US" altLang="ko-KR" dirty="0">
                <a:solidFill>
                  <a:srgbClr val="CE9178"/>
                </a:solidFill>
                <a:latin typeface="Jetbrains Mono" panose="02000009000000000000" pitchFamily="49" charset="0"/>
              </a:rPr>
              <a:t>'</a:t>
            </a:r>
            <a:r>
              <a:rPr lang="en-US" altLang="ko-KR" dirty="0" err="1">
                <a:solidFill>
                  <a:srgbClr val="CE9178"/>
                </a:solidFill>
                <a:latin typeface="Jetbrains Mono" panose="02000009000000000000" pitchFamily="49" charset="0"/>
              </a:rPr>
              <a:t>axios</a:t>
            </a:r>
            <a:r>
              <a:rPr lang="en-US" altLang="ko-KR" dirty="0">
                <a:solidFill>
                  <a:srgbClr val="CE9178"/>
                </a:solidFill>
                <a:latin typeface="Jetbrains Mono" panose="02000009000000000000" pitchFamily="49" charset="0"/>
              </a:rPr>
              <a:t> </a:t>
            </a:r>
            <a:r>
              <a:rPr lang="ko-KR" altLang="en-US" dirty="0">
                <a:solidFill>
                  <a:srgbClr val="CE9178"/>
                </a:solidFill>
                <a:latin typeface="Jetbrains Mono" panose="02000009000000000000" pitchFamily="49" charset="0"/>
              </a:rPr>
              <a:t>통신 결과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: 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, </a:t>
            </a:r>
            <a:r>
              <a:rPr lang="en-US" altLang="ko-KR" b="0" dirty="0" err="1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loginRes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}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Jetbrains Mono" panose="02000009000000000000" pitchFamily="49" charset="0"/>
              </a:rPr>
              <a:t>catch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 {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alert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로그인 통신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ERR 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발생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}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}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&lt;/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script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&gt;</a:t>
            </a:r>
            <a:endParaRPr lang="en-US" altLang="ko-KR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  <a:p>
            <a:pPr>
              <a:lnSpc>
                <a:spcPts val="2025"/>
              </a:lnSpc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/>
            </a:r>
            <a:b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</a:br>
            <a:endParaRPr lang="en-US" altLang="ko-KR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</p:txBody>
      </p:sp>
      <p:sp>
        <p:nvSpPr>
          <p:cNvPr id="6" name="사각형: 둥근 모서리 8">
            <a:extLst>
              <a:ext uri="{FF2B5EF4-FFF2-40B4-BE49-F238E27FC236}">
                <a16:creationId xmlns:a16="http://schemas.microsoft.com/office/drawing/2014/main" id="{21BF0258-6130-120C-861B-1746C2E4681E}"/>
              </a:ext>
            </a:extLst>
          </p:cNvPr>
          <p:cNvSpPr/>
          <p:nvPr/>
        </p:nvSpPr>
        <p:spPr>
          <a:xfrm>
            <a:off x="7823200" y="970939"/>
            <a:ext cx="4368800" cy="10992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json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서버의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users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정보 요청을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위한 주소 설정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775FBB05-8F3E-EEA2-EB48-B4667C29FD62}"/>
              </a:ext>
            </a:extLst>
          </p:cNvPr>
          <p:cNvCxnSpPr>
            <a:cxnSpLocks/>
          </p:cNvCxnSpPr>
          <p:nvPr/>
        </p:nvCxnSpPr>
        <p:spPr>
          <a:xfrm flipV="1">
            <a:off x="5899150" y="1635760"/>
            <a:ext cx="2240758" cy="374456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사각형: 둥근 모서리 8">
            <a:extLst>
              <a:ext uri="{FF2B5EF4-FFF2-40B4-BE49-F238E27FC236}">
                <a16:creationId xmlns:a16="http://schemas.microsoft.com/office/drawing/2014/main" id="{FDAE14DD-E40B-9F5F-293C-DC8BB5A1F6B6}"/>
              </a:ext>
            </a:extLst>
          </p:cNvPr>
          <p:cNvSpPr/>
          <p:nvPr/>
        </p:nvSpPr>
        <p:spPr>
          <a:xfrm>
            <a:off x="7823200" y="2390931"/>
            <a:ext cx="4368800" cy="329333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axios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의 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get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메서드로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en-US" altLang="ko-KR" sz="24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json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서버에 요청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&amp;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요청에 대한 응답을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en-US" altLang="ko-KR" sz="24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loginRes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에 </a:t>
            </a:r>
            <a:r>
              <a:rPr lang="ko-KR" altLang="en-US" sz="24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담아주기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시간이 드는 통신 작업이므로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await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필수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!!</a:t>
            </a: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C885BE63-F36F-DC49-23C0-28C932982F6E}"/>
              </a:ext>
            </a:extLst>
          </p:cNvPr>
          <p:cNvCxnSpPr>
            <a:cxnSpLocks/>
          </p:cNvCxnSpPr>
          <p:nvPr/>
        </p:nvCxnSpPr>
        <p:spPr>
          <a:xfrm>
            <a:off x="6724650" y="2305050"/>
            <a:ext cx="1415258" cy="742950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사각형: 둥근 모서리 8">
            <a:extLst>
              <a:ext uri="{FF2B5EF4-FFF2-40B4-BE49-F238E27FC236}">
                <a16:creationId xmlns:a16="http://schemas.microsoft.com/office/drawing/2014/main" id="{828605A4-F933-C549-FF2E-54067234AA59}"/>
              </a:ext>
            </a:extLst>
          </p:cNvPr>
          <p:cNvSpPr/>
          <p:nvPr/>
        </p:nvSpPr>
        <p:spPr>
          <a:xfrm>
            <a:off x="3005138" y="4153793"/>
            <a:ext cx="3454400" cy="137295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서버의 응답 결과를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console.log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로 출력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!</a:t>
            </a: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497C9788-FF23-52C8-61D4-D761E466C590}"/>
              </a:ext>
            </a:extLst>
          </p:cNvPr>
          <p:cNvCxnSpPr>
            <a:cxnSpLocks/>
          </p:cNvCxnSpPr>
          <p:nvPr/>
        </p:nvCxnSpPr>
        <p:spPr>
          <a:xfrm flipH="1">
            <a:off x="4610100" y="3048000"/>
            <a:ext cx="952500" cy="1323975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6050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3" grpId="0" animBg="1"/>
      <p:bldP spid="18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5FFDB4A9-DDB5-12CD-BF1F-02F899DF82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89" y="104607"/>
            <a:ext cx="11579460" cy="3895893"/>
          </a:xfrm>
          <a:prstGeom prst="rect">
            <a:avLst/>
          </a:prstGeom>
        </p:spPr>
      </p:pic>
      <p:sp>
        <p:nvSpPr>
          <p:cNvPr id="3" name="사각형: 둥근 모서리 8">
            <a:extLst>
              <a:ext uri="{FF2B5EF4-FFF2-40B4-BE49-F238E27FC236}">
                <a16:creationId xmlns:a16="http://schemas.microsoft.com/office/drawing/2014/main" id="{B17F4156-10EA-BE35-20C1-4378030582A1}"/>
              </a:ext>
            </a:extLst>
          </p:cNvPr>
          <p:cNvSpPr/>
          <p:nvPr/>
        </p:nvSpPr>
        <p:spPr>
          <a:xfrm>
            <a:off x="7823200" y="1131863"/>
            <a:ext cx="4368800" cy="10992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서버 응답이 성공적이므로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200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번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status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응답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7856C966-90A5-AC21-0DBF-348B78367BC3}"/>
              </a:ext>
            </a:extLst>
          </p:cNvPr>
          <p:cNvCxnSpPr>
            <a:cxnSpLocks/>
          </p:cNvCxnSpPr>
          <p:nvPr/>
        </p:nvCxnSpPr>
        <p:spPr>
          <a:xfrm>
            <a:off x="3543300" y="693629"/>
            <a:ext cx="4521200" cy="953612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사각형: 둥근 모서리 8">
            <a:extLst>
              <a:ext uri="{FF2B5EF4-FFF2-40B4-BE49-F238E27FC236}">
                <a16:creationId xmlns:a16="http://schemas.microsoft.com/office/drawing/2014/main" id="{B17F4156-10EA-BE35-20C1-4378030582A1}"/>
              </a:ext>
            </a:extLst>
          </p:cNvPr>
          <p:cNvSpPr/>
          <p:nvPr/>
        </p:nvSpPr>
        <p:spPr>
          <a:xfrm>
            <a:off x="7823200" y="2818288"/>
            <a:ext cx="4368800" cy="275724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서버 응답에 대한 데이터는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en-US" altLang="ko-KR" sz="24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loginRes.data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에 담겨서 전달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원래는 직접 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JSON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형태의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데이터를 다시 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JS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의 객체로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변경해 주는 작업을 해줘야만 함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7856C966-90A5-AC21-0DBF-348B78367BC3}"/>
              </a:ext>
            </a:extLst>
          </p:cNvPr>
          <p:cNvCxnSpPr>
            <a:cxnSpLocks/>
          </p:cNvCxnSpPr>
          <p:nvPr/>
        </p:nvCxnSpPr>
        <p:spPr>
          <a:xfrm>
            <a:off x="2266950" y="1056775"/>
            <a:ext cx="5905500" cy="2210300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그룹 13"/>
          <p:cNvGrpSpPr/>
          <p:nvPr/>
        </p:nvGrpSpPr>
        <p:grpSpPr>
          <a:xfrm>
            <a:off x="484451" y="3174745"/>
            <a:ext cx="6499118" cy="3227751"/>
            <a:chOff x="259953" y="1498402"/>
            <a:chExt cx="10254615" cy="5092897"/>
          </a:xfrm>
        </p:grpSpPr>
        <p:pic>
          <p:nvPicPr>
            <p:cNvPr id="12" name="그림 1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9953" y="1498402"/>
              <a:ext cx="10254615" cy="5092897"/>
            </a:xfrm>
            <a:prstGeom prst="rect">
              <a:avLst/>
            </a:prstGeom>
          </p:spPr>
        </p:pic>
        <p:pic>
          <p:nvPicPr>
            <p:cNvPr id="13" name="Picture 4" descr="React] Axios 로딩 문제"/>
            <p:cNvPicPr>
              <a:picLocks noChangeAspect="1" noChangeArrowheads="1"/>
            </p:cNvPicPr>
            <p:nvPr/>
          </p:nvPicPr>
          <p:blipFill>
            <a:blip r:embed="rId4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73061" y="1498402"/>
              <a:ext cx="5563054" cy="24941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293365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579FC18-AB35-C27F-DE20-5814340131E0}"/>
              </a:ext>
            </a:extLst>
          </p:cNvPr>
          <p:cNvSpPr txBox="1"/>
          <p:nvPr/>
        </p:nvSpPr>
        <p:spPr>
          <a:xfrm>
            <a:off x="4257404" y="180995"/>
            <a:ext cx="7883795" cy="342657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async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function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login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() {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Jetbrains Mono" panose="02000009000000000000" pitchFamily="49" charset="0"/>
              </a:rPr>
              <a:t>try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{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const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 err="1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loginUrl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= </a:t>
            </a:r>
            <a:r>
              <a:rPr lang="en-US" altLang="ko-KR" b="0" dirty="0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BASE_URL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+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'/users'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const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 err="1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loginRes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=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Jetbrains Mono" panose="02000009000000000000" pitchFamily="49" charset="0"/>
              </a:rPr>
              <a:t>await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 err="1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axios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get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en-US" altLang="ko-KR" b="0" dirty="0" err="1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loginUrl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/>
            </a:r>
            <a:b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</a:b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const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 err="1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userArr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= </a:t>
            </a:r>
            <a:r>
              <a:rPr lang="en-US" altLang="ko-KR" b="0" dirty="0" err="1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loginRes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data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/>
            </a:r>
            <a:b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</a:b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</a:t>
            </a:r>
            <a:r>
              <a:rPr lang="ko-KR" altLang="en-US" b="0" dirty="0" err="1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백엔드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 유저 데이터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: 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, </a:t>
            </a:r>
            <a:r>
              <a:rPr lang="en-US" altLang="ko-KR" b="0" dirty="0" err="1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userArr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</a:t>
            </a:r>
            <a:b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</a:b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}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Jetbrains Mono" panose="02000009000000000000" pitchFamily="49" charset="0"/>
              </a:rPr>
              <a:t>catch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 {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alert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로그인 통신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ERR 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발생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}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}</a:t>
            </a:r>
          </a:p>
        </p:txBody>
      </p:sp>
      <p:sp>
        <p:nvSpPr>
          <p:cNvPr id="17" name="직사각형 16"/>
          <p:cNvSpPr/>
          <p:nvPr/>
        </p:nvSpPr>
        <p:spPr>
          <a:xfrm>
            <a:off x="0" y="1588638"/>
            <a:ext cx="4066905" cy="286232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9CDCFE"/>
                </a:solidFill>
                <a:latin typeface="Jetbrains Mono" panose="02000009000000000000" pitchFamily="49" charset="0"/>
              </a:rPr>
              <a:t>"users"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: [</a:t>
            </a:r>
          </a:p>
          <a:p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    {</a:t>
            </a:r>
          </a:p>
          <a:p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      </a:t>
            </a:r>
            <a:r>
              <a:rPr lang="en-US" altLang="ko-KR" dirty="0">
                <a:solidFill>
                  <a:srgbClr val="9CDCFE"/>
                </a:solidFill>
                <a:latin typeface="Jetbrains Mono" panose="02000009000000000000" pitchFamily="49" charset="0"/>
              </a:rPr>
              <a:t>"id"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: </a:t>
            </a:r>
            <a:r>
              <a:rPr lang="en-US" altLang="ko-KR" dirty="0">
                <a:solidFill>
                  <a:srgbClr val="CE9178"/>
                </a:solidFill>
                <a:latin typeface="Jetbrains Mono" panose="02000009000000000000" pitchFamily="49" charset="0"/>
              </a:rPr>
              <a:t>"12"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,</a:t>
            </a:r>
          </a:p>
          <a:p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      </a:t>
            </a:r>
            <a:r>
              <a:rPr lang="en-US" altLang="ko-KR" dirty="0">
                <a:solidFill>
                  <a:srgbClr val="9CDCFE"/>
                </a:solidFill>
                <a:latin typeface="Jetbrains Mono" panose="02000009000000000000" pitchFamily="49" charset="0"/>
              </a:rPr>
              <a:t>"password"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: </a:t>
            </a:r>
            <a:r>
              <a:rPr lang="en-US" altLang="ko-KR" dirty="0">
                <a:solidFill>
                  <a:srgbClr val="CE9178"/>
                </a:solidFill>
                <a:latin typeface="Jetbrains Mono" panose="02000009000000000000" pitchFamily="49" charset="0"/>
              </a:rPr>
              <a:t>"12"</a:t>
            </a:r>
            <a:endParaRPr lang="en-US" altLang="ko-KR" dirty="0">
              <a:solidFill>
                <a:srgbClr val="D4D4D4"/>
              </a:solidFill>
              <a:latin typeface="Jetbrains Mono" panose="02000009000000000000" pitchFamily="49" charset="0"/>
            </a:endParaRPr>
          </a:p>
          <a:p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    },</a:t>
            </a:r>
          </a:p>
          <a:p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    {</a:t>
            </a:r>
          </a:p>
          <a:p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      </a:t>
            </a:r>
            <a:r>
              <a:rPr lang="en-US" altLang="ko-KR" dirty="0">
                <a:solidFill>
                  <a:srgbClr val="9CDCFE"/>
                </a:solidFill>
                <a:latin typeface="Jetbrains Mono" panose="02000009000000000000" pitchFamily="49" charset="0"/>
              </a:rPr>
              <a:t>"id"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: </a:t>
            </a:r>
            <a:r>
              <a:rPr lang="en-US" altLang="ko-KR" dirty="0">
                <a:solidFill>
                  <a:srgbClr val="CE9178"/>
                </a:solidFill>
                <a:latin typeface="Jetbrains Mono" panose="02000009000000000000" pitchFamily="49" charset="0"/>
              </a:rPr>
              <a:t>"</a:t>
            </a:r>
            <a:r>
              <a:rPr lang="en-US" altLang="ko-KR" dirty="0" err="1">
                <a:solidFill>
                  <a:srgbClr val="CE9178"/>
                </a:solidFill>
                <a:latin typeface="Jetbrains Mono" panose="02000009000000000000" pitchFamily="49" charset="0"/>
              </a:rPr>
              <a:t>xenosign</a:t>
            </a:r>
            <a:r>
              <a:rPr lang="en-US" altLang="ko-KR" dirty="0">
                <a:solidFill>
                  <a:srgbClr val="CE9178"/>
                </a:solidFill>
                <a:latin typeface="Jetbrains Mono" panose="02000009000000000000" pitchFamily="49" charset="0"/>
              </a:rPr>
              <a:t>"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,</a:t>
            </a:r>
          </a:p>
          <a:p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      </a:t>
            </a:r>
            <a:r>
              <a:rPr lang="en-US" altLang="ko-KR" dirty="0">
                <a:solidFill>
                  <a:srgbClr val="9CDCFE"/>
                </a:solidFill>
                <a:latin typeface="Jetbrains Mono" panose="02000009000000000000" pitchFamily="49" charset="0"/>
              </a:rPr>
              <a:t>"password"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: </a:t>
            </a:r>
            <a:r>
              <a:rPr lang="en-US" altLang="ko-KR" dirty="0">
                <a:solidFill>
                  <a:srgbClr val="CE9178"/>
                </a:solidFill>
                <a:latin typeface="Jetbrains Mono" panose="02000009000000000000" pitchFamily="49" charset="0"/>
              </a:rPr>
              <a:t>"1234"</a:t>
            </a:r>
            <a:endParaRPr lang="en-US" altLang="ko-KR" dirty="0">
              <a:solidFill>
                <a:srgbClr val="D4D4D4"/>
              </a:solidFill>
              <a:latin typeface="Jetbrains Mono" panose="02000009000000000000" pitchFamily="49" charset="0"/>
            </a:endParaRPr>
          </a:p>
          <a:p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    }</a:t>
            </a:r>
          </a:p>
          <a:p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  ]</a:t>
            </a:r>
            <a:endParaRPr lang="en-US" altLang="ko-KR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986D998-DB00-2462-5941-B496C705F4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7403" y="3920009"/>
            <a:ext cx="7782855" cy="1728315"/>
          </a:xfrm>
          <a:prstGeom prst="rect">
            <a:avLst/>
          </a:prstGeom>
        </p:spPr>
      </p:pic>
      <p:pic>
        <p:nvPicPr>
          <p:cNvPr id="12290" name="Picture 2" descr="What is a Database?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6200"/>
            <a:ext cx="1365849" cy="144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7856C966-90A5-AC21-0DBF-348B78367BC3}"/>
              </a:ext>
            </a:extLst>
          </p:cNvPr>
          <p:cNvCxnSpPr>
            <a:cxnSpLocks/>
          </p:cNvCxnSpPr>
          <p:nvPr/>
        </p:nvCxnSpPr>
        <p:spPr>
          <a:xfrm flipV="1">
            <a:off x="2933700" y="1666875"/>
            <a:ext cx="1924050" cy="644527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7856C966-90A5-AC21-0DBF-348B78367BC3}"/>
              </a:ext>
            </a:extLst>
          </p:cNvPr>
          <p:cNvCxnSpPr>
            <a:cxnSpLocks/>
          </p:cNvCxnSpPr>
          <p:nvPr/>
        </p:nvCxnSpPr>
        <p:spPr>
          <a:xfrm flipH="1">
            <a:off x="8477250" y="2381250"/>
            <a:ext cx="1019175" cy="1905000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1438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FE7F279-68AB-1A58-D981-EEF172B5352E}"/>
              </a:ext>
            </a:extLst>
          </p:cNvPr>
          <p:cNvSpPr txBox="1"/>
          <p:nvPr/>
        </p:nvSpPr>
        <p:spPr>
          <a:xfrm>
            <a:off x="135731" y="98920"/>
            <a:ext cx="11646694" cy="496546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async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function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login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() {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Jetbrains Mono" panose="02000009000000000000" pitchFamily="49" charset="0"/>
              </a:rPr>
              <a:t>try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{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const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 err="1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loginUrl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= </a:t>
            </a:r>
            <a:r>
              <a:rPr lang="en-US" altLang="ko-KR" b="0" dirty="0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BASE_URL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+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'/users'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const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 err="1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loginRes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=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Jetbrains Mono" panose="02000009000000000000" pitchFamily="49" charset="0"/>
              </a:rPr>
              <a:t>await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 err="1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axios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get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en-US" altLang="ko-KR" b="0" dirty="0" err="1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loginUrl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/>
            </a:r>
            <a:b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</a:b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const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 err="1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userArr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= </a:t>
            </a:r>
            <a:r>
              <a:rPr lang="en-US" altLang="ko-KR" b="0" dirty="0" err="1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loginRes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data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/>
            </a:r>
            <a:b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</a:b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const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 err="1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findUser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= </a:t>
            </a:r>
            <a:r>
              <a:rPr lang="en-US" altLang="ko-KR" b="0" dirty="0" err="1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userArr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find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function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item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,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index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 {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Jetbrains Mono" panose="02000009000000000000" pitchFamily="49" charset="0"/>
              </a:rPr>
              <a:t>return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item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id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=== </a:t>
            </a:r>
            <a:r>
              <a:rPr lang="en-US" altLang="ko-KR" b="0" dirty="0" err="1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userId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value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});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/>
            </a:r>
            <a:b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</a:b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Jetbrains Mono" panose="02000009000000000000" pitchFamily="49" charset="0"/>
              </a:rPr>
              <a:t>if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(</a:t>
            </a:r>
            <a:r>
              <a:rPr lang="en-US" altLang="ko-KR" b="0" dirty="0" err="1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findUser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===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undefined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Jetbrains Mono" panose="02000009000000000000" pitchFamily="49" charset="0"/>
              </a:rPr>
              <a:t>return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alert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해당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ID 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를 가지는 사용자가 존재하지 않습니다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.'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/>
            </a:r>
            <a:b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</a:b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}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Jetbrains Mono" panose="02000009000000000000" pitchFamily="49" charset="0"/>
              </a:rPr>
              <a:t>catch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 {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alert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로그인 통신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ERR 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발생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}</a:t>
            </a:r>
          </a:p>
          <a:p>
            <a:pPr>
              <a:lnSpc>
                <a:spcPts val="2025"/>
              </a:lnSpc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}</a:t>
            </a:r>
          </a:p>
        </p:txBody>
      </p:sp>
      <p:sp>
        <p:nvSpPr>
          <p:cNvPr id="5" name="사각형: 둥근 모서리 8">
            <a:extLst>
              <a:ext uri="{FF2B5EF4-FFF2-40B4-BE49-F238E27FC236}">
                <a16:creationId xmlns:a16="http://schemas.microsoft.com/office/drawing/2014/main" id="{B17F4156-10EA-BE35-20C1-4378030582A1}"/>
              </a:ext>
            </a:extLst>
          </p:cNvPr>
          <p:cNvSpPr/>
          <p:nvPr/>
        </p:nvSpPr>
        <p:spPr>
          <a:xfrm>
            <a:off x="7823200" y="304800"/>
            <a:ext cx="4368800" cy="1397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사용자 배열 중에서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입력한 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ID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를 가지는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사용자가 있는지를 찾는 과정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7856C966-90A5-AC21-0DBF-348B78367BC3}"/>
              </a:ext>
            </a:extLst>
          </p:cNvPr>
          <p:cNvCxnSpPr>
            <a:cxnSpLocks/>
          </p:cNvCxnSpPr>
          <p:nvPr/>
        </p:nvCxnSpPr>
        <p:spPr>
          <a:xfrm flipV="1">
            <a:off x="6029325" y="990601"/>
            <a:ext cx="2047875" cy="857111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B17F4156-10EA-BE35-20C1-4378030582A1}"/>
              </a:ext>
            </a:extLst>
          </p:cNvPr>
          <p:cNvSpPr/>
          <p:nvPr/>
        </p:nvSpPr>
        <p:spPr>
          <a:xfrm>
            <a:off x="7849394" y="3685541"/>
            <a:ext cx="4368800" cy="1397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사용자를 찾지 못할 경우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사용자가 없다는 경고 메시지를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띄우고 로그인 과정 종료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7856C966-90A5-AC21-0DBF-348B78367BC3}"/>
              </a:ext>
            </a:extLst>
          </p:cNvPr>
          <p:cNvCxnSpPr>
            <a:cxnSpLocks/>
          </p:cNvCxnSpPr>
          <p:nvPr/>
        </p:nvCxnSpPr>
        <p:spPr>
          <a:xfrm>
            <a:off x="4276725" y="3479661"/>
            <a:ext cx="3800475" cy="673239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9126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131303" y="153538"/>
            <a:ext cx="4066905" cy="175432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9CDCFE"/>
                </a:solidFill>
                <a:latin typeface="Jetbrains Mono" panose="02000009000000000000" pitchFamily="49" charset="0"/>
              </a:rPr>
              <a:t>"users"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: [</a:t>
            </a:r>
          </a:p>
          <a:p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    {</a:t>
            </a:r>
          </a:p>
          <a:p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      </a:t>
            </a:r>
            <a:r>
              <a:rPr lang="en-US" altLang="ko-KR" dirty="0">
                <a:solidFill>
                  <a:srgbClr val="9CDCFE"/>
                </a:solidFill>
                <a:latin typeface="Jetbrains Mono" panose="02000009000000000000" pitchFamily="49" charset="0"/>
              </a:rPr>
              <a:t>"id"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: </a:t>
            </a:r>
            <a:r>
              <a:rPr lang="en-US" altLang="ko-KR" dirty="0">
                <a:solidFill>
                  <a:srgbClr val="CE9178"/>
                </a:solidFill>
                <a:latin typeface="Jetbrains Mono" panose="02000009000000000000" pitchFamily="49" charset="0"/>
              </a:rPr>
              <a:t>"12"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,</a:t>
            </a:r>
          </a:p>
          <a:p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      </a:t>
            </a:r>
            <a:r>
              <a:rPr lang="en-US" altLang="ko-KR" dirty="0">
                <a:solidFill>
                  <a:srgbClr val="9CDCFE"/>
                </a:solidFill>
                <a:latin typeface="Jetbrains Mono" panose="02000009000000000000" pitchFamily="49" charset="0"/>
              </a:rPr>
              <a:t>"password"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: </a:t>
            </a:r>
            <a:r>
              <a:rPr lang="en-US" altLang="ko-KR" dirty="0">
                <a:solidFill>
                  <a:srgbClr val="CE9178"/>
                </a:solidFill>
                <a:latin typeface="Jetbrains Mono" panose="02000009000000000000" pitchFamily="49" charset="0"/>
              </a:rPr>
              <a:t>"12"</a:t>
            </a:r>
            <a:endParaRPr lang="en-US" altLang="ko-KR" dirty="0">
              <a:solidFill>
                <a:srgbClr val="D4D4D4"/>
              </a:solidFill>
              <a:latin typeface="Jetbrains Mono" panose="02000009000000000000" pitchFamily="49" charset="0"/>
            </a:endParaRPr>
          </a:p>
          <a:p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    },</a:t>
            </a:r>
          </a:p>
          <a:p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]</a:t>
            </a:r>
            <a:endParaRPr lang="en-US" altLang="ko-KR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0C5E554-2D70-2BEA-A4B8-40DF0B37E3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303" y="2119106"/>
            <a:ext cx="11717385" cy="2962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239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796CA92-D438-CFD9-CE11-69B75ABFA4E7}"/>
              </a:ext>
            </a:extLst>
          </p:cNvPr>
          <p:cNvSpPr txBox="1"/>
          <p:nvPr/>
        </p:nvSpPr>
        <p:spPr>
          <a:xfrm>
            <a:off x="71437" y="70416"/>
            <a:ext cx="11444287" cy="624786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async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function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login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() {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Jetbrains Mono" panose="02000009000000000000" pitchFamily="49" charset="0"/>
              </a:rPr>
              <a:t>try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{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const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 err="1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loginUrl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= </a:t>
            </a:r>
            <a:r>
              <a:rPr lang="en-US" altLang="ko-KR" b="0" dirty="0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BASE_URL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+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'/users'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const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 err="1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loginRes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=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Jetbrains Mono" panose="02000009000000000000" pitchFamily="49" charset="0"/>
              </a:rPr>
              <a:t>await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 err="1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axios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get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en-US" altLang="ko-KR" b="0" dirty="0" err="1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loginUrl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/>
            </a:r>
            <a:b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</a:b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const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 err="1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userArr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= </a:t>
            </a:r>
            <a:r>
              <a:rPr lang="en-US" altLang="ko-KR" b="0" dirty="0" err="1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loginRes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data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;</a:t>
            </a:r>
            <a:b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</a:b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/>
            </a:r>
            <a:b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</a:b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const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 err="1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findUser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= </a:t>
            </a:r>
            <a:r>
              <a:rPr lang="en-US" altLang="ko-KR" b="0" dirty="0" err="1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userArr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find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function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item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,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index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 {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Jetbrains Mono" panose="02000009000000000000" pitchFamily="49" charset="0"/>
              </a:rPr>
              <a:t>return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item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id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=== </a:t>
            </a:r>
            <a:r>
              <a:rPr lang="en-US" altLang="ko-KR" b="0" dirty="0" err="1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userId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value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});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/>
            </a:r>
            <a:b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</a:b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Jetbrains Mono" panose="02000009000000000000" pitchFamily="49" charset="0"/>
              </a:rPr>
              <a:t>if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(</a:t>
            </a:r>
            <a:r>
              <a:rPr lang="en-US" altLang="ko-KR" b="0" dirty="0" err="1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findUser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===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undefined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Jetbrains Mono" panose="02000009000000000000" pitchFamily="49" charset="0"/>
              </a:rPr>
              <a:t>return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alert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해당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ID 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를 가지는 사용자가 존재하지 않습니다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.'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/>
            </a:r>
            <a:b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</a:b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Jetbrains Mono" panose="02000009000000000000" pitchFamily="49" charset="0"/>
              </a:rPr>
              <a:t>if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(</a:t>
            </a:r>
            <a:r>
              <a:rPr lang="en-US" altLang="ko-KR" b="0" dirty="0" err="1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findUser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password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!== </a:t>
            </a:r>
            <a:r>
              <a:rPr lang="en-US" altLang="ko-KR" b="0" dirty="0" err="1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userPassword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value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Jetbrains Mono" panose="02000009000000000000" pitchFamily="49" charset="0"/>
              </a:rPr>
              <a:t>return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alert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비밀번호가 일치하지 않습니다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.'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/>
            </a:r>
            <a:b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</a:b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localStorage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setItem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'auth'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,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'true'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alert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로그인 성공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!'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</a:t>
            </a:r>
            <a:b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</a:b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}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Jetbrains Mono" panose="02000009000000000000" pitchFamily="49" charset="0"/>
              </a:rPr>
              <a:t>catch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 {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alert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로그인 통신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ERR 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발생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}</a:t>
            </a:r>
          </a:p>
          <a:p>
            <a:pPr>
              <a:lnSpc>
                <a:spcPts val="2025"/>
              </a:lnSpc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}</a:t>
            </a:r>
          </a:p>
        </p:txBody>
      </p:sp>
      <p:sp>
        <p:nvSpPr>
          <p:cNvPr id="3" name="사각형: 둥근 모서리 8">
            <a:extLst>
              <a:ext uri="{FF2B5EF4-FFF2-40B4-BE49-F238E27FC236}">
                <a16:creationId xmlns:a16="http://schemas.microsoft.com/office/drawing/2014/main" id="{B17F4156-10EA-BE35-20C1-4378030582A1}"/>
              </a:ext>
            </a:extLst>
          </p:cNvPr>
          <p:cNvSpPr/>
          <p:nvPr/>
        </p:nvSpPr>
        <p:spPr>
          <a:xfrm>
            <a:off x="7823200" y="266700"/>
            <a:ext cx="4368800" cy="288925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입력받은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ID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와 일치하는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사용자가 있을 경우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비밀번호를 비교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일치 하지 않을 경우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비밀번호 불일치 메시지와 함께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로그인 과정 종료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7856C966-90A5-AC21-0DBF-348B78367BC3}"/>
              </a:ext>
            </a:extLst>
          </p:cNvPr>
          <p:cNvCxnSpPr>
            <a:cxnSpLocks/>
          </p:cNvCxnSpPr>
          <p:nvPr/>
        </p:nvCxnSpPr>
        <p:spPr>
          <a:xfrm flipV="1">
            <a:off x="4086225" y="1485901"/>
            <a:ext cx="3990975" cy="2085974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사각형: 둥근 모서리 8">
            <a:extLst>
              <a:ext uri="{FF2B5EF4-FFF2-40B4-BE49-F238E27FC236}">
                <a16:creationId xmlns:a16="http://schemas.microsoft.com/office/drawing/2014/main" id="{B17F4156-10EA-BE35-20C1-4378030582A1}"/>
              </a:ext>
            </a:extLst>
          </p:cNvPr>
          <p:cNvSpPr/>
          <p:nvPr/>
        </p:nvSpPr>
        <p:spPr>
          <a:xfrm>
            <a:off x="7823200" y="3782334"/>
            <a:ext cx="4368800" cy="242252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비밀번호 까지 일치하면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en-US" altLang="ko-KR" sz="24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localStorage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에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en-US" altLang="ko-KR" sz="24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auth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라는 항목에 값을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true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로 설정하여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저장 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&amp;</a:t>
            </a:r>
          </a:p>
          <a:p>
            <a:pPr algn="ctr"/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로그인 성공 메시지 출력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7856C966-90A5-AC21-0DBF-348B78367BC3}"/>
              </a:ext>
            </a:extLst>
          </p:cNvPr>
          <p:cNvCxnSpPr>
            <a:cxnSpLocks/>
          </p:cNvCxnSpPr>
          <p:nvPr/>
        </p:nvCxnSpPr>
        <p:spPr>
          <a:xfrm>
            <a:off x="5915025" y="4571437"/>
            <a:ext cx="2257425" cy="314888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1979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박수 짤 &gt; 짤톡 | 파일톡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7975" y="2285999"/>
            <a:ext cx="4166286" cy="3454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8854711D-8A8B-18C2-DB3B-4AC35BE4F2BA}"/>
              </a:ext>
            </a:extLst>
          </p:cNvPr>
          <p:cNvGrpSpPr/>
          <p:nvPr/>
        </p:nvGrpSpPr>
        <p:grpSpPr>
          <a:xfrm>
            <a:off x="209247" y="137907"/>
            <a:ext cx="6977670" cy="2336713"/>
            <a:chOff x="209247" y="137907"/>
            <a:chExt cx="6977670" cy="2336713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84876D9C-13BE-530E-3489-DAF53F23F4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9247" y="137907"/>
              <a:ext cx="3448353" cy="2336713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30824ED9-6D9B-9094-65B9-2CF6DFA8A42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814332" y="861921"/>
              <a:ext cx="4372585" cy="1305107"/>
            </a:xfrm>
            <a:prstGeom prst="rect">
              <a:avLst/>
            </a:prstGeom>
          </p:spPr>
        </p:pic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89E235EC-E303-E544-2B2B-19D47414B660}"/>
              </a:ext>
            </a:extLst>
          </p:cNvPr>
          <p:cNvGrpSpPr/>
          <p:nvPr/>
        </p:nvGrpSpPr>
        <p:grpSpPr>
          <a:xfrm>
            <a:off x="209247" y="2776446"/>
            <a:ext cx="7044355" cy="2867425"/>
            <a:chOff x="209247" y="2776446"/>
            <a:chExt cx="7044355" cy="2867425"/>
          </a:xfrm>
        </p:grpSpPr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B1ADDAEE-FC0E-0A83-FCB9-2F7FF2C7645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09247" y="2776446"/>
              <a:ext cx="3172268" cy="2867425"/>
            </a:xfrm>
            <a:prstGeom prst="rect">
              <a:avLst/>
            </a:prstGeom>
          </p:spPr>
        </p:pic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BC52EAB2-B65F-5FAE-686B-6021CAC2F43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814332" y="3803649"/>
              <a:ext cx="4439270" cy="130510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81682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D94CAF-1FFB-EE20-6CF0-9C1A9F399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1"/>
                </a:solidFill>
              </a:rPr>
              <a:t>실습</a:t>
            </a:r>
            <a:r>
              <a:rPr lang="en-US" altLang="ko-KR" dirty="0">
                <a:solidFill>
                  <a:schemeClr val="accent1"/>
                </a:solidFill>
              </a:rPr>
              <a:t>, </a:t>
            </a:r>
            <a:r>
              <a:rPr lang="en-US" altLang="ko-KR" dirty="0" err="1">
                <a:solidFill>
                  <a:schemeClr val="accent1"/>
                </a:solidFill>
              </a:rPr>
              <a:t>todo</a:t>
            </a:r>
            <a:r>
              <a:rPr lang="en-US" altLang="ko-KR" dirty="0">
                <a:solidFill>
                  <a:schemeClr val="accent1"/>
                </a:solidFill>
              </a:rPr>
              <a:t> </a:t>
            </a:r>
            <a:r>
              <a:rPr lang="ko-KR" altLang="en-US" dirty="0">
                <a:solidFill>
                  <a:schemeClr val="accent1"/>
                </a:solidFill>
              </a:rPr>
              <a:t>페이지에 서버 </a:t>
            </a:r>
            <a:r>
              <a:rPr lang="en-US" altLang="ko-KR" dirty="0" err="1">
                <a:solidFill>
                  <a:schemeClr val="accent1"/>
                </a:solidFill>
              </a:rPr>
              <a:t>todo</a:t>
            </a:r>
            <a:r>
              <a:rPr lang="en-US" altLang="ko-KR" dirty="0">
                <a:solidFill>
                  <a:schemeClr val="accent1"/>
                </a:solidFill>
              </a:rPr>
              <a:t> </a:t>
            </a:r>
            <a:r>
              <a:rPr lang="ko-KR" altLang="en-US" dirty="0">
                <a:solidFill>
                  <a:schemeClr val="accent1"/>
                </a:solidFill>
              </a:rPr>
              <a:t>목록 출력 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FC1D85-A5DC-06ED-DC94-CCBD508F99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LoginPage.vue</a:t>
            </a:r>
            <a:r>
              <a:rPr lang="en-US" altLang="ko-KR" dirty="0"/>
              <a:t> </a:t>
            </a:r>
            <a:r>
              <a:rPr lang="ko-KR" altLang="en-US" dirty="0"/>
              <a:t>의 코드를 참고하여 </a:t>
            </a:r>
            <a:r>
              <a:rPr lang="en-US" altLang="ko-KR" dirty="0" err="1"/>
              <a:t>TodoPage.vue</a:t>
            </a:r>
            <a:r>
              <a:rPr lang="en-US" altLang="ko-KR" dirty="0"/>
              <a:t> </a:t>
            </a:r>
            <a:r>
              <a:rPr lang="ko-KR" altLang="en-US" dirty="0"/>
              <a:t>에 목록을 </a:t>
            </a:r>
            <a:r>
              <a:rPr lang="en-US" altLang="ko-KR" dirty="0" err="1"/>
              <a:t>json</a:t>
            </a:r>
            <a:r>
              <a:rPr lang="en-US" altLang="ko-KR" dirty="0"/>
              <a:t>-server </a:t>
            </a:r>
            <a:r>
              <a:rPr lang="ko-KR" altLang="en-US" dirty="0"/>
              <a:t>에서 데이터를 받아 띄워 봅시다</a:t>
            </a:r>
            <a:endParaRPr lang="en-US" altLang="ko-KR" dirty="0"/>
          </a:p>
          <a:p>
            <a:r>
              <a:rPr lang="en-US" altLang="ko-KR" dirty="0" err="1"/>
              <a:t>TodoPage</a:t>
            </a:r>
            <a:r>
              <a:rPr lang="en-US" altLang="ko-KR" dirty="0"/>
              <a:t> </a:t>
            </a:r>
            <a:r>
              <a:rPr lang="ko-KR" altLang="en-US" dirty="0"/>
              <a:t>에 들어가면 자동으로 </a:t>
            </a:r>
            <a:r>
              <a:rPr lang="en-US" altLang="ko-KR" dirty="0" err="1"/>
              <a:t>fetchTodo</a:t>
            </a:r>
            <a:r>
              <a:rPr lang="en-US" altLang="ko-KR" dirty="0"/>
              <a:t> </a:t>
            </a:r>
            <a:r>
              <a:rPr lang="ko-KR" altLang="en-US" dirty="0"/>
              <a:t>메서드가 실행이 되고</a:t>
            </a:r>
            <a:r>
              <a:rPr lang="en-US" altLang="ko-KR" dirty="0"/>
              <a:t>,</a:t>
            </a:r>
            <a:r>
              <a:rPr lang="ko-KR" altLang="en-US" dirty="0"/>
              <a:t> 해당 메서드는 </a:t>
            </a:r>
            <a:r>
              <a:rPr lang="en-US" altLang="ko-KR" dirty="0" err="1"/>
              <a:t>json</a:t>
            </a:r>
            <a:r>
              <a:rPr lang="en-US" altLang="ko-KR" dirty="0"/>
              <a:t>-server </a:t>
            </a:r>
            <a:r>
              <a:rPr lang="ko-KR" altLang="en-US" dirty="0"/>
              <a:t>의 </a:t>
            </a:r>
            <a:r>
              <a:rPr lang="en-US" altLang="ko-KR" dirty="0"/>
              <a:t>“/</a:t>
            </a:r>
            <a:r>
              <a:rPr lang="en-US" altLang="ko-KR" dirty="0" err="1"/>
              <a:t>todos</a:t>
            </a:r>
            <a:r>
              <a:rPr lang="en-US" altLang="ko-KR" dirty="0"/>
              <a:t>” </a:t>
            </a:r>
            <a:r>
              <a:rPr lang="ko-KR" altLang="en-US" dirty="0" err="1"/>
              <a:t>엔드포인트로</a:t>
            </a:r>
            <a:r>
              <a:rPr lang="ko-KR" altLang="en-US" dirty="0"/>
              <a:t> 부터 </a:t>
            </a:r>
            <a:r>
              <a:rPr lang="en-US" altLang="ko-KR" dirty="0" err="1"/>
              <a:t>todolist</a:t>
            </a:r>
            <a:r>
              <a:rPr lang="en-US" altLang="ko-KR" dirty="0"/>
              <a:t> </a:t>
            </a:r>
            <a:r>
              <a:rPr lang="ko-KR" altLang="en-US" dirty="0"/>
              <a:t>데이터를 받아 </a:t>
            </a:r>
            <a:r>
              <a:rPr lang="en-US" altLang="ko-KR" dirty="0" err="1"/>
              <a:t>ul</a:t>
            </a:r>
            <a:r>
              <a:rPr lang="en-US" altLang="ko-KR" dirty="0"/>
              <a:t> &gt;</a:t>
            </a:r>
            <a:r>
              <a:rPr lang="ko-KR" altLang="en-US" dirty="0"/>
              <a:t> </a:t>
            </a:r>
            <a:r>
              <a:rPr lang="en-US" altLang="ko-KR" dirty="0"/>
              <a:t>li</a:t>
            </a:r>
            <a:r>
              <a:rPr lang="ko-KR" altLang="en-US" dirty="0"/>
              <a:t> 태그로 출력 합니다</a:t>
            </a:r>
            <a:endParaRPr lang="en-US" altLang="ko-KR" dirty="0"/>
          </a:p>
          <a:p>
            <a:r>
              <a:rPr lang="ko-KR" altLang="en-US" dirty="0" err="1"/>
              <a:t>다다음</a:t>
            </a:r>
            <a:r>
              <a:rPr lang="ko-KR" altLang="en-US" dirty="0"/>
              <a:t> 장의 코드를 활용하여 </a:t>
            </a:r>
            <a:r>
              <a:rPr lang="en-US" altLang="ko-KR" dirty="0" err="1"/>
              <a:t>todo</a:t>
            </a:r>
            <a:r>
              <a:rPr lang="en-US" altLang="ko-KR" dirty="0"/>
              <a:t> </a:t>
            </a:r>
            <a:r>
              <a:rPr lang="ko-KR" altLang="en-US" dirty="0"/>
              <a:t>목록을 다음과 같이 출력하는 페이지를 만들어 주세요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26231550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51A41D4F-03A1-4FC9-8953-8320D8EE7F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2009"/>
          <a:stretch/>
        </p:blipFill>
        <p:spPr>
          <a:xfrm>
            <a:off x="94772" y="94818"/>
            <a:ext cx="3093519" cy="291780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3BCD257-B602-AA1B-7AE7-0F380E5C0E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3179" y="94819"/>
            <a:ext cx="7315772" cy="291780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6A03032-3A55-7EC5-010F-A9FA84A876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72" y="3143038"/>
            <a:ext cx="7868128" cy="277903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9885067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97D95-AF37-0B0C-EBD2-FF9C4A33C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BE7E767-F2B9-0A15-EBAE-8F2BF8FC68D1}"/>
              </a:ext>
            </a:extLst>
          </p:cNvPr>
          <p:cNvSpPr txBox="1"/>
          <p:nvPr/>
        </p:nvSpPr>
        <p:spPr>
          <a:xfrm>
            <a:off x="76200" y="75526"/>
            <a:ext cx="5934076" cy="677108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400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&lt;</a:t>
            </a:r>
            <a:r>
              <a:rPr lang="en-US" altLang="ko-KR" sz="14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template</a:t>
            </a:r>
            <a:r>
              <a:rPr lang="en-US" altLang="ko-KR" sz="1400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&gt;</a:t>
            </a:r>
            <a:endParaRPr lang="en-US" altLang="ko-KR" sz="1400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</a:t>
            </a:r>
            <a:r>
              <a:rPr lang="en-US" altLang="ko-KR" sz="1400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&lt;</a:t>
            </a:r>
            <a:r>
              <a:rPr lang="en-US" altLang="ko-KR" sz="14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main</a:t>
            </a:r>
            <a:r>
              <a:rPr lang="en-US" altLang="ko-KR" sz="1400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&gt;</a:t>
            </a:r>
            <a:endParaRPr lang="en-US" altLang="ko-KR" sz="1400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sz="1400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&lt;</a:t>
            </a:r>
            <a:r>
              <a:rPr lang="en-US" altLang="ko-KR" sz="14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h1</a:t>
            </a:r>
            <a:r>
              <a:rPr lang="en-US" altLang="ko-KR" sz="1400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&gt;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TODO PAGE</a:t>
            </a:r>
            <a:r>
              <a:rPr lang="en-US" altLang="ko-KR" sz="1400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&lt;/</a:t>
            </a:r>
            <a:r>
              <a:rPr lang="en-US" altLang="ko-KR" sz="14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h1</a:t>
            </a:r>
            <a:r>
              <a:rPr lang="en-US" altLang="ko-KR" sz="1400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&gt;</a:t>
            </a:r>
            <a:endParaRPr lang="en-US" altLang="ko-KR" sz="1400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sz="1400" b="0" dirty="0">
                <a:solidFill>
                  <a:srgbClr val="6A9955"/>
                </a:solidFill>
                <a:effectLst/>
                <a:latin typeface="Jetbrains Mono" panose="02000009000000000000" pitchFamily="49" charset="0"/>
              </a:rPr>
              <a:t>&lt;!-- </a:t>
            </a:r>
            <a:r>
              <a:rPr lang="ko-KR" altLang="en-US" sz="1400" b="0" dirty="0">
                <a:solidFill>
                  <a:srgbClr val="6A9955"/>
                </a:solidFill>
                <a:effectLst/>
                <a:latin typeface="Jetbrains Mono" panose="02000009000000000000" pitchFamily="49" charset="0"/>
              </a:rPr>
              <a:t>로딩 중에는 아래의 </a:t>
            </a:r>
            <a:r>
              <a:rPr lang="en-US" altLang="ko-KR" sz="1400" b="0" dirty="0">
                <a:solidFill>
                  <a:srgbClr val="6A9955"/>
                </a:solidFill>
                <a:effectLst/>
                <a:latin typeface="Jetbrains Mono" panose="02000009000000000000" pitchFamily="49" charset="0"/>
              </a:rPr>
              <a:t>h2 </a:t>
            </a:r>
            <a:r>
              <a:rPr lang="ko-KR" altLang="en-US" sz="1400" b="0" dirty="0">
                <a:solidFill>
                  <a:srgbClr val="6A9955"/>
                </a:solidFill>
                <a:effectLst/>
                <a:latin typeface="Jetbrains Mono" panose="02000009000000000000" pitchFamily="49" charset="0"/>
              </a:rPr>
              <a:t>가 출력 되도록 구현 </a:t>
            </a:r>
            <a:r>
              <a:rPr lang="en-US" altLang="ko-KR" sz="1400" b="0" dirty="0">
                <a:solidFill>
                  <a:srgbClr val="6A9955"/>
                </a:solidFill>
                <a:effectLst/>
                <a:latin typeface="Jetbrains Mono" panose="02000009000000000000" pitchFamily="49" charset="0"/>
              </a:rPr>
              <a:t>--&gt;</a:t>
            </a:r>
            <a:endParaRPr lang="ko-KR" altLang="en-US" sz="1400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  <a:p>
            <a:pPr>
              <a:buNone/>
            </a:pPr>
            <a:r>
              <a:rPr lang="ko-KR" altLang="en-US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sz="1400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&lt;</a:t>
            </a:r>
            <a:r>
              <a:rPr lang="en-US" altLang="ko-KR" sz="14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h2</a:t>
            </a:r>
            <a:r>
              <a:rPr lang="en-US" altLang="ko-KR" sz="1400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&gt;</a:t>
            </a:r>
            <a:r>
              <a:rPr lang="ko-KR" altLang="en-US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데이터 로딩 중</a:t>
            </a:r>
            <a:r>
              <a:rPr lang="en-US" altLang="ko-KR" sz="1400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&lt;/</a:t>
            </a:r>
            <a:r>
              <a:rPr lang="en-US" altLang="ko-KR" sz="14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h2</a:t>
            </a:r>
            <a:r>
              <a:rPr lang="en-US" altLang="ko-KR" sz="1400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&gt;</a:t>
            </a:r>
            <a:endParaRPr lang="en-US" altLang="ko-KR" sz="1400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sz="1400" b="0" dirty="0">
                <a:solidFill>
                  <a:srgbClr val="6A9955"/>
                </a:solidFill>
                <a:effectLst/>
                <a:latin typeface="Jetbrains Mono" panose="02000009000000000000" pitchFamily="49" charset="0"/>
              </a:rPr>
              <a:t>&lt;!-- </a:t>
            </a:r>
            <a:r>
              <a:rPr lang="ko-KR" altLang="en-US" sz="1400" b="0" dirty="0">
                <a:solidFill>
                  <a:srgbClr val="6A9955"/>
                </a:solidFill>
                <a:effectLst/>
                <a:latin typeface="Jetbrains Mono" panose="02000009000000000000" pitchFamily="49" charset="0"/>
              </a:rPr>
              <a:t>통신 실패 시 아래의 </a:t>
            </a:r>
            <a:r>
              <a:rPr lang="en-US" altLang="ko-KR" sz="1400" b="0" dirty="0">
                <a:solidFill>
                  <a:srgbClr val="6A9955"/>
                </a:solidFill>
                <a:effectLst/>
                <a:latin typeface="Jetbrains Mono" panose="02000009000000000000" pitchFamily="49" charset="0"/>
              </a:rPr>
              <a:t>h2 </a:t>
            </a:r>
            <a:r>
              <a:rPr lang="ko-KR" altLang="en-US" sz="1400" b="0" dirty="0">
                <a:solidFill>
                  <a:srgbClr val="6A9955"/>
                </a:solidFill>
                <a:effectLst/>
                <a:latin typeface="Jetbrains Mono" panose="02000009000000000000" pitchFamily="49" charset="0"/>
              </a:rPr>
              <a:t>가 출력 되도록 구현 </a:t>
            </a:r>
            <a:r>
              <a:rPr lang="en-US" altLang="ko-KR" sz="1400" b="0" dirty="0">
                <a:solidFill>
                  <a:srgbClr val="6A9955"/>
                </a:solidFill>
                <a:effectLst/>
                <a:latin typeface="Jetbrains Mono" panose="02000009000000000000" pitchFamily="49" charset="0"/>
              </a:rPr>
              <a:t>--&gt;</a:t>
            </a:r>
            <a:endParaRPr lang="ko-KR" altLang="en-US" sz="1400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  <a:p>
            <a:pPr>
              <a:buNone/>
            </a:pPr>
            <a:r>
              <a:rPr lang="ko-KR" altLang="en-US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sz="1400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&lt;</a:t>
            </a:r>
            <a:r>
              <a:rPr lang="en-US" altLang="ko-KR" sz="14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h2</a:t>
            </a:r>
            <a:r>
              <a:rPr lang="en-US" altLang="ko-KR" sz="1400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&gt;</a:t>
            </a:r>
            <a:r>
              <a:rPr lang="ko-KR" altLang="en-US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데이터 통신 중 에러 발생</a:t>
            </a:r>
            <a:r>
              <a:rPr lang="en-US" altLang="ko-KR" sz="1400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&lt;/</a:t>
            </a:r>
            <a:r>
              <a:rPr lang="en-US" altLang="ko-KR" sz="14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h2</a:t>
            </a:r>
            <a:r>
              <a:rPr lang="en-US" altLang="ko-KR" sz="1400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&gt;</a:t>
            </a:r>
            <a:endParaRPr lang="en-US" altLang="ko-KR" sz="1400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sz="1400" b="0" dirty="0">
                <a:solidFill>
                  <a:srgbClr val="6A9955"/>
                </a:solidFill>
                <a:effectLst/>
                <a:latin typeface="Jetbrains Mono" panose="02000009000000000000" pitchFamily="49" charset="0"/>
              </a:rPr>
              <a:t>&lt;!-- </a:t>
            </a:r>
            <a:r>
              <a:rPr lang="ko-KR" altLang="en-US" sz="1400" b="0" dirty="0">
                <a:solidFill>
                  <a:srgbClr val="6A9955"/>
                </a:solidFill>
                <a:effectLst/>
                <a:latin typeface="Jetbrains Mono" panose="02000009000000000000" pitchFamily="49" charset="0"/>
              </a:rPr>
              <a:t>통신 성공 시 </a:t>
            </a:r>
            <a:r>
              <a:rPr lang="en-US" altLang="ko-KR" sz="1400" b="0" dirty="0" err="1">
                <a:solidFill>
                  <a:srgbClr val="6A9955"/>
                </a:solidFill>
                <a:effectLst/>
                <a:latin typeface="Jetbrains Mono" panose="02000009000000000000" pitchFamily="49" charset="0"/>
              </a:rPr>
              <a:t>todo</a:t>
            </a:r>
            <a:r>
              <a:rPr lang="en-US" altLang="ko-KR" sz="1400" b="0" dirty="0">
                <a:solidFill>
                  <a:srgbClr val="6A9955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ko-KR" altLang="en-US" sz="1400" b="0" dirty="0">
                <a:solidFill>
                  <a:srgbClr val="6A9955"/>
                </a:solidFill>
                <a:effectLst/>
                <a:latin typeface="Jetbrains Mono" panose="02000009000000000000" pitchFamily="49" charset="0"/>
              </a:rPr>
              <a:t>리스트 출력 </a:t>
            </a:r>
            <a:r>
              <a:rPr lang="en-US" altLang="ko-KR" sz="1400" b="0" dirty="0">
                <a:solidFill>
                  <a:srgbClr val="6A9955"/>
                </a:solidFill>
                <a:effectLst/>
                <a:latin typeface="Jetbrains Mono" panose="02000009000000000000" pitchFamily="49" charset="0"/>
              </a:rPr>
              <a:t>--&gt;</a:t>
            </a:r>
            <a:endParaRPr lang="ko-KR" altLang="en-US" sz="1400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  <a:p>
            <a:pPr>
              <a:buNone/>
            </a:pPr>
            <a:r>
              <a:rPr lang="ko-KR" altLang="en-US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sz="1400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&lt;</a:t>
            </a:r>
            <a:r>
              <a:rPr lang="en-US" altLang="ko-KR" sz="1400" b="0" dirty="0" err="1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ul</a:t>
            </a:r>
            <a:r>
              <a:rPr lang="en-US" altLang="ko-KR" sz="1400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&gt;</a:t>
            </a:r>
            <a:endParaRPr lang="en-US" altLang="ko-KR" sz="1400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</a:t>
            </a:r>
            <a:r>
              <a:rPr lang="en-US" altLang="ko-KR" sz="1400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&lt;</a:t>
            </a:r>
            <a:r>
              <a:rPr lang="en-US" altLang="ko-KR" sz="14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li</a:t>
            </a:r>
            <a:r>
              <a:rPr lang="en-US" altLang="ko-KR" sz="1400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&gt;</a:t>
            </a:r>
            <a:r>
              <a:rPr lang="ko-KR" altLang="en-US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서버에서 받은 </a:t>
            </a:r>
            <a:r>
              <a:rPr lang="en-US" altLang="ko-KR" sz="1400" b="0" dirty="0" err="1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todo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ko-KR" altLang="en-US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출력</a:t>
            </a:r>
            <a:r>
              <a:rPr lang="en-US" altLang="ko-KR" sz="1400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&lt;/</a:t>
            </a:r>
            <a:r>
              <a:rPr lang="en-US" altLang="ko-KR" sz="14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li</a:t>
            </a:r>
            <a:r>
              <a:rPr lang="en-US" altLang="ko-KR" sz="1400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&gt;</a:t>
            </a:r>
            <a:endParaRPr lang="en-US" altLang="ko-KR" sz="1400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sz="1400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&lt;/</a:t>
            </a:r>
            <a:r>
              <a:rPr lang="en-US" altLang="ko-KR" sz="1400" b="0" dirty="0" err="1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ul</a:t>
            </a:r>
            <a:r>
              <a:rPr lang="en-US" altLang="ko-KR" sz="1400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&gt;</a:t>
            </a:r>
            <a:endParaRPr lang="en-US" altLang="ko-KR" sz="1400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</a:t>
            </a:r>
            <a:r>
              <a:rPr lang="en-US" altLang="ko-KR" sz="1400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&lt;/</a:t>
            </a:r>
            <a:r>
              <a:rPr lang="en-US" altLang="ko-KR" sz="14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main</a:t>
            </a:r>
            <a:r>
              <a:rPr lang="en-US" altLang="ko-KR" sz="1400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&gt;</a:t>
            </a:r>
            <a:endParaRPr lang="en-US" altLang="ko-KR" sz="1400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  <a:p>
            <a:pPr>
              <a:buNone/>
            </a:pPr>
            <a:r>
              <a:rPr lang="en-US" altLang="ko-KR" sz="1400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&lt;/</a:t>
            </a:r>
            <a:r>
              <a:rPr lang="en-US" altLang="ko-KR" sz="14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template</a:t>
            </a:r>
            <a:r>
              <a:rPr lang="en-US" altLang="ko-KR" sz="1400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&gt;</a:t>
            </a:r>
            <a:endParaRPr lang="en-US" altLang="ko-KR" sz="1400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/>
            </a:r>
            <a:b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</a:br>
            <a:r>
              <a:rPr lang="en-US" altLang="ko-KR" sz="1400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&lt;</a:t>
            </a:r>
            <a:r>
              <a:rPr lang="en-US" altLang="ko-KR" sz="14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script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sz="1400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setup</a:t>
            </a:r>
            <a:r>
              <a:rPr lang="en-US" altLang="ko-KR" sz="1400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&gt;</a:t>
            </a:r>
            <a:endParaRPr lang="en-US" altLang="ko-KR" sz="1400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  <a:p>
            <a:pPr>
              <a:buNone/>
            </a:pPr>
            <a:r>
              <a:rPr lang="en-US" altLang="ko-KR" sz="1400" b="0" dirty="0">
                <a:solidFill>
                  <a:srgbClr val="C586C0"/>
                </a:solidFill>
                <a:effectLst/>
                <a:latin typeface="Jetbrains Mono" panose="02000009000000000000" pitchFamily="49" charset="0"/>
              </a:rPr>
              <a:t>import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sz="1400" b="0" dirty="0" err="1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axios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sz="1400" b="0" dirty="0">
                <a:solidFill>
                  <a:srgbClr val="C586C0"/>
                </a:solidFill>
                <a:effectLst/>
                <a:latin typeface="Jetbrains Mono" panose="02000009000000000000" pitchFamily="49" charset="0"/>
              </a:rPr>
              <a:t>from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</a:t>
            </a:r>
            <a:r>
              <a:rPr lang="en-US" altLang="ko-KR" sz="1400" b="0" dirty="0" err="1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axios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;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C586C0"/>
                </a:solidFill>
                <a:effectLst/>
                <a:latin typeface="Jetbrains Mono" panose="02000009000000000000" pitchFamily="49" charset="0"/>
              </a:rPr>
              <a:t>import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{ </a:t>
            </a:r>
            <a:r>
              <a:rPr lang="en-US" altLang="ko-KR" sz="1400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ref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} </a:t>
            </a:r>
            <a:r>
              <a:rPr lang="en-US" altLang="ko-KR" sz="1400" b="0" dirty="0">
                <a:solidFill>
                  <a:srgbClr val="C586C0"/>
                </a:solidFill>
                <a:effectLst/>
                <a:latin typeface="Jetbrains Mono" panose="02000009000000000000" pitchFamily="49" charset="0"/>
              </a:rPr>
              <a:t>from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</a:t>
            </a:r>
            <a:r>
              <a:rPr lang="en-US" altLang="ko-KR" sz="1400" b="0" dirty="0" err="1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vue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;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/>
            </a:r>
            <a:b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</a:br>
            <a:r>
              <a:rPr lang="en-US" altLang="ko-KR" sz="14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const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sz="1400" b="0" dirty="0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BASE_URL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= 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'/</a:t>
            </a:r>
            <a:r>
              <a:rPr lang="en-US" altLang="ko-KR" sz="1400" b="0" dirty="0" err="1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api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;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/>
            </a:r>
            <a:b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</a:br>
            <a:r>
              <a:rPr lang="en-US" altLang="ko-KR" sz="14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async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sz="14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function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sz="1400" b="0" dirty="0" err="1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fetchTodo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() {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</a:t>
            </a:r>
            <a:r>
              <a:rPr lang="en-US" altLang="ko-KR" sz="1400" b="0" dirty="0">
                <a:solidFill>
                  <a:srgbClr val="C586C0"/>
                </a:solidFill>
                <a:effectLst/>
                <a:latin typeface="Jetbrains Mono" panose="02000009000000000000" pitchFamily="49" charset="0"/>
              </a:rPr>
              <a:t>try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{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sz="1400" b="0" dirty="0">
                <a:solidFill>
                  <a:srgbClr val="6A9955"/>
                </a:solidFill>
                <a:effectLst/>
                <a:latin typeface="Jetbrains Mono" panose="02000009000000000000" pitchFamily="49" charset="0"/>
              </a:rPr>
              <a:t>// </a:t>
            </a:r>
            <a:r>
              <a:rPr lang="ko-KR" altLang="en-US" sz="1400" b="0" dirty="0">
                <a:solidFill>
                  <a:srgbClr val="6A9955"/>
                </a:solidFill>
                <a:effectLst/>
                <a:latin typeface="Jetbrains Mono" panose="02000009000000000000" pitchFamily="49" charset="0"/>
              </a:rPr>
              <a:t>내부를 구현 해주세요</a:t>
            </a:r>
            <a:endParaRPr lang="ko-KR" altLang="en-US" sz="1400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  <a:p>
            <a:pPr>
              <a:buNone/>
            </a:pPr>
            <a:r>
              <a:rPr lang="ko-KR" altLang="en-US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} </a:t>
            </a:r>
            <a:r>
              <a:rPr lang="en-US" altLang="ko-KR" sz="1400" b="0" dirty="0">
                <a:solidFill>
                  <a:srgbClr val="C586C0"/>
                </a:solidFill>
                <a:effectLst/>
                <a:latin typeface="Jetbrains Mono" panose="02000009000000000000" pitchFamily="49" charset="0"/>
              </a:rPr>
              <a:t>catch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(</a:t>
            </a:r>
            <a:r>
              <a:rPr lang="en-US" altLang="ko-KR" sz="1400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e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 {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sz="1400" b="0" dirty="0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alert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'TODO DATA FETCH </a:t>
            </a:r>
            <a:r>
              <a:rPr lang="ko-KR" altLang="en-US" sz="1400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통신 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ERR </a:t>
            </a:r>
            <a:r>
              <a:rPr lang="ko-KR" altLang="en-US" sz="1400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발생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sz="1400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console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sz="1400" b="0" dirty="0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log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en-US" altLang="ko-KR" sz="1400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e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}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}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/>
            </a:r>
            <a:b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</a:br>
            <a:r>
              <a:rPr lang="en-US" altLang="ko-KR" sz="1400" b="0" dirty="0" err="1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fetchTodo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();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&lt;/</a:t>
            </a:r>
            <a:r>
              <a:rPr lang="en-US" altLang="ko-KR" sz="14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script</a:t>
            </a:r>
            <a:r>
              <a:rPr lang="en-US" altLang="ko-KR" sz="1400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&gt;</a:t>
            </a:r>
            <a:endParaRPr lang="en-US" altLang="ko-KR" sz="1400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607273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51A304-90D1-7EA9-EBAE-E5B3155D64CA}"/>
              </a:ext>
            </a:extLst>
          </p:cNvPr>
          <p:cNvSpPr txBox="1"/>
          <p:nvPr/>
        </p:nvSpPr>
        <p:spPr>
          <a:xfrm>
            <a:off x="0" y="0"/>
            <a:ext cx="121920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960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라우터에</a:t>
            </a:r>
            <a:endParaRPr lang="en-US" altLang="ko-KR" sz="9600" dirty="0">
              <a:solidFill>
                <a:srgbClr val="0070C0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9600" dirty="0" err="1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Auth</a:t>
            </a:r>
            <a:r>
              <a:rPr lang="en-US" altLang="ko-KR" sz="960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ko-KR" altLang="en-US" sz="960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기능 추가하기</a:t>
            </a:r>
          </a:p>
        </p:txBody>
      </p:sp>
    </p:spTree>
    <p:extLst>
      <p:ext uri="{BB962C8B-B14F-4D97-AF65-F5344CB8AC3E}">
        <p14:creationId xmlns:p14="http://schemas.microsoft.com/office/powerpoint/2010/main" val="227282327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2A311F7-2D13-4C64-C047-151EBE0228EE}"/>
              </a:ext>
            </a:extLst>
          </p:cNvPr>
          <p:cNvSpPr txBox="1"/>
          <p:nvPr/>
        </p:nvSpPr>
        <p:spPr>
          <a:xfrm>
            <a:off x="325580" y="1679158"/>
            <a:ext cx="9862127" cy="317009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 altLang="ko-KR" b="0" dirty="0" err="1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router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beforeEach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to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,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from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,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next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=&gt;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{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Jetbrains Mono" panose="02000009000000000000" pitchFamily="49" charset="0"/>
              </a:rPr>
              <a:t>if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(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to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matched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some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record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=&gt;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record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meta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requiresAuth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)) {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Jetbrains Mono" panose="02000009000000000000" pitchFamily="49" charset="0"/>
              </a:rPr>
              <a:t>if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(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localStorage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getItem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'auth'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 ===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'true'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 {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next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();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}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Jetbrains Mono" panose="02000009000000000000" pitchFamily="49" charset="0"/>
              </a:rPr>
              <a:t>else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{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alert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로그인이 필요합니다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next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({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name: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'login'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});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}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}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Jetbrains Mono" panose="02000009000000000000" pitchFamily="49" charset="0"/>
              </a:rPr>
              <a:t>else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{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next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();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}</a:t>
            </a:r>
          </a:p>
          <a:p>
            <a:pPr>
              <a:lnSpc>
                <a:spcPts val="2025"/>
              </a:lnSpc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});</a:t>
            </a:r>
          </a:p>
        </p:txBody>
      </p:sp>
      <p:sp>
        <p:nvSpPr>
          <p:cNvPr id="5" name="사각형: 둥근 모서리 8">
            <a:extLst>
              <a:ext uri="{FF2B5EF4-FFF2-40B4-BE49-F238E27FC236}">
                <a16:creationId xmlns:a16="http://schemas.microsoft.com/office/drawing/2014/main" id="{B17F4156-10EA-BE35-20C1-4378030582A1}"/>
              </a:ext>
            </a:extLst>
          </p:cNvPr>
          <p:cNvSpPr/>
          <p:nvPr/>
        </p:nvSpPr>
        <p:spPr>
          <a:xfrm>
            <a:off x="6710363" y="2687782"/>
            <a:ext cx="5481638" cy="150004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이동하려는 </a:t>
            </a:r>
            <a:r>
              <a:rPr lang="ko-KR" altLang="en-US" sz="24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라우트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주소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가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en-US" altLang="ko-KR" sz="24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requiresAuth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옵션이 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true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로 설정 된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라우트면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해당 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if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문이 실행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7856C966-90A5-AC21-0DBF-348B78367BC3}"/>
              </a:ext>
            </a:extLst>
          </p:cNvPr>
          <p:cNvCxnSpPr>
            <a:cxnSpLocks/>
          </p:cNvCxnSpPr>
          <p:nvPr/>
        </p:nvCxnSpPr>
        <p:spPr>
          <a:xfrm>
            <a:off x="9014691" y="2115127"/>
            <a:ext cx="387927" cy="711200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B17F4156-10EA-BE35-20C1-4378030582A1}"/>
              </a:ext>
            </a:extLst>
          </p:cNvPr>
          <p:cNvSpPr/>
          <p:nvPr/>
        </p:nvSpPr>
        <p:spPr>
          <a:xfrm>
            <a:off x="4964545" y="4501442"/>
            <a:ext cx="5334000" cy="138200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Auth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인가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여부를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en-US" altLang="ko-KR" sz="24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localStorage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를 통해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저장할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예정이므로 해당 정보가 있는지 확인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7856C966-90A5-AC21-0DBF-348B78367BC3}"/>
              </a:ext>
            </a:extLst>
          </p:cNvPr>
          <p:cNvCxnSpPr>
            <a:cxnSpLocks/>
          </p:cNvCxnSpPr>
          <p:nvPr/>
        </p:nvCxnSpPr>
        <p:spPr>
          <a:xfrm>
            <a:off x="6022109" y="2530764"/>
            <a:ext cx="267855" cy="2161309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사각형: 둥근 모서리 8">
            <a:extLst>
              <a:ext uri="{FF2B5EF4-FFF2-40B4-BE49-F238E27FC236}">
                <a16:creationId xmlns:a16="http://schemas.microsoft.com/office/drawing/2014/main" id="{B17F4156-10EA-BE35-20C1-4378030582A1}"/>
              </a:ext>
            </a:extLst>
          </p:cNvPr>
          <p:cNvSpPr/>
          <p:nvPr/>
        </p:nvSpPr>
        <p:spPr>
          <a:xfrm>
            <a:off x="5689600" y="252943"/>
            <a:ext cx="6154737" cy="123260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라우트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요청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주소 변경 요청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 들어 왔을 때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무조건 먼저 실행되는 기능을 지정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7856C966-90A5-AC21-0DBF-348B78367BC3}"/>
              </a:ext>
            </a:extLst>
          </p:cNvPr>
          <p:cNvCxnSpPr>
            <a:cxnSpLocks/>
          </p:cNvCxnSpPr>
          <p:nvPr/>
        </p:nvCxnSpPr>
        <p:spPr>
          <a:xfrm flipV="1">
            <a:off x="2050473" y="895927"/>
            <a:ext cx="3851563" cy="720436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2842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14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96A3AD0-654A-43F9-FB02-15A06C3A9836}"/>
              </a:ext>
            </a:extLst>
          </p:cNvPr>
          <p:cNvSpPr txBox="1"/>
          <p:nvPr/>
        </p:nvSpPr>
        <p:spPr>
          <a:xfrm>
            <a:off x="150089" y="219049"/>
            <a:ext cx="9862127" cy="317009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 altLang="ko-KR" b="0" dirty="0" err="1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router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beforeEach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to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,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from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,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next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=&gt;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{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Jetbrains Mono" panose="02000009000000000000" pitchFamily="49" charset="0"/>
              </a:rPr>
              <a:t>if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(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to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matched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some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record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=&gt;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record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meta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requiresAuth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)) {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Jetbrains Mono" panose="02000009000000000000" pitchFamily="49" charset="0"/>
              </a:rPr>
              <a:t>if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(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localStorage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getItem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'auth'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 ===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'true'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 {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next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();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}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Jetbrains Mono" panose="02000009000000000000" pitchFamily="49" charset="0"/>
              </a:rPr>
              <a:t>else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{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alert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로그인이 필요합니다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next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({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name: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'login'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});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}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}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Jetbrains Mono" panose="02000009000000000000" pitchFamily="49" charset="0"/>
              </a:rPr>
              <a:t>else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{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next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();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}</a:t>
            </a:r>
          </a:p>
          <a:p>
            <a:pPr>
              <a:lnSpc>
                <a:spcPts val="2025"/>
              </a:lnSpc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});</a:t>
            </a:r>
          </a:p>
        </p:txBody>
      </p:sp>
      <p:sp>
        <p:nvSpPr>
          <p:cNvPr id="17" name="사각형: 둥근 모서리 8">
            <a:extLst>
              <a:ext uri="{FF2B5EF4-FFF2-40B4-BE49-F238E27FC236}">
                <a16:creationId xmlns:a16="http://schemas.microsoft.com/office/drawing/2014/main" id="{B17F4156-10EA-BE35-20C1-4378030582A1}"/>
              </a:ext>
            </a:extLst>
          </p:cNvPr>
          <p:cNvSpPr/>
          <p:nvPr/>
        </p:nvSpPr>
        <p:spPr>
          <a:xfrm>
            <a:off x="7490691" y="939788"/>
            <a:ext cx="4701309" cy="138200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localStorage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의 </a:t>
            </a:r>
            <a:r>
              <a:rPr lang="en-US" altLang="ko-KR" sz="24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auth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키의 값이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true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일 경우 로그인이 된 상태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7856C966-90A5-AC21-0DBF-348B78367BC3}"/>
              </a:ext>
            </a:extLst>
          </p:cNvPr>
          <p:cNvCxnSpPr>
            <a:cxnSpLocks/>
          </p:cNvCxnSpPr>
          <p:nvPr/>
        </p:nvCxnSpPr>
        <p:spPr>
          <a:xfrm>
            <a:off x="6323661" y="1126836"/>
            <a:ext cx="1397939" cy="277091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사각형: 둥근 모서리 8">
            <a:extLst>
              <a:ext uri="{FF2B5EF4-FFF2-40B4-BE49-F238E27FC236}">
                <a16:creationId xmlns:a16="http://schemas.microsoft.com/office/drawing/2014/main" id="{B17F4156-10EA-BE35-20C1-4378030582A1}"/>
              </a:ext>
            </a:extLst>
          </p:cNvPr>
          <p:cNvSpPr/>
          <p:nvPr/>
        </p:nvSpPr>
        <p:spPr>
          <a:xfrm>
            <a:off x="1287605" y="3179004"/>
            <a:ext cx="5334000" cy="138200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로그인이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안되었을 경우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alert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으로 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‘</a:t>
            </a:r>
            <a:r>
              <a:rPr lang="ko-KR" altLang="en-US" sz="24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로그인이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필요합니다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‘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를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띄우고 로그인 페이지로 보내기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7856C966-90A5-AC21-0DBF-348B78367BC3}"/>
              </a:ext>
            </a:extLst>
          </p:cNvPr>
          <p:cNvCxnSpPr>
            <a:cxnSpLocks/>
          </p:cNvCxnSpPr>
          <p:nvPr/>
        </p:nvCxnSpPr>
        <p:spPr>
          <a:xfrm>
            <a:off x="2807855" y="2078182"/>
            <a:ext cx="701963" cy="1209963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사각형: 둥근 모서리 8">
            <a:extLst>
              <a:ext uri="{FF2B5EF4-FFF2-40B4-BE49-F238E27FC236}">
                <a16:creationId xmlns:a16="http://schemas.microsoft.com/office/drawing/2014/main" id="{B17F4156-10EA-BE35-20C1-4378030582A1}"/>
              </a:ext>
            </a:extLst>
          </p:cNvPr>
          <p:cNvSpPr/>
          <p:nvPr/>
        </p:nvSpPr>
        <p:spPr>
          <a:xfrm>
            <a:off x="6858000" y="2517776"/>
            <a:ext cx="5334000" cy="138200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로그인이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되었을 경우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원래 주소 요청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(=</a:t>
            </a:r>
            <a:r>
              <a:rPr lang="ko-KR" altLang="en-US" sz="24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라우트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요청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대로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next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를 사용해서 보내주기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7856C966-90A5-AC21-0DBF-348B78367BC3}"/>
              </a:ext>
            </a:extLst>
          </p:cNvPr>
          <p:cNvCxnSpPr>
            <a:cxnSpLocks/>
          </p:cNvCxnSpPr>
          <p:nvPr/>
        </p:nvCxnSpPr>
        <p:spPr>
          <a:xfrm>
            <a:off x="2158638" y="1191491"/>
            <a:ext cx="4863992" cy="1469996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1261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0" grpId="0" animBg="1"/>
      <p:bldP spid="23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CD90F79-3EA8-C7D3-187A-657D9BEF77F5}"/>
              </a:ext>
            </a:extLst>
          </p:cNvPr>
          <p:cNvSpPr txBox="1"/>
          <p:nvPr/>
        </p:nvSpPr>
        <p:spPr>
          <a:xfrm>
            <a:off x="150089" y="3542744"/>
            <a:ext cx="9695875" cy="240065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 altLang="ko-KR" b="0" dirty="0" err="1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router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beforeEach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to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,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from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,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next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=&gt;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{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Jetbrains Mono" panose="02000009000000000000" pitchFamily="49" charset="0"/>
              </a:rPr>
              <a:t>if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(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to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matched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some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record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=&gt;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record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meta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requiresAuth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)) {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Jetbrains Mono" panose="02000009000000000000" pitchFamily="49" charset="0"/>
              </a:rPr>
              <a:t>if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(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localStorage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getItem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'auth'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 !==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'true'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 {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alert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로그인이 필요합니다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Jetbrains Mono" panose="02000009000000000000" pitchFamily="49" charset="0"/>
              </a:rPr>
              <a:t>return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next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({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name: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'login'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});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}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}</a:t>
            </a:r>
            <a:b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</a:b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next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();</a:t>
            </a:r>
          </a:p>
          <a:p>
            <a:pPr>
              <a:lnSpc>
                <a:spcPts val="2025"/>
              </a:lnSpc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});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F2750B-E858-D329-D17A-AB6982E144DF}"/>
              </a:ext>
            </a:extLst>
          </p:cNvPr>
          <p:cNvSpPr txBox="1"/>
          <p:nvPr/>
        </p:nvSpPr>
        <p:spPr>
          <a:xfrm>
            <a:off x="150089" y="145158"/>
            <a:ext cx="9695875" cy="317009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 altLang="ko-KR" b="0" dirty="0" err="1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router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beforeEach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to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,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from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,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next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=&gt;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{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Jetbrains Mono" panose="02000009000000000000" pitchFamily="49" charset="0"/>
              </a:rPr>
              <a:t>if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(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to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matched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some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record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=&gt;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record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meta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requiresAuth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)) {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Jetbrains Mono" panose="02000009000000000000" pitchFamily="49" charset="0"/>
              </a:rPr>
              <a:t>if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(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localStorage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getItem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'auth'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 ===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'true'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 {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next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();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}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Jetbrains Mono" panose="02000009000000000000" pitchFamily="49" charset="0"/>
              </a:rPr>
              <a:t>else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{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alert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로그인이 필요합니다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next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({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name: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'login'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});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}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}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Jetbrains Mono" panose="02000009000000000000" pitchFamily="49" charset="0"/>
              </a:rPr>
              <a:t>else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{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next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();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}</a:t>
            </a:r>
          </a:p>
          <a:p>
            <a:pPr>
              <a:lnSpc>
                <a:spcPts val="2025"/>
              </a:lnSpc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});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4107AF44-F22C-9E37-1797-B941D0216E14}"/>
              </a:ext>
            </a:extLst>
          </p:cNvPr>
          <p:cNvSpPr/>
          <p:nvPr/>
        </p:nvSpPr>
        <p:spPr>
          <a:xfrm>
            <a:off x="2749118" y="2483676"/>
            <a:ext cx="7096846" cy="83158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Early Return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적용 전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-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후 코드를 비교해 보세요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!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5C045B62-1980-82B0-3FFC-B63C31ACFBA4}"/>
              </a:ext>
            </a:extLst>
          </p:cNvPr>
          <p:cNvSpPr/>
          <p:nvPr/>
        </p:nvSpPr>
        <p:spPr>
          <a:xfrm>
            <a:off x="5945911" y="5046198"/>
            <a:ext cx="6096000" cy="138117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 algn="ctr">
              <a:buAutoNum type="arabicPeriod"/>
            </a:pP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코드 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12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줄 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  <a:sym typeface="Wingdings" panose="05000000000000000000" pitchFamily="2" charset="2"/>
              </a:rPr>
              <a:t>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9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줄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457200" indent="-457200" algn="ctr">
              <a:buAutoNum type="arabicPeriod"/>
            </a:pP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next()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호출 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3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회 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  <a:sym typeface="Wingdings" panose="05000000000000000000" pitchFamily="2" charset="2"/>
              </a:rPr>
              <a:t> 2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  <a:sym typeface="Wingdings" panose="05000000000000000000" pitchFamily="2" charset="2"/>
              </a:rPr>
              <a:t>회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34020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51A304-90D1-7EA9-EBAE-E5B3155D64CA}"/>
              </a:ext>
            </a:extLst>
          </p:cNvPr>
          <p:cNvSpPr txBox="1"/>
          <p:nvPr/>
        </p:nvSpPr>
        <p:spPr>
          <a:xfrm>
            <a:off x="0" y="0"/>
            <a:ext cx="12192000" cy="4311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9600" dirty="0" err="1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로그인이</a:t>
            </a:r>
            <a:r>
              <a:rPr lang="ko-KR" altLang="en-US" sz="960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성공에</a:t>
            </a:r>
            <a:endParaRPr lang="en-US" altLang="ko-KR" sz="9600" dirty="0">
              <a:solidFill>
                <a:srgbClr val="0070C0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960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대한 처리</a:t>
            </a:r>
          </a:p>
        </p:txBody>
      </p:sp>
    </p:spTree>
    <p:extLst>
      <p:ext uri="{BB962C8B-B14F-4D97-AF65-F5344CB8AC3E}">
        <p14:creationId xmlns:p14="http://schemas.microsoft.com/office/powerpoint/2010/main" val="106972077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1D97016-846E-9EBC-3309-340633C31B09}"/>
              </a:ext>
            </a:extLst>
          </p:cNvPr>
          <p:cNvSpPr txBox="1"/>
          <p:nvPr/>
        </p:nvSpPr>
        <p:spPr>
          <a:xfrm>
            <a:off x="85437" y="97954"/>
            <a:ext cx="10610272" cy="676082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async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function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login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() {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Jetbrains Mono" panose="02000009000000000000" pitchFamily="49" charset="0"/>
              </a:rPr>
              <a:t>try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{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const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 err="1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loginUrl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= </a:t>
            </a:r>
            <a:r>
              <a:rPr lang="en-US" altLang="ko-KR" b="0" dirty="0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BASE_URL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+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'/users'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/>
            </a:r>
            <a:b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</a:b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const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 err="1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loginRes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=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Jetbrains Mono" panose="02000009000000000000" pitchFamily="49" charset="0"/>
              </a:rPr>
              <a:t>await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 err="1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axios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get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en-US" altLang="ko-KR" b="0" dirty="0" err="1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loginUrl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const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 err="1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userArr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= </a:t>
            </a:r>
            <a:r>
              <a:rPr lang="en-US" altLang="ko-KR" b="0" dirty="0" err="1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loginRes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data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/>
            </a:r>
            <a:b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</a:b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const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 err="1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findUser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= </a:t>
            </a:r>
            <a:r>
              <a:rPr lang="en-US" altLang="ko-KR" b="0" dirty="0" err="1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userArr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find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function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item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,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index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 {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Jetbrains Mono" panose="02000009000000000000" pitchFamily="49" charset="0"/>
              </a:rPr>
              <a:t>return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item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id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=== </a:t>
            </a:r>
            <a:r>
              <a:rPr lang="en-US" altLang="ko-KR" b="0" dirty="0" err="1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userId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value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});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/>
            </a:r>
            <a:b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</a:b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Jetbrains Mono" panose="02000009000000000000" pitchFamily="49" charset="0"/>
              </a:rPr>
              <a:t>if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(</a:t>
            </a:r>
            <a:r>
              <a:rPr lang="en-US" altLang="ko-KR" b="0" dirty="0" err="1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findUser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===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undefined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Jetbrains Mono" panose="02000009000000000000" pitchFamily="49" charset="0"/>
              </a:rPr>
              <a:t>return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alert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해당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ID 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를 가지는 사용자가 존재하지 않습니다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.'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/>
            </a:r>
            <a:b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</a:b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Jetbrains Mono" panose="02000009000000000000" pitchFamily="49" charset="0"/>
              </a:rPr>
              <a:t>if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(</a:t>
            </a:r>
            <a:r>
              <a:rPr lang="en-US" altLang="ko-KR" b="0" dirty="0" err="1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findUser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password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!== </a:t>
            </a:r>
            <a:r>
              <a:rPr lang="en-US" altLang="ko-KR" b="0" dirty="0" err="1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userPassword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value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Jetbrains Mono" panose="02000009000000000000" pitchFamily="49" charset="0"/>
              </a:rPr>
              <a:t>return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alert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비밀번호가 일치하지 않습니다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.'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/>
            </a:r>
            <a:b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</a:b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localStorage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setItem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'auth'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,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'true'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alert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로그인 성공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!'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/>
            </a:r>
            <a:b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</a:b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Jetbrains Mono" panose="02000009000000000000" pitchFamily="49" charset="0"/>
              </a:rPr>
              <a:t>return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 err="1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router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push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({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name: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</a:t>
            </a:r>
            <a:r>
              <a:rPr lang="en-US" altLang="ko-KR" b="0" dirty="0" err="1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todo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});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}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Jetbrains Mono" panose="02000009000000000000" pitchFamily="49" charset="0"/>
              </a:rPr>
              <a:t>catch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 {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alert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로그인 통신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ERR 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발생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}</a:t>
            </a:r>
          </a:p>
          <a:p>
            <a:pPr>
              <a:lnSpc>
                <a:spcPts val="2025"/>
              </a:lnSpc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}</a:t>
            </a:r>
          </a:p>
        </p:txBody>
      </p:sp>
      <p:sp>
        <p:nvSpPr>
          <p:cNvPr id="5" name="사각형: 둥근 모서리 8">
            <a:extLst>
              <a:ext uri="{FF2B5EF4-FFF2-40B4-BE49-F238E27FC236}">
                <a16:creationId xmlns:a16="http://schemas.microsoft.com/office/drawing/2014/main" id="{B17F4156-10EA-BE35-20C1-4378030582A1}"/>
              </a:ext>
            </a:extLst>
          </p:cNvPr>
          <p:cNvSpPr/>
          <p:nvPr/>
        </p:nvSpPr>
        <p:spPr>
          <a:xfrm>
            <a:off x="6858000" y="1579357"/>
            <a:ext cx="5334000" cy="138200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로그인이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성공한 케이스이므로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en-US" altLang="ko-KR" sz="24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localStorage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의 </a:t>
            </a:r>
            <a:r>
              <a:rPr lang="en-US" altLang="ko-KR" sz="24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auth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에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true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값 저장하기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7856C966-90A5-AC21-0DBF-348B78367BC3}"/>
              </a:ext>
            </a:extLst>
          </p:cNvPr>
          <p:cNvCxnSpPr>
            <a:cxnSpLocks/>
          </p:cNvCxnSpPr>
          <p:nvPr/>
        </p:nvCxnSpPr>
        <p:spPr>
          <a:xfrm flipV="1">
            <a:off x="5938982" y="2632364"/>
            <a:ext cx="1300018" cy="1923202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사각형: 둥근 모서리 8">
            <a:extLst>
              <a:ext uri="{FF2B5EF4-FFF2-40B4-BE49-F238E27FC236}">
                <a16:creationId xmlns:a16="http://schemas.microsoft.com/office/drawing/2014/main" id="{B17F4156-10EA-BE35-20C1-4378030582A1}"/>
              </a:ext>
            </a:extLst>
          </p:cNvPr>
          <p:cNvSpPr/>
          <p:nvPr/>
        </p:nvSpPr>
        <p:spPr>
          <a:xfrm>
            <a:off x="6858000" y="4804770"/>
            <a:ext cx="5334000" cy="138200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router push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기능을 활용해서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name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 </a:t>
            </a:r>
            <a:r>
              <a:rPr lang="en-US" altLang="ko-KR" sz="24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todo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인 라우터로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주소 이동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!</a:t>
            </a: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7856C966-90A5-AC21-0DBF-348B78367BC3}"/>
              </a:ext>
            </a:extLst>
          </p:cNvPr>
          <p:cNvCxnSpPr>
            <a:cxnSpLocks/>
          </p:cNvCxnSpPr>
          <p:nvPr/>
        </p:nvCxnSpPr>
        <p:spPr>
          <a:xfrm flipV="1">
            <a:off x="5954569" y="5315587"/>
            <a:ext cx="1231900" cy="22747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2711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1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43" y="242778"/>
            <a:ext cx="7258803" cy="2500422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5FD3F419-98B3-5D61-97AE-3AEB10090E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743" y="2962114"/>
            <a:ext cx="7900730" cy="283255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7856C966-90A5-AC21-0DBF-348B78367BC3}"/>
              </a:ext>
            </a:extLst>
          </p:cNvPr>
          <p:cNvCxnSpPr>
            <a:cxnSpLocks/>
          </p:cNvCxnSpPr>
          <p:nvPr/>
        </p:nvCxnSpPr>
        <p:spPr>
          <a:xfrm flipH="1">
            <a:off x="4064000" y="2189018"/>
            <a:ext cx="2032000" cy="1514764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8315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51A304-90D1-7EA9-EBAE-E5B3155D64CA}"/>
              </a:ext>
            </a:extLst>
          </p:cNvPr>
          <p:cNvSpPr txBox="1"/>
          <p:nvPr/>
        </p:nvSpPr>
        <p:spPr>
          <a:xfrm>
            <a:off x="0" y="0"/>
            <a:ext cx="121920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960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로그아웃 기능</a:t>
            </a:r>
            <a:endParaRPr lang="en-US" altLang="ko-KR" sz="9600" dirty="0">
              <a:solidFill>
                <a:srgbClr val="0070C0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960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구현</a:t>
            </a:r>
          </a:p>
        </p:txBody>
      </p:sp>
    </p:spTree>
    <p:extLst>
      <p:ext uri="{BB962C8B-B14F-4D97-AF65-F5344CB8AC3E}">
        <p14:creationId xmlns:p14="http://schemas.microsoft.com/office/powerpoint/2010/main" val="352789783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42899" y="196066"/>
            <a:ext cx="8934451" cy="341632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dirty="0" err="1">
                <a:solidFill>
                  <a:srgbClr val="4FC1FF"/>
                </a:solidFill>
                <a:latin typeface="Jetbrains Mono" panose="02000009000000000000" pitchFamily="49" charset="0"/>
              </a:rPr>
              <a:t>router</a:t>
            </a:r>
            <a:r>
              <a:rPr lang="en-US" altLang="ko-KR" dirty="0" err="1">
                <a:solidFill>
                  <a:srgbClr val="D4D4D4"/>
                </a:solidFill>
                <a:latin typeface="Jetbrains Mono" panose="02000009000000000000" pitchFamily="49" charset="0"/>
              </a:rPr>
              <a:t>.</a:t>
            </a:r>
            <a:r>
              <a:rPr lang="en-US" altLang="ko-KR" dirty="0" err="1">
                <a:solidFill>
                  <a:srgbClr val="DCDCAA"/>
                </a:solidFill>
                <a:latin typeface="Jetbrains Mono" panose="02000009000000000000" pitchFamily="49" charset="0"/>
              </a:rPr>
              <a:t>beforeEach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((</a:t>
            </a:r>
            <a:r>
              <a:rPr lang="en-US" altLang="ko-KR" dirty="0">
                <a:solidFill>
                  <a:srgbClr val="9CDCFE"/>
                </a:solidFill>
                <a:latin typeface="Jetbrains Mono" panose="02000009000000000000" pitchFamily="49" charset="0"/>
              </a:rPr>
              <a:t>to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, </a:t>
            </a:r>
            <a:r>
              <a:rPr lang="en-US" altLang="ko-KR" dirty="0">
                <a:solidFill>
                  <a:srgbClr val="9CDCFE"/>
                </a:solidFill>
                <a:latin typeface="Jetbrains Mono" panose="02000009000000000000" pitchFamily="49" charset="0"/>
              </a:rPr>
              <a:t>from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, </a:t>
            </a:r>
            <a:r>
              <a:rPr lang="en-US" altLang="ko-KR" dirty="0">
                <a:solidFill>
                  <a:srgbClr val="DCDCAA"/>
                </a:solidFill>
                <a:latin typeface="Jetbrains Mono" panose="02000009000000000000" pitchFamily="49" charset="0"/>
              </a:rPr>
              <a:t>next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) </a:t>
            </a:r>
            <a:r>
              <a:rPr lang="en-US" altLang="ko-KR" dirty="0">
                <a:solidFill>
                  <a:srgbClr val="569CD6"/>
                </a:solidFill>
                <a:latin typeface="Jetbrains Mono" panose="02000009000000000000" pitchFamily="49" charset="0"/>
              </a:rPr>
              <a:t>=&gt;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 {</a:t>
            </a:r>
          </a:p>
          <a:p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  </a:t>
            </a:r>
            <a:r>
              <a:rPr lang="en-US" altLang="ko-KR" dirty="0">
                <a:solidFill>
                  <a:srgbClr val="C586C0"/>
                </a:solidFill>
                <a:latin typeface="Jetbrains Mono" panose="02000009000000000000" pitchFamily="49" charset="0"/>
              </a:rPr>
              <a:t>if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 (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00009000000000000" pitchFamily="49" charset="0"/>
              </a:rPr>
              <a:t>to</a:t>
            </a:r>
            <a:r>
              <a:rPr lang="en-US" altLang="ko-KR" dirty="0" err="1">
                <a:solidFill>
                  <a:srgbClr val="D4D4D4"/>
                </a:solidFill>
                <a:latin typeface="Jetbrains Mono" panose="02000009000000000000" pitchFamily="49" charset="0"/>
              </a:rPr>
              <a:t>.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00009000000000000" pitchFamily="49" charset="0"/>
              </a:rPr>
              <a:t>matched</a:t>
            </a:r>
            <a:r>
              <a:rPr lang="en-US" altLang="ko-KR" dirty="0" err="1">
                <a:solidFill>
                  <a:srgbClr val="D4D4D4"/>
                </a:solidFill>
                <a:latin typeface="Jetbrains Mono" panose="02000009000000000000" pitchFamily="49" charset="0"/>
              </a:rPr>
              <a:t>.</a:t>
            </a:r>
            <a:r>
              <a:rPr lang="en-US" altLang="ko-KR" dirty="0" err="1">
                <a:solidFill>
                  <a:srgbClr val="DCDCAA"/>
                </a:solidFill>
                <a:latin typeface="Jetbrains Mono" panose="02000009000000000000" pitchFamily="49" charset="0"/>
              </a:rPr>
              <a:t>some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((</a:t>
            </a:r>
            <a:r>
              <a:rPr lang="en-US" altLang="ko-KR" dirty="0">
                <a:solidFill>
                  <a:srgbClr val="9CDCFE"/>
                </a:solidFill>
                <a:latin typeface="Jetbrains Mono" panose="02000009000000000000" pitchFamily="49" charset="0"/>
              </a:rPr>
              <a:t>record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) </a:t>
            </a:r>
            <a:r>
              <a:rPr lang="en-US" altLang="ko-KR" dirty="0">
                <a:solidFill>
                  <a:srgbClr val="569CD6"/>
                </a:solidFill>
                <a:latin typeface="Jetbrains Mono" panose="02000009000000000000" pitchFamily="49" charset="0"/>
              </a:rPr>
              <a:t>=&gt;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 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00009000000000000" pitchFamily="49" charset="0"/>
              </a:rPr>
              <a:t>record</a:t>
            </a:r>
            <a:r>
              <a:rPr lang="en-US" altLang="ko-KR" dirty="0" err="1">
                <a:solidFill>
                  <a:srgbClr val="D4D4D4"/>
                </a:solidFill>
                <a:latin typeface="Jetbrains Mono" panose="02000009000000000000" pitchFamily="49" charset="0"/>
              </a:rPr>
              <a:t>.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00009000000000000" pitchFamily="49" charset="0"/>
              </a:rPr>
              <a:t>meta</a:t>
            </a:r>
            <a:r>
              <a:rPr lang="en-US" altLang="ko-KR" dirty="0" err="1">
                <a:solidFill>
                  <a:srgbClr val="D4D4D4"/>
                </a:solidFill>
                <a:latin typeface="Jetbrains Mono" panose="02000009000000000000" pitchFamily="49" charset="0"/>
              </a:rPr>
              <a:t>.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00009000000000000" pitchFamily="49" charset="0"/>
              </a:rPr>
              <a:t>requiresAuth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)) {</a:t>
            </a:r>
          </a:p>
          <a:p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    </a:t>
            </a:r>
            <a:r>
              <a:rPr lang="en-US" altLang="ko-KR" dirty="0">
                <a:solidFill>
                  <a:srgbClr val="C586C0"/>
                </a:solidFill>
                <a:latin typeface="Jetbrains Mono" panose="02000009000000000000" pitchFamily="49" charset="0"/>
              </a:rPr>
              <a:t>if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 (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00009000000000000" pitchFamily="49" charset="0"/>
              </a:rPr>
              <a:t>localStorage</a:t>
            </a:r>
            <a:r>
              <a:rPr lang="en-US" altLang="ko-KR" dirty="0" err="1">
                <a:solidFill>
                  <a:srgbClr val="D4D4D4"/>
                </a:solidFill>
                <a:latin typeface="Jetbrains Mono" panose="02000009000000000000" pitchFamily="49" charset="0"/>
              </a:rPr>
              <a:t>.</a:t>
            </a:r>
            <a:r>
              <a:rPr lang="en-US" altLang="ko-KR" dirty="0" err="1">
                <a:solidFill>
                  <a:srgbClr val="DCDCAA"/>
                </a:solidFill>
                <a:latin typeface="Jetbrains Mono" panose="02000009000000000000" pitchFamily="49" charset="0"/>
              </a:rPr>
              <a:t>getItem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(</a:t>
            </a:r>
            <a:r>
              <a:rPr lang="en-US" altLang="ko-KR" dirty="0">
                <a:solidFill>
                  <a:srgbClr val="CE9178"/>
                </a:solidFill>
                <a:latin typeface="Jetbrains Mono" panose="02000009000000000000" pitchFamily="49" charset="0"/>
              </a:rPr>
              <a:t>'</a:t>
            </a:r>
            <a:r>
              <a:rPr lang="en-US" altLang="ko-KR" dirty="0" err="1">
                <a:solidFill>
                  <a:srgbClr val="CE9178"/>
                </a:solidFill>
                <a:latin typeface="Jetbrains Mono" panose="02000009000000000000" pitchFamily="49" charset="0"/>
              </a:rPr>
              <a:t>auth</a:t>
            </a:r>
            <a:r>
              <a:rPr lang="en-US" altLang="ko-KR" dirty="0">
                <a:solidFill>
                  <a:srgbClr val="CE9178"/>
                </a:solidFill>
                <a:latin typeface="Jetbrains Mono" panose="02000009000000000000" pitchFamily="49" charset="0"/>
              </a:rPr>
              <a:t>'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) !== </a:t>
            </a:r>
            <a:r>
              <a:rPr lang="en-US" altLang="ko-KR" dirty="0">
                <a:solidFill>
                  <a:srgbClr val="CE9178"/>
                </a:solidFill>
                <a:latin typeface="Jetbrains Mono" panose="02000009000000000000" pitchFamily="49" charset="0"/>
              </a:rPr>
              <a:t>'true'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) {</a:t>
            </a:r>
          </a:p>
          <a:p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      </a:t>
            </a:r>
            <a:r>
              <a:rPr lang="en-US" altLang="ko-KR" dirty="0">
                <a:solidFill>
                  <a:srgbClr val="DCDCAA"/>
                </a:solidFill>
                <a:latin typeface="Jetbrains Mono" panose="02000009000000000000" pitchFamily="49" charset="0"/>
              </a:rPr>
              <a:t>alert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(</a:t>
            </a:r>
            <a:r>
              <a:rPr lang="en-US" altLang="ko-KR" dirty="0">
                <a:solidFill>
                  <a:srgbClr val="CE9178"/>
                </a:solidFill>
                <a:latin typeface="Jetbrains Mono" panose="02000009000000000000" pitchFamily="49" charset="0"/>
              </a:rPr>
              <a:t>'</a:t>
            </a:r>
            <a:r>
              <a:rPr lang="ko-KR" altLang="en-US" dirty="0" err="1">
                <a:solidFill>
                  <a:srgbClr val="CE9178"/>
                </a:solidFill>
                <a:latin typeface="Jetbrains Mono" panose="02000009000000000000" pitchFamily="49" charset="0"/>
              </a:rPr>
              <a:t>로그인이</a:t>
            </a:r>
            <a:r>
              <a:rPr lang="ko-KR" altLang="en-US" dirty="0">
                <a:solidFill>
                  <a:srgbClr val="CE9178"/>
                </a:solidFill>
                <a:latin typeface="Jetbrains Mono" panose="02000009000000000000" pitchFamily="49" charset="0"/>
              </a:rPr>
              <a:t> 필요합니다</a:t>
            </a:r>
            <a:r>
              <a:rPr lang="en-US" altLang="ko-KR" dirty="0">
                <a:solidFill>
                  <a:srgbClr val="CE9178"/>
                </a:solidFill>
                <a:latin typeface="Jetbrains Mono" panose="02000009000000000000" pitchFamily="49" charset="0"/>
              </a:rPr>
              <a:t>'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);</a:t>
            </a:r>
          </a:p>
          <a:p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      </a:t>
            </a:r>
            <a:r>
              <a:rPr lang="en-US" altLang="ko-KR" dirty="0">
                <a:solidFill>
                  <a:srgbClr val="DCDCAA"/>
                </a:solidFill>
                <a:latin typeface="Jetbrains Mono" panose="02000009000000000000" pitchFamily="49" charset="0"/>
              </a:rPr>
              <a:t>next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({ </a:t>
            </a:r>
            <a:r>
              <a:rPr lang="en-US" altLang="ko-KR" dirty="0">
                <a:solidFill>
                  <a:srgbClr val="9CDCFE"/>
                </a:solidFill>
                <a:latin typeface="Jetbrains Mono" panose="02000009000000000000" pitchFamily="49" charset="0"/>
              </a:rPr>
              <a:t>name: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 </a:t>
            </a:r>
            <a:r>
              <a:rPr lang="en-US" altLang="ko-KR" dirty="0">
                <a:solidFill>
                  <a:srgbClr val="CE9178"/>
                </a:solidFill>
                <a:latin typeface="Jetbrains Mono" panose="02000009000000000000" pitchFamily="49" charset="0"/>
              </a:rPr>
              <a:t>'Login'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 });</a:t>
            </a:r>
          </a:p>
          <a:p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    } </a:t>
            </a:r>
            <a:r>
              <a:rPr lang="en-US" altLang="ko-KR" dirty="0">
                <a:solidFill>
                  <a:srgbClr val="C586C0"/>
                </a:solidFill>
                <a:latin typeface="Jetbrains Mono" panose="02000009000000000000" pitchFamily="49" charset="0"/>
              </a:rPr>
              <a:t>else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 {</a:t>
            </a:r>
          </a:p>
          <a:p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      </a:t>
            </a:r>
            <a:r>
              <a:rPr lang="en-US" altLang="ko-KR" dirty="0">
                <a:solidFill>
                  <a:srgbClr val="DCDCAA"/>
                </a:solidFill>
                <a:latin typeface="Jetbrains Mono" panose="02000009000000000000" pitchFamily="49" charset="0"/>
              </a:rPr>
              <a:t>next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();</a:t>
            </a:r>
          </a:p>
          <a:p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    }</a:t>
            </a:r>
          </a:p>
          <a:p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  } </a:t>
            </a:r>
            <a:r>
              <a:rPr lang="en-US" altLang="ko-KR" dirty="0">
                <a:solidFill>
                  <a:srgbClr val="C586C0"/>
                </a:solidFill>
                <a:latin typeface="Jetbrains Mono" panose="02000009000000000000" pitchFamily="49" charset="0"/>
              </a:rPr>
              <a:t>else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 {</a:t>
            </a:r>
          </a:p>
          <a:p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    </a:t>
            </a:r>
            <a:r>
              <a:rPr lang="en-US" altLang="ko-KR" dirty="0">
                <a:solidFill>
                  <a:srgbClr val="DCDCAA"/>
                </a:solidFill>
                <a:latin typeface="Jetbrains Mono" panose="02000009000000000000" pitchFamily="49" charset="0"/>
              </a:rPr>
              <a:t>next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();</a:t>
            </a:r>
          </a:p>
          <a:p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  }</a:t>
            </a:r>
          </a:p>
          <a:p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});</a:t>
            </a:r>
            <a:endParaRPr lang="en-US" altLang="ko-KR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</p:txBody>
      </p:sp>
      <p:sp>
        <p:nvSpPr>
          <p:cNvPr id="17" name="사각형: 둥근 모서리 8">
            <a:extLst>
              <a:ext uri="{FF2B5EF4-FFF2-40B4-BE49-F238E27FC236}">
                <a16:creationId xmlns:a16="http://schemas.microsoft.com/office/drawing/2014/main" id="{B17F4156-10EA-BE35-20C1-4378030582A1}"/>
              </a:ext>
            </a:extLst>
          </p:cNvPr>
          <p:cNvSpPr/>
          <p:nvPr/>
        </p:nvSpPr>
        <p:spPr>
          <a:xfrm>
            <a:off x="6858000" y="1493787"/>
            <a:ext cx="5334000" cy="211859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로그인 여부는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en-US" altLang="ko-KR" sz="24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localStorage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의 </a:t>
            </a:r>
            <a:r>
              <a:rPr lang="en-US" altLang="ko-KR" sz="24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auth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의 값에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따라 결정 되므로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!</a:t>
            </a:r>
          </a:p>
          <a:p>
            <a:pPr algn="ctr"/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저거만 지워주면 끝입니다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!!</a:t>
            </a: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7856C966-90A5-AC21-0DBF-348B78367BC3}"/>
              </a:ext>
            </a:extLst>
          </p:cNvPr>
          <p:cNvCxnSpPr>
            <a:cxnSpLocks/>
          </p:cNvCxnSpPr>
          <p:nvPr/>
        </p:nvCxnSpPr>
        <p:spPr>
          <a:xfrm>
            <a:off x="6086475" y="1117247"/>
            <a:ext cx="1152525" cy="692503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5810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292100" y="276136"/>
            <a:ext cx="6096000" cy="120032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>
            <a:spAutoFit/>
          </a:bodyPr>
          <a:lstStyle/>
          <a:p>
            <a:r>
              <a:rPr lang="en-US" altLang="ko-KR" dirty="0">
                <a:solidFill>
                  <a:srgbClr val="569CD6"/>
                </a:solidFill>
                <a:latin typeface="Jetbrains Mono" panose="02000009000000000000" pitchFamily="49" charset="0"/>
              </a:rPr>
              <a:t>function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 </a:t>
            </a:r>
            <a:r>
              <a:rPr lang="en-US" altLang="ko-KR" dirty="0">
                <a:solidFill>
                  <a:srgbClr val="DCDCAA"/>
                </a:solidFill>
                <a:latin typeface="Jetbrains Mono" panose="02000009000000000000" pitchFamily="49" charset="0"/>
              </a:rPr>
              <a:t>logout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() {</a:t>
            </a:r>
          </a:p>
          <a:p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  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00009000000000000" pitchFamily="49" charset="0"/>
              </a:rPr>
              <a:t>localStorage</a:t>
            </a:r>
            <a:r>
              <a:rPr lang="en-US" altLang="ko-KR" dirty="0" err="1">
                <a:solidFill>
                  <a:srgbClr val="D4D4D4"/>
                </a:solidFill>
                <a:latin typeface="Jetbrains Mono" panose="02000009000000000000" pitchFamily="49" charset="0"/>
              </a:rPr>
              <a:t>.</a:t>
            </a:r>
            <a:r>
              <a:rPr lang="en-US" altLang="ko-KR" dirty="0" err="1">
                <a:solidFill>
                  <a:srgbClr val="DCDCAA"/>
                </a:solidFill>
                <a:latin typeface="Jetbrains Mono" panose="02000009000000000000" pitchFamily="49" charset="0"/>
              </a:rPr>
              <a:t>removeItem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(</a:t>
            </a:r>
            <a:r>
              <a:rPr lang="en-US" altLang="ko-KR" dirty="0">
                <a:solidFill>
                  <a:srgbClr val="CE9178"/>
                </a:solidFill>
                <a:latin typeface="Jetbrains Mono" panose="02000009000000000000" pitchFamily="49" charset="0"/>
              </a:rPr>
              <a:t>'</a:t>
            </a:r>
            <a:r>
              <a:rPr lang="en-US" altLang="ko-KR" dirty="0" err="1">
                <a:solidFill>
                  <a:srgbClr val="CE9178"/>
                </a:solidFill>
                <a:latin typeface="Jetbrains Mono" panose="02000009000000000000" pitchFamily="49" charset="0"/>
              </a:rPr>
              <a:t>auth</a:t>
            </a:r>
            <a:r>
              <a:rPr lang="en-US" altLang="ko-KR" dirty="0">
                <a:solidFill>
                  <a:srgbClr val="CE9178"/>
                </a:solidFill>
                <a:latin typeface="Jetbrains Mono" panose="02000009000000000000" pitchFamily="49" charset="0"/>
              </a:rPr>
              <a:t>'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);</a:t>
            </a:r>
          </a:p>
          <a:p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  </a:t>
            </a:r>
            <a:r>
              <a:rPr lang="en-US" altLang="ko-KR" dirty="0">
                <a:solidFill>
                  <a:srgbClr val="C586C0"/>
                </a:solidFill>
                <a:latin typeface="Jetbrains Mono" panose="02000009000000000000" pitchFamily="49" charset="0"/>
              </a:rPr>
              <a:t>return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 </a:t>
            </a:r>
            <a:r>
              <a:rPr lang="en-US" altLang="ko-KR" dirty="0">
                <a:solidFill>
                  <a:srgbClr val="DCDCAA"/>
                </a:solidFill>
                <a:latin typeface="Jetbrains Mono" panose="02000009000000000000" pitchFamily="49" charset="0"/>
              </a:rPr>
              <a:t>alert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(</a:t>
            </a:r>
            <a:r>
              <a:rPr lang="en-US" altLang="ko-KR" dirty="0">
                <a:solidFill>
                  <a:srgbClr val="CE9178"/>
                </a:solidFill>
                <a:latin typeface="Jetbrains Mono" panose="02000009000000000000" pitchFamily="49" charset="0"/>
              </a:rPr>
              <a:t>'</a:t>
            </a:r>
            <a:r>
              <a:rPr lang="ko-KR" altLang="en-US" dirty="0">
                <a:solidFill>
                  <a:srgbClr val="CE9178"/>
                </a:solidFill>
                <a:latin typeface="Jetbrains Mono" panose="02000009000000000000" pitchFamily="49" charset="0"/>
              </a:rPr>
              <a:t>로그아웃 완료</a:t>
            </a:r>
            <a:r>
              <a:rPr lang="en-US" altLang="ko-KR" dirty="0">
                <a:solidFill>
                  <a:srgbClr val="CE9178"/>
                </a:solidFill>
                <a:latin typeface="Jetbrains Mono" panose="02000009000000000000" pitchFamily="49" charset="0"/>
              </a:rPr>
              <a:t>!'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);</a:t>
            </a:r>
          </a:p>
          <a:p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}</a:t>
            </a:r>
            <a:endParaRPr lang="en-US" altLang="ko-KR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099" y="1717567"/>
            <a:ext cx="5292367" cy="1863833"/>
          </a:xfrm>
          <a:prstGeom prst="rect">
            <a:avLst/>
          </a:prstGeom>
          <a:ln>
            <a:solidFill>
              <a:srgbClr val="0070C0"/>
            </a:solidFill>
          </a:ln>
        </p:spPr>
      </p:pic>
    </p:spTree>
    <p:extLst>
      <p:ext uri="{BB962C8B-B14F-4D97-AF65-F5344CB8AC3E}">
        <p14:creationId xmlns:p14="http://schemas.microsoft.com/office/powerpoint/2010/main" val="135492141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r="40335"/>
          <a:stretch/>
        </p:blipFill>
        <p:spPr>
          <a:xfrm>
            <a:off x="227803" y="218850"/>
            <a:ext cx="6820698" cy="3219899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803" y="218849"/>
            <a:ext cx="11431595" cy="3219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775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박수 짤 &gt; 짤톡 | 파일톡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4238" y="126999"/>
            <a:ext cx="7883525" cy="6536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6731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11254</TotalTime>
  <Words>832</Words>
  <Application>Microsoft Office PowerPoint</Application>
  <PresentationFormat>와이드스크린</PresentationFormat>
  <Paragraphs>476</Paragraphs>
  <Slides>58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58</vt:i4>
      </vt:variant>
    </vt:vector>
  </HeadingPairs>
  <TitlesOfParts>
    <vt:vector size="68" baseType="lpstr">
      <vt:lpstr>JetBrains Mono</vt:lpstr>
      <vt:lpstr>Wingdings</vt:lpstr>
      <vt:lpstr>Calibri</vt:lpstr>
      <vt:lpstr>Consolas</vt:lpstr>
      <vt:lpstr>맑은 고딕</vt:lpstr>
      <vt:lpstr>나눔스퀘어 ExtraBold</vt:lpstr>
      <vt:lpstr>Arial</vt:lpstr>
      <vt:lpstr>나눔스퀘어 Bold</vt:lpstr>
      <vt:lpstr>JetBrains Mono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LocalStorage</vt:lpstr>
      <vt:lpstr>LocalStorage 기능</vt:lpstr>
      <vt:lpstr>LocalStorage 에 값 저장하기!</vt:lpstr>
      <vt:lpstr>LocalStorage 의 값 불러오기</vt:lpstr>
      <vt:lpstr>하지만 우리는 Vue 를 쓰고 있죠!?</vt:lpstr>
      <vt:lpstr>PowerPoint 프레젠테이션</vt:lpstr>
      <vt:lpstr>LocalStorage 에 다른 키 추가하기!</vt:lpstr>
      <vt:lpstr>LocalStorage 에 특정 키 삭제하기!</vt:lpstr>
      <vt:lpstr>LocalStorage 전체 삭제하기!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실습, todo 페이지에 서버 todo 목록 출력 하기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157</dc:creator>
  <cp:lastModifiedBy>student</cp:lastModifiedBy>
  <cp:revision>1583</cp:revision>
  <dcterms:created xsi:type="dcterms:W3CDTF">2022-05-29T13:34:07Z</dcterms:created>
  <dcterms:modified xsi:type="dcterms:W3CDTF">2025-04-03T08:19:01Z</dcterms:modified>
</cp:coreProperties>
</file>