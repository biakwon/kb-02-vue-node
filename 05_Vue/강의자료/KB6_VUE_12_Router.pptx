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1"/>
  </p:notesMasterIdLst>
  <p:sldIdLst>
    <p:sldId id="4338" r:id="rId2"/>
    <p:sldId id="4473" r:id="rId3"/>
    <p:sldId id="4485" r:id="rId4"/>
    <p:sldId id="4484" r:id="rId5"/>
    <p:sldId id="4486" r:id="rId6"/>
    <p:sldId id="4489" r:id="rId7"/>
    <p:sldId id="4490" r:id="rId8"/>
    <p:sldId id="4488" r:id="rId9"/>
    <p:sldId id="4503" r:id="rId10"/>
    <p:sldId id="4493" r:id="rId11"/>
    <p:sldId id="4492" r:id="rId12"/>
    <p:sldId id="4418" r:id="rId13"/>
    <p:sldId id="4420" r:id="rId14"/>
    <p:sldId id="4422" r:id="rId15"/>
    <p:sldId id="4494" r:id="rId16"/>
    <p:sldId id="4495" r:id="rId17"/>
    <p:sldId id="4423" r:id="rId18"/>
    <p:sldId id="4424" r:id="rId19"/>
    <p:sldId id="4074" r:id="rId20"/>
    <p:sldId id="4076" r:id="rId21"/>
    <p:sldId id="4136" r:id="rId22"/>
    <p:sldId id="4906" r:id="rId23"/>
    <p:sldId id="4487" r:id="rId24"/>
    <p:sldId id="4496" r:id="rId25"/>
    <p:sldId id="4436" r:id="rId26"/>
    <p:sldId id="4437" r:id="rId27"/>
    <p:sldId id="4497" r:id="rId28"/>
    <p:sldId id="4504" r:id="rId29"/>
    <p:sldId id="4907" r:id="rId30"/>
    <p:sldId id="4499" r:id="rId31"/>
    <p:sldId id="4500" r:id="rId32"/>
    <p:sldId id="4501" r:id="rId33"/>
    <p:sldId id="4502" r:id="rId34"/>
    <p:sldId id="4505" r:id="rId35"/>
    <p:sldId id="4506" r:id="rId36"/>
    <p:sldId id="4908" r:id="rId37"/>
    <p:sldId id="4909" r:id="rId38"/>
    <p:sldId id="4511" r:id="rId39"/>
    <p:sldId id="4910" r:id="rId40"/>
    <p:sldId id="4512" r:id="rId41"/>
    <p:sldId id="4513" r:id="rId42"/>
    <p:sldId id="4510" r:id="rId43"/>
    <p:sldId id="4911" r:id="rId44"/>
    <p:sldId id="4912" r:id="rId45"/>
    <p:sldId id="4913" r:id="rId46"/>
    <p:sldId id="4514" r:id="rId47"/>
    <p:sldId id="4914" r:id="rId48"/>
    <p:sldId id="4515" r:id="rId49"/>
    <p:sldId id="4516" r:id="rId50"/>
    <p:sldId id="4925" r:id="rId51"/>
    <p:sldId id="4926" r:id="rId52"/>
    <p:sldId id="4928" r:id="rId53"/>
    <p:sldId id="4927" r:id="rId54"/>
    <p:sldId id="4929" r:id="rId55"/>
    <p:sldId id="4521" r:id="rId56"/>
    <p:sldId id="4522" r:id="rId57"/>
    <p:sldId id="4528" r:id="rId58"/>
    <p:sldId id="4523" r:id="rId59"/>
    <p:sldId id="4524" r:id="rId60"/>
    <p:sldId id="4525" r:id="rId61"/>
    <p:sldId id="4533" r:id="rId62"/>
    <p:sldId id="4526" r:id="rId63"/>
    <p:sldId id="4532" r:id="rId64"/>
    <p:sldId id="4527" r:id="rId65"/>
    <p:sldId id="4534" r:id="rId66"/>
    <p:sldId id="4529" r:id="rId67"/>
    <p:sldId id="4530" r:id="rId68"/>
    <p:sldId id="4531" r:id="rId69"/>
    <p:sldId id="4535" r:id="rId70"/>
    <p:sldId id="4540" r:id="rId71"/>
    <p:sldId id="4149" r:id="rId72"/>
    <p:sldId id="4274" r:id="rId73"/>
    <p:sldId id="4542" r:id="rId74"/>
    <p:sldId id="4151" r:id="rId75"/>
    <p:sldId id="4905" r:id="rId76"/>
    <p:sldId id="4152" r:id="rId77"/>
    <p:sldId id="4275" r:id="rId78"/>
    <p:sldId id="4904" r:id="rId79"/>
    <p:sldId id="4276" r:id="rId80"/>
  </p:sldIdLst>
  <p:sldSz cx="12192000" cy="6858000"/>
  <p:notesSz cx="6858000" cy="9144000"/>
  <p:embeddedFontLst>
    <p:embeddedFont>
      <p:font typeface="나눔스퀘어 Bold" panose="020B0600000101010101" pitchFamily="50" charset="-127"/>
      <p:bold r:id="rId82"/>
    </p:embeddedFont>
    <p:embeddedFont>
      <p:font typeface="Jetbrains Mono" panose="020B0509020102050004" pitchFamily="49" charset="0"/>
      <p:regular r:id="rId83"/>
      <p:bold r:id="rId84"/>
    </p:embeddedFont>
    <p:embeddedFont>
      <p:font typeface="나눔스퀘어 ExtraBold" panose="020B0600000101010101" pitchFamily="50" charset="-127"/>
      <p:bold r:id="rId85"/>
    </p:embeddedFont>
    <p:embeddedFont>
      <p:font typeface="맑은 고딕" panose="020B0503020000020004" pitchFamily="50" charset="-127"/>
      <p:regular r:id="rId86"/>
      <p:bold r:id="rId87"/>
    </p:embeddedFont>
    <p:embeddedFont>
      <p:font typeface="Calibri" panose="020F0502020204030204" pitchFamily="34" charset="0"/>
      <p:regular r:id="rId88"/>
      <p:bold r:id="rId89"/>
      <p:italic r:id="rId90"/>
      <p:boldItalic r:id="rId91"/>
    </p:embeddedFont>
    <p:embeddedFont>
      <p:font typeface="Jetbrains Mono" panose="020B0509020102050004" pitchFamily="49" charset="0"/>
      <p:regular r:id="rId83"/>
      <p:bold r:id="rId8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B883"/>
    <a:srgbClr val="1E1E1E"/>
    <a:srgbClr val="36546D"/>
    <a:srgbClr val="FDFFFE"/>
    <a:srgbClr val="7EFF80"/>
    <a:srgbClr val="FEFF7F"/>
    <a:srgbClr val="000072"/>
    <a:srgbClr val="FEFEFE"/>
    <a:srgbClr val="0741E6"/>
    <a:srgbClr val="6236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68" autoAdjust="0"/>
    <p:restoredTop sz="94665" autoAdjust="0"/>
  </p:normalViewPr>
  <p:slideViewPr>
    <p:cSldViewPr snapToGrid="0">
      <p:cViewPr>
        <p:scale>
          <a:sx n="66" d="100"/>
          <a:sy n="66" d="100"/>
        </p:scale>
        <p:origin x="792" y="44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3.fntdata"/><Relationship Id="rId89" Type="http://schemas.openxmlformats.org/officeDocument/2006/relationships/font" Target="fonts/font8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font" Target="fonts/font9.fntdata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font" Target="fonts/font4.fntdata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2.fntdata"/><Relationship Id="rId88" Type="http://schemas.openxmlformats.org/officeDocument/2006/relationships/font" Target="fonts/font7.fntdata"/><Relationship Id="rId91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86" Type="http://schemas.openxmlformats.org/officeDocument/2006/relationships/font" Target="fonts/font5.fntdata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6.fntdata"/><Relationship Id="rId61" Type="http://schemas.openxmlformats.org/officeDocument/2006/relationships/slide" Target="slides/slide60.xml"/><Relationship Id="rId82" Type="http://schemas.openxmlformats.org/officeDocument/2006/relationships/font" Target="fonts/font1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C69E39-999D-5B4A-986F-FF43A57A78CE}" type="datetimeFigureOut">
              <a:rPr kumimoji="1" lang="ko-Kore-KR" altLang="en-US" smtClean="0"/>
              <a:t>03/28/2025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96F2B5-E9AF-9D40-A629-A66BB45D84D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42473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59A215-9F2D-2814-C334-CB5E0497A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EC12D50-EEB2-BBC4-5DFB-EA953F269B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A203FC-F5DC-9FC8-9C80-3B7659E3F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46959-3755-42C6-A836-92F078C95403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4C1B3B-8370-8842-E0AB-ACED59012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E5F6C7-A015-92EB-442F-8E30FE182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5438-D7DA-4C1D-9B84-25AD91F66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306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3C99DC-7560-0D31-5E87-1B07C408F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88" y="2828"/>
            <a:ext cx="11260802" cy="1325563"/>
          </a:xfrm>
        </p:spPr>
        <p:txBody>
          <a:bodyPr/>
          <a:lstStyle>
            <a:lvl1pPr>
              <a:defRPr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687C90-77FA-A4F1-E534-2262CF4FB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0"/>
            <a:ext cx="11260802" cy="5529609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lnSpc>
                <a:spcPct val="150000"/>
              </a:lnSpc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2pPr>
            <a:lvl3pPr>
              <a:lnSpc>
                <a:spcPct val="150000"/>
              </a:lnSpc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3pPr>
            <a:lvl4pPr>
              <a:lnSpc>
                <a:spcPct val="150000"/>
              </a:lnSpc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4pPr>
            <a:lvl5pPr>
              <a:lnSpc>
                <a:spcPct val="150000"/>
              </a:lnSpc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DF13712-F9A9-C10D-82CE-69F09CDB28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1130"/>
          <a:stretch/>
        </p:blipFill>
        <p:spPr>
          <a:xfrm>
            <a:off x="11026588" y="0"/>
            <a:ext cx="1165412" cy="83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134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A25ED7-0633-6679-B353-4BF85A809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42F748-DF81-9C59-A6D0-05652024E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5B245F-7889-658E-709B-863F596B3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FCF46959-3755-42C6-A836-92F078C95403}" type="datetimeFigureOut">
              <a:rPr lang="ko-KR" altLang="en-US" smtClean="0"/>
              <a:pPr/>
              <a:t>2025-03-28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B84671-432A-65AB-BBFF-27F7A1528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5110BD-F9F5-DBC6-7DE2-172487974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47BF5438-D7DA-4C1D-9B84-25AD91F66EB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67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071DE9-CD57-0979-FEB8-0433D68A5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EA8A1E-A09E-E576-9FFC-72C6EC4F5F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2pPr>
            <a:lvl3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3pPr>
            <a:lvl4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4pPr>
            <a:lvl5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D523D18-680E-C3AF-EA9F-659737098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2pPr>
            <a:lvl3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3pPr>
            <a:lvl4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4pPr>
            <a:lvl5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8B0EC6-E4D7-3E25-9464-B07D7C0A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FCF46959-3755-42C6-A836-92F078C95403}" type="datetimeFigureOut">
              <a:rPr lang="ko-KR" altLang="en-US" smtClean="0"/>
              <a:pPr/>
              <a:t>2025-03-28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A41624D-31BD-0747-E207-F3739A324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A68745-814C-EF11-9C19-28D6FDEB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47BF5438-D7DA-4C1D-9B84-25AD91F66EB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201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83FB1D-CBFC-21E3-7811-32697E49C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5A2F0D-6034-D658-CAA2-71F3D41A6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E2B5590-2786-6DE8-AB0F-6E5390014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2pPr>
            <a:lvl3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3pPr>
            <a:lvl4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4pPr>
            <a:lvl5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C304A27-3906-A0B3-5907-9864B4565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06DCC80-E50D-D5DE-293E-1965CB2BF7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2pPr>
            <a:lvl3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3pPr>
            <a:lvl4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4pPr>
            <a:lvl5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81F0E11-F1CA-9D06-D9F1-7685C9622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FCF46959-3755-42C6-A836-92F078C95403}" type="datetimeFigureOut">
              <a:rPr lang="ko-KR" altLang="en-US" smtClean="0"/>
              <a:pPr/>
              <a:t>2025-03-28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E3F8348-EAF9-A1E8-100E-DC1621129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3790FD7-F0BE-5AE5-02EC-E4CAC082D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47BF5438-D7DA-4C1D-9B84-25AD91F66EB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7402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121541-94EC-1C7D-C6E1-8CB33524D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727702A-8FDB-B754-E8C2-AA6F5B33F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46959-3755-42C6-A836-92F078C95403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041409-ED7B-DCE5-ED7E-CB24E91D6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29DEBE-680D-C89F-0AD8-D5B7B3324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5438-D7DA-4C1D-9B84-25AD91F66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495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8FB2809-B328-6467-69C6-08023D002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46959-3755-42C6-A836-92F078C95403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F57083-1937-0E78-41D1-B30001806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2827DE-AC3B-C649-094D-3150335FD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5438-D7DA-4C1D-9B84-25AD91F66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753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3C609-AF4C-D25A-2A0A-34168C3C7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63E7D2-3DF9-E76A-66E8-FE39280D6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A60D915-D32C-C6DF-2245-DE100AF013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3A5308-1A6B-9B73-5852-2853B7F11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46959-3755-42C6-A836-92F078C95403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E92ED2-B847-20C6-4AA2-CE44FDC16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479958-D44D-C3CA-6664-ED7014A41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5438-D7DA-4C1D-9B84-25AD91F66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0408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4DAFB-0DD5-EA21-CBE8-89641426F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CF73641-61F2-E85B-0E20-909E1A3474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81A9F3-F2A8-58C6-4AEC-114A7413FF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F00BF4B-8479-8AFF-CA53-B63C72D63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46959-3755-42C6-A836-92F078C95403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E20B89-C40B-BD91-10D6-05B87B1C0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A0FC91-4B0E-F57D-6FF8-2943047A2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5438-D7DA-4C1D-9B84-25AD91F66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0109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AC7142-D6C8-742B-156D-89690ECDA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3F19B84-3D6D-2444-221C-5EC1A851B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9193D9-83E4-2A9D-39B6-EBD97CFDE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46959-3755-42C6-A836-92F078C95403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D10FC9-8896-10EB-F8B3-BDBB75AAC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BA2A8C-801F-F1BA-EDEC-6D40BF738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5438-D7DA-4C1D-9B84-25AD91F66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797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AD59B3F-F60A-7F84-0EEF-215A4BC743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7BA10DC-E5C2-BC1D-9B9B-4DED4F456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4A3621-AD83-48D6-B5C4-51B28828C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46959-3755-42C6-A836-92F078C95403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07C61E-E1BC-E56E-91A8-10EEEE365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E7A2A4-7F4D-3368-AAB4-A2053C17E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5438-D7DA-4C1D-9B84-25AD91F66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1562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A8E710F-5208-72AB-D3A7-67F48ABD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0EAA63-4C18-B22C-0F89-A0C63D8A1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7394A3-0808-1108-F192-F33EC5D783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F46959-3755-42C6-A836-92F078C95403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962FF1-D4F2-F611-0F14-E9975A2401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204C58-52A9-835F-708A-5231C0599A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BF5438-D7DA-4C1D-9B84-25AD91F66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69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e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DB3970-85DF-154B-4E7A-DDF0FC044C61}"/>
              </a:ext>
            </a:extLst>
          </p:cNvPr>
          <p:cNvSpPr txBox="1"/>
          <p:nvPr/>
        </p:nvSpPr>
        <p:spPr>
          <a:xfrm>
            <a:off x="595619" y="1920664"/>
            <a:ext cx="9157981" cy="1928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800" dirty="0">
                <a:solidFill>
                  <a:srgbClr val="776C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It’s Your </a:t>
            </a:r>
            <a:r>
              <a:rPr lang="en-US" altLang="ko-KR" sz="8800" dirty="0">
                <a:solidFill>
                  <a:srgbClr val="FCAF16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Life</a:t>
            </a:r>
          </a:p>
        </p:txBody>
      </p:sp>
      <p:pic>
        <p:nvPicPr>
          <p:cNvPr id="1026" name="Picture 2" descr="KB금융그룹 - 위키백과, 우리 모두의 백과사전">
            <a:extLst>
              <a:ext uri="{FF2B5EF4-FFF2-40B4-BE49-F238E27FC236}">
                <a16:creationId xmlns:a16="http://schemas.microsoft.com/office/drawing/2014/main" id="{942DC9FA-7646-5691-155D-A0F52EF6C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619" y="733454"/>
            <a:ext cx="3662345" cy="1187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B9A00C6-FDE4-E63D-B0A0-A4DBF3635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4691" y="4141913"/>
            <a:ext cx="3177309" cy="25498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C4D309-2C53-E2E4-716D-AF4AC3E1D578}"/>
              </a:ext>
            </a:extLst>
          </p:cNvPr>
          <p:cNvSpPr txBox="1"/>
          <p:nvPr/>
        </p:nvSpPr>
        <p:spPr>
          <a:xfrm>
            <a:off x="7573439" y="5627440"/>
            <a:ext cx="16847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solidFill>
                  <a:srgbClr val="776C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with</a:t>
            </a:r>
            <a:endParaRPr lang="ko-KR" altLang="en-US" sz="5400" dirty="0">
              <a:solidFill>
                <a:srgbClr val="776C6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1927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1333746"/>
            <a:ext cx="12192000" cy="2095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Route</a:t>
            </a:r>
          </a:p>
        </p:txBody>
      </p:sp>
    </p:spTree>
    <p:extLst>
      <p:ext uri="{BB962C8B-B14F-4D97-AF65-F5344CB8AC3E}">
        <p14:creationId xmlns:p14="http://schemas.microsoft.com/office/powerpoint/2010/main" val="2124643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1071E7CF-8963-F754-24B8-B6C13B64B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210" y="627104"/>
            <a:ext cx="10167580" cy="544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096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야외, 구름, 하늘이(가) 표시된 사진&#10;&#10;자동 생성된 설명">
            <a:extLst>
              <a:ext uri="{FF2B5EF4-FFF2-40B4-BE49-F238E27FC236}">
                <a16:creationId xmlns:a16="http://schemas.microsoft.com/office/drawing/2014/main" id="{B547D2D4-3D1D-52C5-78B3-299F2D7888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0800"/>
            <a:ext cx="121920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821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DDC9951-B445-041E-A0A6-120E0736A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96" y="0"/>
            <a:ext cx="5166462" cy="6858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99A5411-F60C-977A-D2A8-35C1EE55F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6343" y="1127500"/>
            <a:ext cx="6192561" cy="4602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060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1091714-7B87-880B-D4AC-21140C477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914" y="0"/>
            <a:ext cx="91541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487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친절한 쿡기자] 자고 있는 승객의 목적지를 안다면, 깨워줄 건가요? : 네이트 뉴스">
            <a:extLst>
              <a:ext uri="{FF2B5EF4-FFF2-40B4-BE49-F238E27FC236}">
                <a16:creationId xmlns:a16="http://schemas.microsoft.com/office/drawing/2014/main" id="{8A28BE32-B9C9-1B1B-8CFD-71946E4E16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9685" y="749516"/>
            <a:ext cx="8452629" cy="5358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2066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0"/>
            <a:ext cx="12192000" cy="4311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웹</a:t>
            </a:r>
            <a:r>
              <a:rPr lang="en-US" altLang="ko-KR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서비스에</a:t>
            </a:r>
            <a:endParaRPr lang="en-US" altLang="ko-KR" sz="9600" dirty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요청 보내기</a:t>
            </a:r>
            <a:endParaRPr lang="en-US" altLang="ko-KR" sz="9600" dirty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9735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세계 최대 공항 총주방장, 영산대 명예박사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4766" y="339271"/>
            <a:ext cx="4142469" cy="6213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인생 짜장면을 만나다! 짜장면 맛집 신흥강자 5곳 | 식신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7" y="355802"/>
            <a:ext cx="1730375" cy="1945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5969" y="4702838"/>
            <a:ext cx="2052838" cy="1497285"/>
          </a:xfrm>
          <a:prstGeom prst="rect">
            <a:avLst/>
          </a:prstGeom>
        </p:spPr>
      </p:pic>
      <p:pic>
        <p:nvPicPr>
          <p:cNvPr id="1030" name="Picture 6" descr="알면 알수록 흥미 진진한, 서울 라멘 신흥 맛집 5곳 | 식신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5969" y="278349"/>
            <a:ext cx="1822121" cy="1822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GURUNAVI 일본 레스토랑 가이드 | 일본 요리를 체험 할 수 있습니다.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1298" y="2695281"/>
            <a:ext cx="1780847" cy="1338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BHC 모바일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4945" y="2284591"/>
            <a:ext cx="2646688" cy="1749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419" y="4573757"/>
            <a:ext cx="2360613" cy="1755446"/>
          </a:xfrm>
          <a:prstGeom prst="rect">
            <a:avLst/>
          </a:prstGeom>
        </p:spPr>
      </p:pic>
      <p:pic>
        <p:nvPicPr>
          <p:cNvPr id="1036" name="Picture 12" descr="장터 최부자 김치찌개 500g (3개) : 다나와 가격비교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2388" y="2394671"/>
            <a:ext cx="1939925" cy="193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사각형: 둥근 모서리 5">
            <a:extLst>
              <a:ext uri="{FF2B5EF4-FFF2-40B4-BE49-F238E27FC236}">
                <a16:creationId xmlns:a16="http://schemas.microsoft.com/office/drawing/2014/main" id="{91487BA2-F7B2-5C8A-D2AB-9ACAA234F152}"/>
              </a:ext>
            </a:extLst>
          </p:cNvPr>
          <p:cNvSpPr/>
          <p:nvPr/>
        </p:nvSpPr>
        <p:spPr>
          <a:xfrm>
            <a:off x="598587" y="798884"/>
            <a:ext cx="1227138" cy="781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검색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038" name="Picture 14" descr="NAVER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9199" y="1323108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사각형: 둥근 모서리 5">
            <a:extLst>
              <a:ext uri="{FF2B5EF4-FFF2-40B4-BE49-F238E27FC236}">
                <a16:creationId xmlns:a16="http://schemas.microsoft.com/office/drawing/2014/main" id="{91487BA2-F7B2-5C8A-D2AB-9ACAA234F152}"/>
              </a:ext>
            </a:extLst>
          </p:cNvPr>
          <p:cNvSpPr/>
          <p:nvPr/>
        </p:nvSpPr>
        <p:spPr>
          <a:xfrm>
            <a:off x="9471820" y="786900"/>
            <a:ext cx="1227138" cy="781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메일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5" name="사각형: 둥근 모서리 5">
            <a:extLst>
              <a:ext uri="{FF2B5EF4-FFF2-40B4-BE49-F238E27FC236}">
                <a16:creationId xmlns:a16="http://schemas.microsoft.com/office/drawing/2014/main" id="{91487BA2-F7B2-5C8A-D2AB-9ACAA234F152}"/>
              </a:ext>
            </a:extLst>
          </p:cNvPr>
          <p:cNvSpPr/>
          <p:nvPr/>
        </p:nvSpPr>
        <p:spPr>
          <a:xfrm>
            <a:off x="1802856" y="2974108"/>
            <a:ext cx="1227138" cy="781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뉴스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" name="사각형: 둥근 모서리 5">
            <a:extLst>
              <a:ext uri="{FF2B5EF4-FFF2-40B4-BE49-F238E27FC236}">
                <a16:creationId xmlns:a16="http://schemas.microsoft.com/office/drawing/2014/main" id="{91487BA2-F7B2-5C8A-D2AB-9ACAA234F152}"/>
              </a:ext>
            </a:extLst>
          </p:cNvPr>
          <p:cNvSpPr/>
          <p:nvPr/>
        </p:nvSpPr>
        <p:spPr>
          <a:xfrm>
            <a:off x="8648099" y="2878858"/>
            <a:ext cx="1227138" cy="781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블로그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7" name="사각형: 둥근 모서리 5">
            <a:extLst>
              <a:ext uri="{FF2B5EF4-FFF2-40B4-BE49-F238E27FC236}">
                <a16:creationId xmlns:a16="http://schemas.microsoft.com/office/drawing/2014/main" id="{91487BA2-F7B2-5C8A-D2AB-9ACAA234F152}"/>
              </a:ext>
            </a:extLst>
          </p:cNvPr>
          <p:cNvSpPr/>
          <p:nvPr/>
        </p:nvSpPr>
        <p:spPr>
          <a:xfrm>
            <a:off x="10568781" y="3012717"/>
            <a:ext cx="1227138" cy="781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쇼핑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" name="사각형: 둥근 모서리 5">
            <a:extLst>
              <a:ext uri="{FF2B5EF4-FFF2-40B4-BE49-F238E27FC236}">
                <a16:creationId xmlns:a16="http://schemas.microsoft.com/office/drawing/2014/main" id="{91487BA2-F7B2-5C8A-D2AB-9ACAA234F152}"/>
              </a:ext>
            </a:extLst>
          </p:cNvPr>
          <p:cNvSpPr/>
          <p:nvPr/>
        </p:nvSpPr>
        <p:spPr>
          <a:xfrm>
            <a:off x="1189287" y="5060955"/>
            <a:ext cx="1227138" cy="781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페이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사각형: 둥근 모서리 5">
            <a:extLst>
              <a:ext uri="{FF2B5EF4-FFF2-40B4-BE49-F238E27FC236}">
                <a16:creationId xmlns:a16="http://schemas.microsoft.com/office/drawing/2014/main" id="{91487BA2-F7B2-5C8A-D2AB-9ACAA234F152}"/>
              </a:ext>
            </a:extLst>
          </p:cNvPr>
          <p:cNvSpPr/>
          <p:nvPr/>
        </p:nvSpPr>
        <p:spPr>
          <a:xfrm>
            <a:off x="9598819" y="5060955"/>
            <a:ext cx="1227138" cy="781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주식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8911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140,219 Request Images, Stock Photos, 3D objects, &amp; Vectors | Shutterstock">
            <a:extLst>
              <a:ext uri="{FF2B5EF4-FFF2-40B4-BE49-F238E27FC236}">
                <a16:creationId xmlns:a16="http://schemas.microsoft.com/office/drawing/2014/main" id="{F8B124FA-3977-4E91-2EBA-6D8BA419DB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29"/>
          <a:stretch/>
        </p:blipFill>
        <p:spPr bwMode="auto">
          <a:xfrm>
            <a:off x="2483223" y="1790700"/>
            <a:ext cx="7225553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A Complete Guide to HTML Form Tag">
            <a:extLst>
              <a:ext uri="{FF2B5EF4-FFF2-40B4-BE49-F238E27FC236}">
                <a16:creationId xmlns:a16="http://schemas.microsoft.com/office/drawing/2014/main" id="{3F6030D0-E7A7-8F10-E2CB-ED78E5B58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" y="257174"/>
            <a:ext cx="4555867" cy="406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>
            <a:extLst>
              <a:ext uri="{FF2B5EF4-FFF2-40B4-BE49-F238E27FC236}">
                <a16:creationId xmlns:a16="http://schemas.microsoft.com/office/drawing/2014/main" id="{6191648F-E310-28EE-D945-964E86BEA4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769"/>
          <a:stretch/>
        </p:blipFill>
        <p:spPr bwMode="auto">
          <a:xfrm>
            <a:off x="7286625" y="0"/>
            <a:ext cx="4905375" cy="360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4744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신년기획] 갈림길 선 대한민국, 국민 선택에 '미래' 달렸다 - 이투데이">
            <a:extLst>
              <a:ext uri="{FF2B5EF4-FFF2-40B4-BE49-F238E27FC236}">
                <a16:creationId xmlns:a16="http://schemas.microsoft.com/office/drawing/2014/main" id="{D830E6D9-EA3A-A64C-FFB8-2E99F3FC50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507" y="440531"/>
            <a:ext cx="10216986" cy="597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FED7148-F0FA-AAC6-2D4D-791645388A7F}"/>
              </a:ext>
            </a:extLst>
          </p:cNvPr>
          <p:cNvGrpSpPr/>
          <p:nvPr/>
        </p:nvGrpSpPr>
        <p:grpSpPr>
          <a:xfrm>
            <a:off x="5024437" y="3290888"/>
            <a:ext cx="5224464" cy="2143125"/>
            <a:chOff x="5024437" y="3290888"/>
            <a:chExt cx="5224464" cy="2143125"/>
          </a:xfrm>
        </p:grpSpPr>
        <p:pic>
          <p:nvPicPr>
            <p:cNvPr id="9220" name="Picture 4" descr="롤] 리그오브레전드 정글, 탑 리신공략 (템트리,룬,특성,스킬트리,스펠) : 네이버 블로그">
              <a:extLst>
                <a:ext uri="{FF2B5EF4-FFF2-40B4-BE49-F238E27FC236}">
                  <a16:creationId xmlns:a16="http://schemas.microsoft.com/office/drawing/2014/main" id="{817AD4A1-95A9-E976-B5F9-248E30962C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24437" y="3290888"/>
              <a:ext cx="2143125" cy="2143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591F0010-F5AC-B450-9AF4-4C5F72D8F5A0}"/>
                </a:ext>
              </a:extLst>
            </p:cNvPr>
            <p:cNvSpPr/>
            <p:nvPr/>
          </p:nvSpPr>
          <p:spPr>
            <a:xfrm>
              <a:off x="7372351" y="3971925"/>
              <a:ext cx="2876550" cy="78105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어디로 가야하오</a:t>
              </a:r>
              <a:r>
                <a:rPr lang="en-US" altLang="ko-KR" sz="24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!?!?</a:t>
              </a:r>
            </a:p>
          </p:txBody>
        </p:sp>
      </p:grp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1487BA2-F7B2-5C8A-D2AB-9ACAA234F152}"/>
              </a:ext>
            </a:extLst>
          </p:cNvPr>
          <p:cNvSpPr/>
          <p:nvPr/>
        </p:nvSpPr>
        <p:spPr>
          <a:xfrm>
            <a:off x="987507" y="1754981"/>
            <a:ext cx="1628775" cy="781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초행길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2330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F608C03-DAE9-8B03-7A76-0D6AFCE07C6F}"/>
              </a:ext>
            </a:extLst>
          </p:cNvPr>
          <p:cNvSpPr/>
          <p:nvPr/>
        </p:nvSpPr>
        <p:spPr>
          <a:xfrm>
            <a:off x="4895274" y="1283854"/>
            <a:ext cx="3362036" cy="5098473"/>
          </a:xfrm>
          <a:prstGeom prst="roundRect">
            <a:avLst/>
          </a:prstGeom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5F6263-A018-201B-6213-14EF4829B920}"/>
              </a:ext>
            </a:extLst>
          </p:cNvPr>
          <p:cNvSpPr txBox="1"/>
          <p:nvPr/>
        </p:nvSpPr>
        <p:spPr>
          <a:xfrm>
            <a:off x="5797072" y="1431758"/>
            <a:ext cx="15584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server</a:t>
            </a:r>
            <a:endParaRPr lang="ko-KR" altLang="en-US" sz="3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171C33-2751-C229-6D2C-C26D1D55AE4A}"/>
              </a:ext>
            </a:extLst>
          </p:cNvPr>
          <p:cNvSpPr txBox="1"/>
          <p:nvPr/>
        </p:nvSpPr>
        <p:spPr>
          <a:xfrm>
            <a:off x="4497036" y="614509"/>
            <a:ext cx="41585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주소 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</a:t>
            </a:r>
            <a:r>
              <a:rPr lang="en-US" altLang="ko-KR" sz="2400" dirty="0">
                <a:solidFill>
                  <a:srgbClr val="0070C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http://localhost:5173</a:t>
            </a:r>
            <a:endParaRPr lang="ko-KR" altLang="en-US" sz="2400" dirty="0">
              <a:solidFill>
                <a:srgbClr val="0070C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3888A8C3-CCDE-4926-6D53-9CCB05DC4B80}"/>
              </a:ext>
            </a:extLst>
          </p:cNvPr>
          <p:cNvSpPr/>
          <p:nvPr/>
        </p:nvSpPr>
        <p:spPr>
          <a:xfrm>
            <a:off x="424872" y="3449592"/>
            <a:ext cx="4239491" cy="1182254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http://localhost:5173</a:t>
            </a:r>
            <a:endParaRPr lang="ko-KR" altLang="en-US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62C7EA2-D6A2-17B7-D78D-21345D6B4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292" y="912041"/>
            <a:ext cx="2481545" cy="2819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2480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F608C03-DAE9-8B03-7A76-0D6AFCE07C6F}"/>
              </a:ext>
            </a:extLst>
          </p:cNvPr>
          <p:cNvSpPr/>
          <p:nvPr/>
        </p:nvSpPr>
        <p:spPr>
          <a:xfrm>
            <a:off x="2456873" y="1293090"/>
            <a:ext cx="4673599" cy="5098473"/>
          </a:xfrm>
          <a:prstGeom prst="roundRect">
            <a:avLst/>
          </a:prstGeom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5F6263-A018-201B-6213-14EF4829B920}"/>
              </a:ext>
            </a:extLst>
          </p:cNvPr>
          <p:cNvSpPr txBox="1"/>
          <p:nvPr/>
        </p:nvSpPr>
        <p:spPr>
          <a:xfrm>
            <a:off x="4014452" y="1440994"/>
            <a:ext cx="15584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server</a:t>
            </a:r>
            <a:endParaRPr lang="ko-KR" altLang="en-US" sz="3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171C33-2751-C229-6D2C-C26D1D55AE4A}"/>
              </a:ext>
            </a:extLst>
          </p:cNvPr>
          <p:cNvSpPr txBox="1"/>
          <p:nvPr/>
        </p:nvSpPr>
        <p:spPr>
          <a:xfrm>
            <a:off x="2058636" y="623745"/>
            <a:ext cx="41585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주소 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</a:t>
            </a:r>
            <a:r>
              <a:rPr lang="en-US" altLang="ko-KR" sz="2400" dirty="0">
                <a:solidFill>
                  <a:srgbClr val="0070C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http://localhost:5173</a:t>
            </a:r>
            <a:endParaRPr lang="ko-KR" altLang="en-US" sz="2400" dirty="0">
              <a:solidFill>
                <a:srgbClr val="0070C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3888A8C3-CCDE-4926-6D53-9CCB05DC4B80}"/>
              </a:ext>
            </a:extLst>
          </p:cNvPr>
          <p:cNvSpPr/>
          <p:nvPr/>
        </p:nvSpPr>
        <p:spPr>
          <a:xfrm>
            <a:off x="147782" y="2466063"/>
            <a:ext cx="4239491" cy="1182254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http://localhost:5173</a:t>
            </a:r>
            <a:endParaRPr lang="ko-KR" altLang="en-US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026" name="Picture 2" descr="카라 니콜 없어 짤 : 네이버 블로그">
            <a:extLst>
              <a:ext uri="{FF2B5EF4-FFF2-40B4-BE49-F238E27FC236}">
                <a16:creationId xmlns:a16="http://schemas.microsoft.com/office/drawing/2014/main" id="{EBC12749-A31C-3189-396D-65CD9C01BD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873" y="3766067"/>
            <a:ext cx="3521598" cy="2313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8BD69F8-C596-D477-6C5B-79FBD8BA0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6471" y="1293090"/>
            <a:ext cx="4333721" cy="2821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140449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F608C03-DAE9-8B03-7A76-0D6AFCE07C6F}"/>
              </a:ext>
            </a:extLst>
          </p:cNvPr>
          <p:cNvSpPr/>
          <p:nvPr/>
        </p:nvSpPr>
        <p:spPr>
          <a:xfrm>
            <a:off x="2198255" y="1293090"/>
            <a:ext cx="4932217" cy="5098473"/>
          </a:xfrm>
          <a:prstGeom prst="roundRect">
            <a:avLst/>
          </a:prstGeom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5F6263-A018-201B-6213-14EF4829B920}"/>
              </a:ext>
            </a:extLst>
          </p:cNvPr>
          <p:cNvSpPr txBox="1"/>
          <p:nvPr/>
        </p:nvSpPr>
        <p:spPr>
          <a:xfrm>
            <a:off x="3376190" y="1440994"/>
            <a:ext cx="25763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VUE server</a:t>
            </a:r>
            <a:endParaRPr lang="ko-KR" altLang="en-US" sz="3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171C33-2751-C229-6D2C-C26D1D55AE4A}"/>
              </a:ext>
            </a:extLst>
          </p:cNvPr>
          <p:cNvSpPr txBox="1"/>
          <p:nvPr/>
        </p:nvSpPr>
        <p:spPr>
          <a:xfrm>
            <a:off x="2058637" y="623745"/>
            <a:ext cx="4158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주소 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</a:t>
            </a:r>
            <a:r>
              <a:rPr lang="en-US" altLang="ko-KR" sz="2400" dirty="0">
                <a:solidFill>
                  <a:srgbClr val="0070C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http://localhost:5173</a:t>
            </a:r>
            <a:endParaRPr lang="ko-KR" altLang="en-US" sz="2400" dirty="0">
              <a:solidFill>
                <a:srgbClr val="0070C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B65A265-C975-462F-1F89-F13AF8E2C109}"/>
              </a:ext>
            </a:extLst>
          </p:cNvPr>
          <p:cNvSpPr/>
          <p:nvPr/>
        </p:nvSpPr>
        <p:spPr>
          <a:xfrm>
            <a:off x="2733964" y="2235229"/>
            <a:ext cx="4396508" cy="3838506"/>
          </a:xfrm>
          <a:prstGeom prst="roundRect">
            <a:avLst/>
          </a:prstGeom>
          <a:solidFill>
            <a:srgbClr val="00B050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http://localhost:5173/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3888A8C3-CCDE-4926-6D53-9CCB05DC4B80}"/>
              </a:ext>
            </a:extLst>
          </p:cNvPr>
          <p:cNvSpPr/>
          <p:nvPr/>
        </p:nvSpPr>
        <p:spPr>
          <a:xfrm>
            <a:off x="147782" y="2466063"/>
            <a:ext cx="4239491" cy="1182254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http://localhost:5173/</a:t>
            </a:r>
            <a:endParaRPr lang="ko-KR" altLang="en-US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0" name="Picture 2" descr="어서 와', '어서 와, XX는 처음이지?' 드립의 뜻과 유래 : 네이버 블로그">
            <a:extLst>
              <a:ext uri="{FF2B5EF4-FFF2-40B4-BE49-F238E27FC236}">
                <a16:creationId xmlns:a16="http://schemas.microsoft.com/office/drawing/2014/main" id="{328E371C-53DA-8A55-C01B-9CD873A62F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1364" y="2822672"/>
            <a:ext cx="3927211" cy="3840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E15088-A380-B83A-D13C-314610CE367B}"/>
              </a:ext>
            </a:extLst>
          </p:cNvPr>
          <p:cNvSpPr txBox="1"/>
          <p:nvPr/>
        </p:nvSpPr>
        <p:spPr>
          <a:xfrm>
            <a:off x="5760295" y="2499507"/>
            <a:ext cx="10470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App</a:t>
            </a:r>
            <a:endParaRPr lang="ko-KR" altLang="en-US" sz="3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4B6461B-8401-DB16-757C-7A7DDF4F2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1364" y="316862"/>
            <a:ext cx="4158511" cy="2248263"/>
          </a:xfrm>
          <a:prstGeom prst="rect">
            <a:avLst/>
          </a:prstGeom>
        </p:spPr>
      </p:pic>
      <p:pic>
        <p:nvPicPr>
          <p:cNvPr id="11266" name="Picture 2" descr="Vue.js - 위키백과, 우리 모두의 백과사전">
            <a:extLst>
              <a:ext uri="{FF2B5EF4-FFF2-40B4-BE49-F238E27FC236}">
                <a16:creationId xmlns:a16="http://schemas.microsoft.com/office/drawing/2014/main" id="{ED50FE7D-D054-CCCF-DD12-7A2001286E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767779">
            <a:off x="7659112" y="2156516"/>
            <a:ext cx="2124317" cy="2124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6501689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F608C03-DAE9-8B03-7A76-0D6AFCE07C6F}"/>
              </a:ext>
            </a:extLst>
          </p:cNvPr>
          <p:cNvSpPr/>
          <p:nvPr/>
        </p:nvSpPr>
        <p:spPr>
          <a:xfrm>
            <a:off x="2198255" y="1293090"/>
            <a:ext cx="4932217" cy="5098473"/>
          </a:xfrm>
          <a:prstGeom prst="roundRect">
            <a:avLst/>
          </a:prstGeom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5F6263-A018-201B-6213-14EF4829B920}"/>
              </a:ext>
            </a:extLst>
          </p:cNvPr>
          <p:cNvSpPr txBox="1"/>
          <p:nvPr/>
        </p:nvSpPr>
        <p:spPr>
          <a:xfrm>
            <a:off x="3376190" y="1440994"/>
            <a:ext cx="25763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VUE server</a:t>
            </a:r>
            <a:endParaRPr lang="ko-KR" altLang="en-US" sz="3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171C33-2751-C229-6D2C-C26D1D55AE4A}"/>
              </a:ext>
            </a:extLst>
          </p:cNvPr>
          <p:cNvSpPr txBox="1"/>
          <p:nvPr/>
        </p:nvSpPr>
        <p:spPr>
          <a:xfrm>
            <a:off x="2058637" y="623745"/>
            <a:ext cx="4158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주소 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</a:t>
            </a:r>
            <a:r>
              <a:rPr lang="en-US" altLang="ko-KR" sz="2400" dirty="0">
                <a:solidFill>
                  <a:srgbClr val="0070C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http://localhost:5173</a:t>
            </a:r>
            <a:endParaRPr lang="ko-KR" altLang="en-US" sz="2400" dirty="0">
              <a:solidFill>
                <a:srgbClr val="0070C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B65A265-C975-462F-1F89-F13AF8E2C109}"/>
              </a:ext>
            </a:extLst>
          </p:cNvPr>
          <p:cNvSpPr/>
          <p:nvPr/>
        </p:nvSpPr>
        <p:spPr>
          <a:xfrm>
            <a:off x="2733964" y="2235229"/>
            <a:ext cx="4396508" cy="3838506"/>
          </a:xfrm>
          <a:prstGeom prst="roundRect">
            <a:avLst/>
          </a:prstGeom>
          <a:solidFill>
            <a:srgbClr val="41B883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endParaRPr lang="en-US" altLang="ko-KR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endParaRPr lang="en-US" altLang="ko-KR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endParaRPr lang="en-US" altLang="ko-KR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endParaRPr lang="en-US" altLang="ko-KR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endParaRPr lang="en-US" altLang="ko-KR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endParaRPr lang="en-US" altLang="ko-KR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3888A8C3-CCDE-4926-6D53-9CCB05DC4B80}"/>
              </a:ext>
            </a:extLst>
          </p:cNvPr>
          <p:cNvSpPr/>
          <p:nvPr/>
        </p:nvSpPr>
        <p:spPr>
          <a:xfrm rot="1828904">
            <a:off x="-108488" y="1253175"/>
            <a:ext cx="4239491" cy="1182254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회원 가입을 하려는 요청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E15088-A380-B83A-D13C-314610CE367B}"/>
              </a:ext>
            </a:extLst>
          </p:cNvPr>
          <p:cNvSpPr txBox="1"/>
          <p:nvPr/>
        </p:nvSpPr>
        <p:spPr>
          <a:xfrm>
            <a:off x="5760295" y="2499507"/>
            <a:ext cx="10470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App</a:t>
            </a:r>
            <a:endParaRPr lang="ko-KR" altLang="en-US" sz="3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68B62FF3-5ADA-C1F6-BCC2-5A438A6CB8D0}"/>
              </a:ext>
            </a:extLst>
          </p:cNvPr>
          <p:cNvSpPr/>
          <p:nvPr/>
        </p:nvSpPr>
        <p:spPr>
          <a:xfrm>
            <a:off x="0" y="3202014"/>
            <a:ext cx="3952875" cy="1182254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그냥 페이지를 보려는 요청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DD6899E9-EC53-277A-66ED-78BA7282C086}"/>
              </a:ext>
            </a:extLst>
          </p:cNvPr>
          <p:cNvSpPr/>
          <p:nvPr/>
        </p:nvSpPr>
        <p:spPr>
          <a:xfrm rot="20422384">
            <a:off x="34820" y="4900261"/>
            <a:ext cx="3952875" cy="1182254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파일 다운 로드를 위한 요청</a:t>
            </a:r>
          </a:p>
        </p:txBody>
      </p:sp>
      <p:pic>
        <p:nvPicPr>
          <p:cNvPr id="12290" name="Picture 2" descr="잼버리 상황 한장 짤 - 보배드림 베스트글">
            <a:extLst>
              <a:ext uri="{FF2B5EF4-FFF2-40B4-BE49-F238E27FC236}">
                <a16:creationId xmlns:a16="http://schemas.microsoft.com/office/drawing/2014/main" id="{EEAC7871-C7F7-0023-920F-563593C16F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0688" y="1293090"/>
            <a:ext cx="4570757" cy="2527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2185220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1333746"/>
            <a:ext cx="12192000" cy="2095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Router</a:t>
            </a:r>
          </a:p>
        </p:txBody>
      </p:sp>
    </p:spTree>
    <p:extLst>
      <p:ext uri="{BB962C8B-B14F-4D97-AF65-F5344CB8AC3E}">
        <p14:creationId xmlns:p14="http://schemas.microsoft.com/office/powerpoint/2010/main" val="2820801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E1D6E9-6D74-774A-BB62-E7D59F14A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주소별로 업무를 나누자</a:t>
            </a:r>
            <a:r>
              <a:rPr lang="en-US" altLang="ko-KR" dirty="0"/>
              <a:t>! </a:t>
            </a:r>
            <a:r>
              <a:rPr lang="ko-KR" altLang="en-US" dirty="0"/>
              <a:t>라우팅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4677B0-47B3-EFD4-0B2F-4C256A45A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결국 웹 서비스는 클라이언트의 요청을 주소로 받게 됩니다</a:t>
            </a:r>
            <a:r>
              <a:rPr lang="en-US" altLang="ko-KR" dirty="0"/>
              <a:t>!</a:t>
            </a:r>
          </a:p>
          <a:p>
            <a:r>
              <a:rPr lang="ko-KR" altLang="en-US" dirty="0"/>
              <a:t>그런데 모든 요청을 하나의 주소에서 받으면 구분이 어렵겠죠</a:t>
            </a:r>
            <a:r>
              <a:rPr lang="en-US" altLang="ko-KR" dirty="0"/>
              <a:t>?</a:t>
            </a:r>
          </a:p>
        </p:txBody>
      </p:sp>
      <p:pic>
        <p:nvPicPr>
          <p:cNvPr id="4100" name="Picture 4" descr="컴퓨터 CPU, 그래픽카드 병목현상 점검 : 네이버 블로그">
            <a:extLst>
              <a:ext uri="{FF2B5EF4-FFF2-40B4-BE49-F238E27FC236}">
                <a16:creationId xmlns:a16="http://schemas.microsoft.com/office/drawing/2014/main" id="{0C98360E-4B9A-E6EC-5C7E-85B6CFF96E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360" y="2814637"/>
            <a:ext cx="5936191" cy="3283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성능 향상을 위한 인프라 구조 (3tier 시스템 병목현상, 응답과 처리량)">
            <a:extLst>
              <a:ext uri="{FF2B5EF4-FFF2-40B4-BE49-F238E27FC236}">
                <a16:creationId xmlns:a16="http://schemas.microsoft.com/office/drawing/2014/main" id="{E43D7A3D-1B69-30E6-D4C1-1DC45DD36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3923" y="3012076"/>
            <a:ext cx="5184193" cy="201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9917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E1D6E9-6D74-774A-BB62-E7D59F14A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주소별로 업무를 나누자</a:t>
            </a:r>
            <a:r>
              <a:rPr lang="en-US" altLang="ko-KR" dirty="0"/>
              <a:t>! </a:t>
            </a:r>
            <a:r>
              <a:rPr lang="ko-KR" altLang="en-US" dirty="0"/>
              <a:t>라우팅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FEA7DC3-7A74-7672-DE9F-BFA0F1BB9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클라언트의</a:t>
            </a:r>
            <a:r>
              <a:rPr lang="ko-KR" altLang="en-US" dirty="0"/>
              <a:t> 각기 다른 주소 요청에 따라 일을 나누어 주는 것이 라우팅</a:t>
            </a:r>
            <a:r>
              <a:rPr lang="en-US" altLang="ko-KR" dirty="0"/>
              <a:t>!</a:t>
            </a:r>
          </a:p>
          <a:p>
            <a:r>
              <a:rPr lang="ko-KR" altLang="en-US" dirty="0"/>
              <a:t>병목 현상은 해결</a:t>
            </a:r>
            <a:r>
              <a:rPr lang="en-US" altLang="ko-KR" dirty="0"/>
              <a:t>!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코드 유지 보수는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 err="1">
                <a:sym typeface="Wingdings" panose="05000000000000000000" pitchFamily="2" charset="2"/>
              </a:rPr>
              <a:t>편해짐</a:t>
            </a:r>
            <a:endParaRPr lang="ko-KR" altLang="en-US" dirty="0"/>
          </a:p>
        </p:txBody>
      </p:sp>
      <p:pic>
        <p:nvPicPr>
          <p:cNvPr id="6146" name="Picture 2" descr="Node.js - Express 알아보기] : 네이버 블로그">
            <a:extLst>
              <a:ext uri="{FF2B5EF4-FFF2-40B4-BE49-F238E27FC236}">
                <a16:creationId xmlns:a16="http://schemas.microsoft.com/office/drawing/2014/main" id="{D7875E62-9630-ECA2-AE69-BF5A5321D3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314" y="3126077"/>
            <a:ext cx="5393970" cy="3404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편안 짤과 움짤 모음 - 짤봇">
            <a:extLst>
              <a:ext uri="{FF2B5EF4-FFF2-40B4-BE49-F238E27FC236}">
                <a16:creationId xmlns:a16="http://schemas.microsoft.com/office/drawing/2014/main" id="{70986EC4-1F46-B044-218C-3FE27C4CFB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610" y="3126077"/>
            <a:ext cx="3273881" cy="3273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9614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3ED5B22-1322-9D5F-832E-D079064D6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88" y="2828"/>
            <a:ext cx="11260802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4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Vue </a:t>
            </a:r>
            <a:r>
              <a:rPr lang="ko-KR" altLang="en-US" sz="4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에서 </a:t>
            </a:r>
            <a:r>
              <a:rPr lang="en-US" altLang="ko-KR" sz="4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Router </a:t>
            </a:r>
            <a:r>
              <a:rPr lang="ko-KR" altLang="en-US" sz="4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활용하기</a:t>
            </a:r>
            <a:endParaRPr lang="en-US" altLang="ko-KR" sz="44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E654C6B9-B2DE-2E2F-A6FF-A30BA8E06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0"/>
            <a:ext cx="11260802" cy="5529609"/>
          </a:xfrm>
        </p:spPr>
        <p:txBody>
          <a:bodyPr/>
          <a:lstStyle/>
          <a:p>
            <a:r>
              <a:rPr lang="en-US" altLang="ko-KR" dirty="0"/>
              <a:t>Vue </a:t>
            </a:r>
            <a:r>
              <a:rPr lang="ko-KR" altLang="en-US" dirty="0"/>
              <a:t>에서는 </a:t>
            </a:r>
            <a:r>
              <a:rPr lang="ko-KR" altLang="en-US" dirty="0">
                <a:solidFill>
                  <a:schemeClr val="accent2"/>
                </a:solidFill>
              </a:rPr>
              <a:t>컴포넌트별</a:t>
            </a:r>
            <a:r>
              <a:rPr lang="en-US" altLang="ko-KR" dirty="0">
                <a:solidFill>
                  <a:schemeClr val="accent2"/>
                </a:solidFill>
              </a:rPr>
              <a:t>(DOM)</a:t>
            </a:r>
            <a:r>
              <a:rPr lang="ko-KR" altLang="en-US" dirty="0">
                <a:solidFill>
                  <a:schemeClr val="accent2"/>
                </a:solidFill>
              </a:rPr>
              <a:t> 라우팅</a:t>
            </a:r>
            <a:r>
              <a:rPr lang="ko-KR" altLang="en-US" dirty="0"/>
              <a:t>이 가능합니다</a:t>
            </a:r>
            <a:r>
              <a:rPr lang="en-US" altLang="ko-KR" dirty="0"/>
              <a:t>!</a:t>
            </a:r>
          </a:p>
          <a:p>
            <a:r>
              <a:rPr lang="ko-KR" altLang="en-US" dirty="0"/>
              <a:t>동적 컴포넌트 등으로 처리가 가능하지만 서비스의 경우 주소에 따른 구분을 해줘야만 서비스별 구분이 가능하므로 라우팅 기능을 활용이 필요 합니다</a:t>
            </a:r>
            <a:r>
              <a:rPr lang="en-US" altLang="ko-KR" dirty="0"/>
              <a:t>!</a:t>
            </a:r>
          </a:p>
          <a:p>
            <a:r>
              <a:rPr lang="ko-KR" altLang="en-US" dirty="0"/>
              <a:t>그리고</a:t>
            </a:r>
            <a:r>
              <a:rPr lang="en-US" altLang="ko-KR" dirty="0"/>
              <a:t> </a:t>
            </a:r>
            <a:r>
              <a:rPr lang="ko-KR" altLang="en-US" dirty="0"/>
              <a:t>해당 모듈을 쓰면 페이지 깜박임 없이 부드러운 </a:t>
            </a:r>
            <a:r>
              <a:rPr lang="ko-KR" altLang="en-US" dirty="0" err="1"/>
              <a:t>브라우징</a:t>
            </a:r>
            <a:r>
              <a:rPr lang="ko-KR" altLang="en-US" dirty="0"/>
              <a:t> 가능하며 </a:t>
            </a:r>
            <a:r>
              <a:rPr lang="en-US" altLang="ko-KR" dirty="0">
                <a:solidFill>
                  <a:schemeClr val="accent2"/>
                </a:solidFill>
              </a:rPr>
              <a:t>SPA(Single Page Application)</a:t>
            </a:r>
            <a:r>
              <a:rPr lang="ko-KR" altLang="en-US" dirty="0"/>
              <a:t>의 구현이 가능해 집니다</a:t>
            </a:r>
            <a:r>
              <a:rPr lang="en-US" altLang="ko-KR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726567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A42E884-E19E-E5DE-4F93-D86A3EFCA238}"/>
              </a:ext>
            </a:extLst>
          </p:cNvPr>
          <p:cNvSpPr/>
          <p:nvPr/>
        </p:nvSpPr>
        <p:spPr>
          <a:xfrm>
            <a:off x="3018416" y="2366085"/>
            <a:ext cx="2277036" cy="3254188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http://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서버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.com/</a:t>
            </a:r>
          </a:p>
          <a:p>
            <a:pPr algn="ctr"/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board.html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FEFBC79-7F99-557D-C523-E4029C457D77}"/>
              </a:ext>
            </a:extLst>
          </p:cNvPr>
          <p:cNvSpPr/>
          <p:nvPr/>
        </p:nvSpPr>
        <p:spPr>
          <a:xfrm>
            <a:off x="1914637" y="734509"/>
            <a:ext cx="2207558" cy="6544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일반 서버 라우터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F46EE74-9455-B87D-C9E2-E2F332D18594}"/>
              </a:ext>
            </a:extLst>
          </p:cNvPr>
          <p:cNvSpPr/>
          <p:nvPr/>
        </p:nvSpPr>
        <p:spPr>
          <a:xfrm>
            <a:off x="678628" y="2366085"/>
            <a:ext cx="2277036" cy="325418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http://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서버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.com/</a:t>
            </a:r>
          </a:p>
          <a:p>
            <a:pPr algn="ctr"/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index.html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B3BF2AF-BDFD-00D5-79D0-96EAF6B850FE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1817146" y="1388932"/>
            <a:ext cx="1201270" cy="977153"/>
          </a:xfrm>
          <a:prstGeom prst="line">
            <a:avLst/>
          </a:prstGeom>
          <a:ln w="57150"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3879DCB-6604-7725-5309-21832387745E}"/>
              </a:ext>
            </a:extLst>
          </p:cNvPr>
          <p:cNvCxnSpPr>
            <a:cxnSpLocks/>
            <a:stCxn id="4" idx="2"/>
            <a:endCxn id="18" idx="0"/>
          </p:cNvCxnSpPr>
          <p:nvPr/>
        </p:nvCxnSpPr>
        <p:spPr>
          <a:xfrm>
            <a:off x="3018416" y="1388932"/>
            <a:ext cx="1138518" cy="977153"/>
          </a:xfrm>
          <a:prstGeom prst="line">
            <a:avLst/>
          </a:prstGeom>
          <a:ln w="57150">
            <a:solidFill>
              <a:schemeClr val="accent6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3545697-D71E-0639-2F24-F753A72E75B0}"/>
              </a:ext>
            </a:extLst>
          </p:cNvPr>
          <p:cNvSpPr/>
          <p:nvPr/>
        </p:nvSpPr>
        <p:spPr>
          <a:xfrm>
            <a:off x="3251501" y="1628738"/>
            <a:ext cx="1048871" cy="41013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/board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0FBE18C-E54F-50E5-D7B6-006CF226A774}"/>
              </a:ext>
            </a:extLst>
          </p:cNvPr>
          <p:cNvSpPr/>
          <p:nvPr/>
        </p:nvSpPr>
        <p:spPr>
          <a:xfrm>
            <a:off x="2104019" y="1628738"/>
            <a:ext cx="448234" cy="4101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5801360" y="364532"/>
            <a:ext cx="5730240" cy="11930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일반적인 개념의 프론트 페이지는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주소 요청에 따라 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html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파일이 바뀝니다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028" name="Picture 4" descr="몸숨걸고 건진지 바꾸는 짤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1615" y="2160794"/>
            <a:ext cx="6161615" cy="3295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2142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5" grpId="0" animBg="1"/>
      <p:bldP spid="14" grpId="0" animBg="1"/>
      <p:bldP spid="15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357F7C85-9427-B5A0-97DB-BBA971234E21}"/>
              </a:ext>
            </a:extLst>
          </p:cNvPr>
          <p:cNvSpPr/>
          <p:nvPr/>
        </p:nvSpPr>
        <p:spPr>
          <a:xfrm>
            <a:off x="1647056" y="419549"/>
            <a:ext cx="1990164" cy="654423"/>
          </a:xfrm>
          <a:prstGeom prst="roundRect">
            <a:avLst/>
          </a:prstGeom>
          <a:solidFill>
            <a:srgbClr val="41B88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Vue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라우터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5172EDF-4513-826B-C736-3E410883E2CC}"/>
              </a:ext>
            </a:extLst>
          </p:cNvPr>
          <p:cNvSpPr/>
          <p:nvPr/>
        </p:nvSpPr>
        <p:spPr>
          <a:xfrm>
            <a:off x="317052" y="2051124"/>
            <a:ext cx="4650172" cy="3965628"/>
          </a:xfrm>
          <a:prstGeom prst="roundRect">
            <a:avLst/>
          </a:prstGeom>
          <a:solidFill>
            <a:srgbClr val="41B883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endParaRPr lang="en-US" altLang="ko-KR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C542987-F22F-BA2D-3E66-A887C8904E28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>
            <a:off x="2642138" y="1073972"/>
            <a:ext cx="0" cy="977152"/>
          </a:xfrm>
          <a:prstGeom prst="line">
            <a:avLst/>
          </a:prstGeom>
          <a:ln w="57150"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E83E614-E736-0685-B62C-6CCA33D8DF6F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>
            <a:off x="2642138" y="1073972"/>
            <a:ext cx="0" cy="977152"/>
          </a:xfrm>
          <a:prstGeom prst="line">
            <a:avLst/>
          </a:prstGeom>
          <a:ln w="57150">
            <a:solidFill>
              <a:schemeClr val="accent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3E89FBC-5FC3-37EF-8EC6-54B42540AF80}"/>
              </a:ext>
            </a:extLst>
          </p:cNvPr>
          <p:cNvSpPr/>
          <p:nvPr/>
        </p:nvSpPr>
        <p:spPr>
          <a:xfrm>
            <a:off x="2889198" y="1359278"/>
            <a:ext cx="1048871" cy="410136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/board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BB60F1A-4B05-DFF2-73E2-4C08A7E988C8}"/>
              </a:ext>
            </a:extLst>
          </p:cNvPr>
          <p:cNvSpPr/>
          <p:nvPr/>
        </p:nvSpPr>
        <p:spPr>
          <a:xfrm>
            <a:off x="1908992" y="1359278"/>
            <a:ext cx="448234" cy="4101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8D2A1C8-6E36-9CD3-9C13-18E6CC44B4A4}"/>
              </a:ext>
            </a:extLst>
          </p:cNvPr>
          <p:cNvSpPr/>
          <p:nvPr/>
        </p:nvSpPr>
        <p:spPr>
          <a:xfrm>
            <a:off x="630817" y="2788920"/>
            <a:ext cx="1685365" cy="24312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Home.vue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컴포넌트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6E7D70F-C0DD-0A28-BC89-14278CE70296}"/>
              </a:ext>
            </a:extLst>
          </p:cNvPr>
          <p:cNvSpPr/>
          <p:nvPr/>
        </p:nvSpPr>
        <p:spPr>
          <a:xfrm>
            <a:off x="2952676" y="2788920"/>
            <a:ext cx="1685365" cy="2431228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Board.vue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컴포넌트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425339" y="5426888"/>
            <a:ext cx="2544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http://localhost:5173</a:t>
            </a:r>
            <a:endParaRPr lang="ko-KR" altLang="en-US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DC542987-F22F-BA2D-3E66-A887C8904E28}"/>
              </a:ext>
            </a:extLst>
          </p:cNvPr>
          <p:cNvCxnSpPr>
            <a:cxnSpLocks/>
            <a:stCxn id="6" idx="0"/>
            <a:endCxn id="13" idx="0"/>
          </p:cNvCxnSpPr>
          <p:nvPr/>
        </p:nvCxnSpPr>
        <p:spPr>
          <a:xfrm flipH="1">
            <a:off x="1473500" y="2051124"/>
            <a:ext cx="1168638" cy="737796"/>
          </a:xfrm>
          <a:prstGeom prst="line">
            <a:avLst/>
          </a:prstGeom>
          <a:ln w="57150"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AE83E614-E736-0685-B62C-6CCA33D8DF6F}"/>
              </a:ext>
            </a:extLst>
          </p:cNvPr>
          <p:cNvCxnSpPr>
            <a:cxnSpLocks/>
            <a:stCxn id="6" idx="0"/>
            <a:endCxn id="16" idx="0"/>
          </p:cNvCxnSpPr>
          <p:nvPr/>
        </p:nvCxnSpPr>
        <p:spPr>
          <a:xfrm>
            <a:off x="2642138" y="2051124"/>
            <a:ext cx="1153221" cy="737796"/>
          </a:xfrm>
          <a:prstGeom prst="line">
            <a:avLst/>
          </a:prstGeom>
          <a:ln w="57150">
            <a:solidFill>
              <a:schemeClr val="accent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5801360" y="364532"/>
            <a:ext cx="5730240" cy="11930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VUE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는 주소 요청에 따라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각기 다른 컴포넌트를 연결 합니다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2050" name="Picture 2" descr="겨울왕국 주인공 얼굴바꾸기 - 뽐뿌:유머/감동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9263" y="1703314"/>
            <a:ext cx="3714433" cy="4964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8736405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6" grpId="0" animBg="1"/>
      <p:bldP spid="4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velog.velcdn.com/images/yejine2/post/b03fd089-9b7d-49d8-a408-55c3c543d838/imag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5" y="114299"/>
            <a:ext cx="11430000" cy="5981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1325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중소기업 라우터 - Cisco">
            <a:extLst>
              <a:ext uri="{FF2B5EF4-FFF2-40B4-BE49-F238E27FC236}">
                <a16:creationId xmlns:a16="http://schemas.microsoft.com/office/drawing/2014/main" id="{771EDC73-E568-E5ED-0796-6874FC4F7A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09"/>
          <a:stretch/>
        </p:blipFill>
        <p:spPr bwMode="auto">
          <a:xfrm>
            <a:off x="403829" y="571500"/>
            <a:ext cx="11384341" cy="461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교통경찰 - 해시넷">
            <a:extLst>
              <a:ext uri="{FF2B5EF4-FFF2-40B4-BE49-F238E27FC236}">
                <a16:creationId xmlns:a16="http://schemas.microsoft.com/office/drawing/2014/main" id="{65053316-4B03-1FA6-4147-262DC8164D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897" y="1051824"/>
            <a:ext cx="4574203" cy="304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0455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4573FB1-3A43-37C1-0146-B8B94AC8EACA}"/>
              </a:ext>
            </a:extLst>
          </p:cNvPr>
          <p:cNvSpPr/>
          <p:nvPr/>
        </p:nvSpPr>
        <p:spPr>
          <a:xfrm>
            <a:off x="5975381" y="230908"/>
            <a:ext cx="5958001" cy="6493165"/>
          </a:xfrm>
          <a:prstGeom prst="roundRect">
            <a:avLst/>
          </a:prstGeom>
          <a:solidFill>
            <a:srgbClr val="41B883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66D81B-2FB0-F32F-3644-C1EF03850AA7}"/>
              </a:ext>
            </a:extLst>
          </p:cNvPr>
          <p:cNvSpPr txBox="1"/>
          <p:nvPr/>
        </p:nvSpPr>
        <p:spPr>
          <a:xfrm>
            <a:off x="7701057" y="378812"/>
            <a:ext cx="25066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Vue</a:t>
            </a:r>
            <a:r>
              <a:rPr lang="ko-KR" altLang="en-US" sz="36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36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server</a:t>
            </a:r>
            <a:endParaRPr lang="ko-KR" altLang="en-US" sz="3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0242" name="Picture 2" descr="교통경찰 - 해시넷">
            <a:extLst>
              <a:ext uri="{FF2B5EF4-FFF2-40B4-BE49-F238E27FC236}">
                <a16:creationId xmlns:a16="http://schemas.microsoft.com/office/drawing/2014/main" id="{65053316-4B03-1FA6-4147-262DC8164D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4417" y="2566300"/>
            <a:ext cx="2932864" cy="195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9303516-6375-2D91-B02C-1B3036667047}"/>
              </a:ext>
            </a:extLst>
          </p:cNvPr>
          <p:cNvSpPr/>
          <p:nvPr/>
        </p:nvSpPr>
        <p:spPr>
          <a:xfrm>
            <a:off x="3193473" y="3493654"/>
            <a:ext cx="1646382" cy="833132"/>
          </a:xfrm>
          <a:prstGeom prst="roundRect">
            <a:avLst/>
          </a:prstGeom>
          <a:solidFill>
            <a:schemeClr val="accent2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ROUTER</a:t>
            </a:r>
            <a:endParaRPr lang="ko-KR" altLang="en-US" sz="28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405B9B50-CB7D-E307-FB79-C00032F93C96}"/>
              </a:ext>
            </a:extLst>
          </p:cNvPr>
          <p:cNvSpPr/>
          <p:nvPr/>
        </p:nvSpPr>
        <p:spPr>
          <a:xfrm>
            <a:off x="147782" y="2630031"/>
            <a:ext cx="2894735" cy="1727246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http://localhost:5137</a:t>
            </a:r>
            <a:r>
              <a:rPr lang="en-US" altLang="ko-KR" sz="2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endParaRPr lang="ko-KR" altLang="en-US" sz="24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BE497DB-FEB4-F154-6994-44C939FC0BC2}"/>
              </a:ext>
            </a:extLst>
          </p:cNvPr>
          <p:cNvSpPr/>
          <p:nvPr/>
        </p:nvSpPr>
        <p:spPr>
          <a:xfrm>
            <a:off x="6751782" y="1671811"/>
            <a:ext cx="5181600" cy="1634807"/>
          </a:xfrm>
          <a:prstGeom prst="roundRect">
            <a:avLst/>
          </a:prstGeom>
          <a:solidFill>
            <a:schemeClr val="accent1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http://localhost:5137</a:t>
            </a:r>
            <a:r>
              <a:rPr lang="en-US" altLang="ko-KR" sz="28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</a:p>
          <a:p>
            <a:pPr algn="ctr"/>
            <a:endParaRPr lang="en-US" altLang="ko-KR" sz="2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800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App.vue</a:t>
            </a:r>
            <a:r>
              <a:rPr lang="en-US" altLang="ko-KR" sz="2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컴포넌트 보여주기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394A8A1-5ADC-FB07-C5C5-6E4693414346}"/>
              </a:ext>
            </a:extLst>
          </p:cNvPr>
          <p:cNvSpPr/>
          <p:nvPr/>
        </p:nvSpPr>
        <p:spPr>
          <a:xfrm>
            <a:off x="6751782" y="4031702"/>
            <a:ext cx="5181600" cy="1634807"/>
          </a:xfrm>
          <a:prstGeom prst="roundRect">
            <a:avLst/>
          </a:prstGeom>
          <a:solidFill>
            <a:schemeClr val="accent1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http://localhost:5137</a:t>
            </a:r>
            <a:r>
              <a:rPr lang="en-US" altLang="ko-KR" sz="28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/users</a:t>
            </a:r>
          </a:p>
          <a:p>
            <a:pPr algn="ctr"/>
            <a:endParaRPr lang="en-US" altLang="ko-KR" sz="2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800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User.vue</a:t>
            </a:r>
            <a:r>
              <a:rPr lang="en-US" altLang="ko-KR" sz="2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컴포넌트 보여주기</a:t>
            </a:r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34995856-C4AA-185E-25B6-2E7EAD11DCD7}"/>
              </a:ext>
            </a:extLst>
          </p:cNvPr>
          <p:cNvCxnSpPr>
            <a:cxnSpLocks/>
            <a:stCxn id="10242" idx="3"/>
            <a:endCxn id="10" idx="1"/>
          </p:cNvCxnSpPr>
          <p:nvPr/>
        </p:nvCxnSpPr>
        <p:spPr>
          <a:xfrm flipV="1">
            <a:off x="5937281" y="2489215"/>
            <a:ext cx="814501" cy="1052929"/>
          </a:xfrm>
          <a:prstGeom prst="bentConnector3">
            <a:avLst/>
          </a:prstGeom>
          <a:ln w="76200">
            <a:solidFill>
              <a:schemeClr val="accent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5077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4573FB1-3A43-37C1-0146-B8B94AC8EACA}"/>
              </a:ext>
            </a:extLst>
          </p:cNvPr>
          <p:cNvSpPr/>
          <p:nvPr/>
        </p:nvSpPr>
        <p:spPr>
          <a:xfrm>
            <a:off x="5975381" y="230908"/>
            <a:ext cx="5958001" cy="6493165"/>
          </a:xfrm>
          <a:prstGeom prst="roundRect">
            <a:avLst/>
          </a:prstGeom>
          <a:solidFill>
            <a:srgbClr val="41B883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72ECB74-7725-6092-7F63-BBADDF3D90B2}"/>
              </a:ext>
            </a:extLst>
          </p:cNvPr>
          <p:cNvSpPr/>
          <p:nvPr/>
        </p:nvSpPr>
        <p:spPr>
          <a:xfrm>
            <a:off x="6751782" y="1671811"/>
            <a:ext cx="5181600" cy="1634807"/>
          </a:xfrm>
          <a:prstGeom prst="roundRect">
            <a:avLst/>
          </a:prstGeom>
          <a:solidFill>
            <a:schemeClr val="accent1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http://localhost:5137</a:t>
            </a:r>
            <a:r>
              <a:rPr lang="en-US" altLang="ko-KR" sz="28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</a:p>
          <a:p>
            <a:pPr algn="ctr"/>
            <a:endParaRPr lang="en-US" altLang="ko-KR" sz="2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800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App.vue</a:t>
            </a:r>
            <a:r>
              <a:rPr lang="en-US" altLang="ko-KR" sz="2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컴포넌트 보여주기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66D81B-2FB0-F32F-3644-C1EF03850AA7}"/>
              </a:ext>
            </a:extLst>
          </p:cNvPr>
          <p:cNvSpPr txBox="1"/>
          <p:nvPr/>
        </p:nvSpPr>
        <p:spPr>
          <a:xfrm>
            <a:off x="7701057" y="378812"/>
            <a:ext cx="25066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Vue</a:t>
            </a:r>
            <a:r>
              <a:rPr lang="ko-KR" altLang="en-US" sz="36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36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server</a:t>
            </a:r>
            <a:endParaRPr lang="ko-KR" altLang="en-US" sz="3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B8B4F84-AE65-CD25-FD6E-53DA671EC996}"/>
              </a:ext>
            </a:extLst>
          </p:cNvPr>
          <p:cNvSpPr/>
          <p:nvPr/>
        </p:nvSpPr>
        <p:spPr>
          <a:xfrm>
            <a:off x="6751782" y="4031702"/>
            <a:ext cx="5181600" cy="1634807"/>
          </a:xfrm>
          <a:prstGeom prst="roundRect">
            <a:avLst/>
          </a:prstGeom>
          <a:solidFill>
            <a:schemeClr val="accent1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http://localhost:5137</a:t>
            </a:r>
            <a:r>
              <a:rPr lang="en-US" altLang="ko-KR" sz="28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/users</a:t>
            </a:r>
          </a:p>
          <a:p>
            <a:pPr algn="ctr"/>
            <a:endParaRPr lang="en-US" altLang="ko-KR" sz="2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800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User.vue</a:t>
            </a:r>
            <a:r>
              <a:rPr lang="en-US" altLang="ko-KR" sz="2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컴포넌트 보여주기</a:t>
            </a:r>
          </a:p>
        </p:txBody>
      </p:sp>
      <p:pic>
        <p:nvPicPr>
          <p:cNvPr id="10242" name="Picture 2" descr="교통경찰 - 해시넷">
            <a:extLst>
              <a:ext uri="{FF2B5EF4-FFF2-40B4-BE49-F238E27FC236}">
                <a16:creationId xmlns:a16="http://schemas.microsoft.com/office/drawing/2014/main" id="{65053316-4B03-1FA6-4147-262DC8164D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4417" y="2566300"/>
            <a:ext cx="2932864" cy="195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9303516-6375-2D91-B02C-1B3036667047}"/>
              </a:ext>
            </a:extLst>
          </p:cNvPr>
          <p:cNvSpPr/>
          <p:nvPr/>
        </p:nvSpPr>
        <p:spPr>
          <a:xfrm>
            <a:off x="3193473" y="3493654"/>
            <a:ext cx="1646382" cy="833132"/>
          </a:xfrm>
          <a:prstGeom prst="roundRect">
            <a:avLst/>
          </a:prstGeom>
          <a:solidFill>
            <a:schemeClr val="accent2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ROUTER</a:t>
            </a:r>
            <a:endParaRPr lang="ko-KR" altLang="en-US" sz="28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405B9B50-CB7D-E307-FB79-C00032F93C96}"/>
              </a:ext>
            </a:extLst>
          </p:cNvPr>
          <p:cNvSpPr/>
          <p:nvPr/>
        </p:nvSpPr>
        <p:spPr>
          <a:xfrm>
            <a:off x="147782" y="2630031"/>
            <a:ext cx="2894735" cy="1727246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http://localhost:5137</a:t>
            </a:r>
            <a:r>
              <a:rPr lang="en-US" altLang="ko-KR" sz="2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/users</a:t>
            </a:r>
            <a:endParaRPr lang="ko-KR" altLang="en-US" sz="24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34995856-C4AA-185E-25B6-2E7EAD11DCD7}"/>
              </a:ext>
            </a:extLst>
          </p:cNvPr>
          <p:cNvCxnSpPr>
            <a:cxnSpLocks/>
            <a:stCxn id="10242" idx="3"/>
            <a:endCxn id="7" idx="1"/>
          </p:cNvCxnSpPr>
          <p:nvPr/>
        </p:nvCxnSpPr>
        <p:spPr>
          <a:xfrm>
            <a:off x="5937281" y="3542144"/>
            <a:ext cx="814501" cy="1306962"/>
          </a:xfrm>
          <a:prstGeom prst="bentConnector3">
            <a:avLst/>
          </a:prstGeom>
          <a:ln w="76200">
            <a:solidFill>
              <a:schemeClr val="accent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2947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AB608D3-A33B-5686-2726-10227298FBBA}"/>
              </a:ext>
            </a:extLst>
          </p:cNvPr>
          <p:cNvSpPr/>
          <p:nvPr/>
        </p:nvSpPr>
        <p:spPr>
          <a:xfrm>
            <a:off x="5975381" y="230908"/>
            <a:ext cx="5958001" cy="6493165"/>
          </a:xfrm>
          <a:prstGeom prst="roundRect">
            <a:avLst/>
          </a:prstGeom>
          <a:solidFill>
            <a:srgbClr val="41B883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3E2ADB5-5892-3028-1987-1265593DB37D}"/>
              </a:ext>
            </a:extLst>
          </p:cNvPr>
          <p:cNvSpPr/>
          <p:nvPr/>
        </p:nvSpPr>
        <p:spPr>
          <a:xfrm>
            <a:off x="6751782" y="1671811"/>
            <a:ext cx="5181600" cy="1634807"/>
          </a:xfrm>
          <a:prstGeom prst="roundRect">
            <a:avLst/>
          </a:prstGeom>
          <a:solidFill>
            <a:schemeClr val="accent1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http://localhost:5137</a:t>
            </a:r>
            <a:r>
              <a:rPr lang="en-US" altLang="ko-KR" sz="28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</a:p>
          <a:p>
            <a:pPr algn="ctr"/>
            <a:endParaRPr lang="en-US" altLang="ko-KR" sz="2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800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App.vue</a:t>
            </a:r>
            <a:r>
              <a:rPr lang="en-US" altLang="ko-KR" sz="2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컴포넌트 보여주기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7B44EA-8254-1841-4A7C-3A1C5E7B9496}"/>
              </a:ext>
            </a:extLst>
          </p:cNvPr>
          <p:cNvSpPr txBox="1"/>
          <p:nvPr/>
        </p:nvSpPr>
        <p:spPr>
          <a:xfrm>
            <a:off x="7701057" y="378812"/>
            <a:ext cx="25066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Vue</a:t>
            </a:r>
            <a:r>
              <a:rPr lang="ko-KR" altLang="en-US" sz="36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36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server</a:t>
            </a:r>
            <a:endParaRPr lang="ko-KR" altLang="en-US" sz="3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5FD485A-8A59-4989-7756-08CFC2240710}"/>
              </a:ext>
            </a:extLst>
          </p:cNvPr>
          <p:cNvSpPr/>
          <p:nvPr/>
        </p:nvSpPr>
        <p:spPr>
          <a:xfrm>
            <a:off x="6751782" y="4031702"/>
            <a:ext cx="5181600" cy="1634807"/>
          </a:xfrm>
          <a:prstGeom prst="roundRect">
            <a:avLst/>
          </a:prstGeom>
          <a:solidFill>
            <a:schemeClr val="accent1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http://localhost:5137</a:t>
            </a:r>
            <a:r>
              <a:rPr lang="en-US" altLang="ko-KR" sz="28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/users</a:t>
            </a:r>
          </a:p>
          <a:p>
            <a:pPr algn="ctr"/>
            <a:endParaRPr lang="en-US" altLang="ko-KR" sz="2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800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User.vue</a:t>
            </a:r>
            <a:r>
              <a:rPr lang="en-US" altLang="ko-KR" sz="2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컴포넌트 보여주기</a:t>
            </a:r>
          </a:p>
        </p:txBody>
      </p:sp>
      <p:pic>
        <p:nvPicPr>
          <p:cNvPr id="10242" name="Picture 2" descr="교통경찰 - 해시넷">
            <a:extLst>
              <a:ext uri="{FF2B5EF4-FFF2-40B4-BE49-F238E27FC236}">
                <a16:creationId xmlns:a16="http://schemas.microsoft.com/office/drawing/2014/main" id="{65053316-4B03-1FA6-4147-262DC8164D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4892" y="2566300"/>
            <a:ext cx="2932864" cy="195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9303516-6375-2D91-B02C-1B3036667047}"/>
              </a:ext>
            </a:extLst>
          </p:cNvPr>
          <p:cNvSpPr/>
          <p:nvPr/>
        </p:nvSpPr>
        <p:spPr>
          <a:xfrm>
            <a:off x="3193473" y="3493654"/>
            <a:ext cx="1646382" cy="833132"/>
          </a:xfrm>
          <a:prstGeom prst="roundRect">
            <a:avLst/>
          </a:prstGeom>
          <a:solidFill>
            <a:schemeClr val="accent2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ROUTER</a:t>
            </a:r>
            <a:endParaRPr lang="ko-KR" altLang="en-US" sz="28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405B9B50-CB7D-E307-FB79-C00032F93C96}"/>
              </a:ext>
            </a:extLst>
          </p:cNvPr>
          <p:cNvSpPr/>
          <p:nvPr/>
        </p:nvSpPr>
        <p:spPr>
          <a:xfrm>
            <a:off x="147782" y="2630031"/>
            <a:ext cx="2894735" cy="1727246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http://localhost:5137 </a:t>
            </a:r>
            <a:r>
              <a:rPr lang="en-US" altLang="ko-KR" sz="2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/tetz</a:t>
            </a:r>
            <a:endParaRPr lang="ko-KR" altLang="en-US" sz="24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8434" name="Picture 2" descr="조세호 짤 : 네이버 블로그">
            <a:extLst>
              <a:ext uri="{FF2B5EF4-FFF2-40B4-BE49-F238E27FC236}">
                <a16:creationId xmlns:a16="http://schemas.microsoft.com/office/drawing/2014/main" id="{6457719D-06F2-1BBB-68D7-8820D589E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930" y="449118"/>
            <a:ext cx="49149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210493A-4B80-1219-1906-4DC553C10A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7520" y="1769628"/>
            <a:ext cx="4333721" cy="2821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333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4573FB1-3A43-37C1-0146-B8B94AC8EACA}"/>
              </a:ext>
            </a:extLst>
          </p:cNvPr>
          <p:cNvSpPr/>
          <p:nvPr/>
        </p:nvSpPr>
        <p:spPr>
          <a:xfrm>
            <a:off x="5975381" y="230908"/>
            <a:ext cx="5958001" cy="6493165"/>
          </a:xfrm>
          <a:prstGeom prst="roundRect">
            <a:avLst/>
          </a:prstGeom>
          <a:solidFill>
            <a:srgbClr val="41B883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66D81B-2FB0-F32F-3644-C1EF03850AA7}"/>
              </a:ext>
            </a:extLst>
          </p:cNvPr>
          <p:cNvSpPr txBox="1"/>
          <p:nvPr/>
        </p:nvSpPr>
        <p:spPr>
          <a:xfrm>
            <a:off x="7701057" y="378812"/>
            <a:ext cx="25066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Vue</a:t>
            </a:r>
            <a:r>
              <a:rPr lang="ko-KR" altLang="en-US" sz="36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36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server</a:t>
            </a:r>
            <a:endParaRPr lang="ko-KR" altLang="en-US" sz="3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0242" name="Picture 2" descr="교통경찰 - 해시넷">
            <a:extLst>
              <a:ext uri="{FF2B5EF4-FFF2-40B4-BE49-F238E27FC236}">
                <a16:creationId xmlns:a16="http://schemas.microsoft.com/office/drawing/2014/main" id="{65053316-4B03-1FA6-4147-262DC8164D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4417" y="2566300"/>
            <a:ext cx="2932864" cy="195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9303516-6375-2D91-B02C-1B3036667047}"/>
              </a:ext>
            </a:extLst>
          </p:cNvPr>
          <p:cNvSpPr/>
          <p:nvPr/>
        </p:nvSpPr>
        <p:spPr>
          <a:xfrm>
            <a:off x="3193473" y="3493654"/>
            <a:ext cx="1646382" cy="833132"/>
          </a:xfrm>
          <a:prstGeom prst="roundRect">
            <a:avLst/>
          </a:prstGeom>
          <a:solidFill>
            <a:schemeClr val="accent2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ROUTER</a:t>
            </a:r>
            <a:endParaRPr lang="ko-KR" altLang="en-US" sz="28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405B9B50-CB7D-E307-FB79-C00032F93C96}"/>
              </a:ext>
            </a:extLst>
          </p:cNvPr>
          <p:cNvSpPr/>
          <p:nvPr/>
        </p:nvSpPr>
        <p:spPr>
          <a:xfrm>
            <a:off x="147782" y="2630031"/>
            <a:ext cx="2894735" cy="1727246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http://localhost:5137</a:t>
            </a:r>
            <a:r>
              <a:rPr lang="en-US" altLang="ko-KR" sz="2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endParaRPr lang="ko-KR" altLang="en-US" sz="24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BE497DB-FEB4-F154-6994-44C939FC0BC2}"/>
              </a:ext>
            </a:extLst>
          </p:cNvPr>
          <p:cNvSpPr/>
          <p:nvPr/>
        </p:nvSpPr>
        <p:spPr>
          <a:xfrm>
            <a:off x="6751782" y="1671811"/>
            <a:ext cx="5181600" cy="1634807"/>
          </a:xfrm>
          <a:prstGeom prst="roundRect">
            <a:avLst/>
          </a:prstGeom>
          <a:solidFill>
            <a:schemeClr val="accent1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http://localhost:5137</a:t>
            </a:r>
            <a:r>
              <a:rPr lang="en-US" altLang="ko-KR" sz="28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</a:p>
          <a:p>
            <a:pPr algn="ctr"/>
            <a:endParaRPr lang="en-US" altLang="ko-KR" sz="2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800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App.vue</a:t>
            </a:r>
            <a:r>
              <a:rPr lang="en-US" altLang="ko-KR" sz="2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컴포넌트 보여주기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394A8A1-5ADC-FB07-C5C5-6E4693414346}"/>
              </a:ext>
            </a:extLst>
          </p:cNvPr>
          <p:cNvSpPr/>
          <p:nvPr/>
        </p:nvSpPr>
        <p:spPr>
          <a:xfrm>
            <a:off x="6751782" y="4031702"/>
            <a:ext cx="5181600" cy="1634807"/>
          </a:xfrm>
          <a:prstGeom prst="roundRect">
            <a:avLst/>
          </a:prstGeom>
          <a:solidFill>
            <a:schemeClr val="accent1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http://localhost:5137</a:t>
            </a:r>
            <a:r>
              <a:rPr lang="en-US" altLang="ko-KR" sz="28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/users</a:t>
            </a:r>
          </a:p>
          <a:p>
            <a:pPr algn="ctr"/>
            <a:endParaRPr lang="en-US" altLang="ko-KR" sz="2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800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User.vue</a:t>
            </a:r>
            <a:r>
              <a:rPr lang="en-US" altLang="ko-KR" sz="2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컴포넌트 보여주기</a:t>
            </a:r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34995856-C4AA-185E-25B6-2E7EAD11DCD7}"/>
              </a:ext>
            </a:extLst>
          </p:cNvPr>
          <p:cNvCxnSpPr>
            <a:cxnSpLocks/>
            <a:stCxn id="10242" idx="3"/>
            <a:endCxn id="10" idx="1"/>
          </p:cNvCxnSpPr>
          <p:nvPr/>
        </p:nvCxnSpPr>
        <p:spPr>
          <a:xfrm flipV="1">
            <a:off x="5937281" y="2489215"/>
            <a:ext cx="814501" cy="1052929"/>
          </a:xfrm>
          <a:prstGeom prst="bentConnector3">
            <a:avLst/>
          </a:prstGeom>
          <a:ln w="76200">
            <a:solidFill>
              <a:schemeClr val="accent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D08DC979-1423-392E-0753-FCB43A217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485" y="1037006"/>
            <a:ext cx="4754853" cy="2570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441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0"/>
            <a:ext cx="1219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Router</a:t>
            </a:r>
          </a:p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일단 써보기</a:t>
            </a:r>
            <a:r>
              <a:rPr lang="en-US" altLang="ko-KR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454641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06" y="138891"/>
            <a:ext cx="7325747" cy="249589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06" y="2911261"/>
            <a:ext cx="5058481" cy="3067478"/>
          </a:xfrm>
          <a:prstGeom prst="rect">
            <a:avLst/>
          </a:prstGeom>
        </p:spPr>
      </p:pic>
      <p:sp>
        <p:nvSpPr>
          <p:cNvPr id="7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5679441" y="2911261"/>
            <a:ext cx="4368800" cy="11930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Router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 설정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3789680" y="3403600"/>
            <a:ext cx="2123440" cy="822960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4671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219" y="372072"/>
            <a:ext cx="3608971" cy="5358167"/>
          </a:xfrm>
          <a:prstGeom prst="rect">
            <a:avLst/>
          </a:prstGeom>
        </p:spPr>
      </p:pic>
      <p:sp>
        <p:nvSpPr>
          <p:cNvPr id="4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4533138" y="1224574"/>
            <a:ext cx="3639312" cy="9947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router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폴더 생성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2181225" y="1721949"/>
            <a:ext cx="2733675" cy="830752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4533138" y="2402969"/>
            <a:ext cx="3639312" cy="9947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views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폴더 생성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2105025" y="2900344"/>
            <a:ext cx="2809875" cy="42881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188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74" y="152800"/>
            <a:ext cx="11207241" cy="5348115"/>
          </a:xfrm>
          <a:prstGeom prst="rect">
            <a:avLst/>
          </a:prstGeom>
        </p:spPr>
      </p:pic>
      <p:pic>
        <p:nvPicPr>
          <p:cNvPr id="2050" name="Picture 2" descr="널널 on X: &quot;내눈엔 첼뽀밖에 안보인다는 유용한 짤 https://t.co/M7pxGrll1V&quot; / X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4662" y="2613932"/>
            <a:ext cx="4538137" cy="313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H="1" flipV="1">
            <a:off x="3338286" y="3454400"/>
            <a:ext cx="5704114" cy="464457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H="1" flipV="1">
            <a:off x="3338286" y="3454400"/>
            <a:ext cx="6386286" cy="464457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1819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50" y="209364"/>
            <a:ext cx="10520310" cy="5612315"/>
          </a:xfrm>
          <a:prstGeom prst="rect">
            <a:avLst/>
          </a:prstGeom>
        </p:spPr>
      </p:pic>
      <p:sp>
        <p:nvSpPr>
          <p:cNvPr id="6" name="오른쪽 화살표 5"/>
          <p:cNvSpPr/>
          <p:nvPr/>
        </p:nvSpPr>
        <p:spPr>
          <a:xfrm rot="13987806">
            <a:off x="2818130" y="858786"/>
            <a:ext cx="800100" cy="62865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0170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어서 와', '어서 와, XX는 처음이지?' 드립의 뜻과 유래 : 네이버 블로그">
            <a:extLst>
              <a:ext uri="{FF2B5EF4-FFF2-40B4-BE49-F238E27FC236}">
                <a16:creationId xmlns:a16="http://schemas.microsoft.com/office/drawing/2014/main" id="{328E371C-53DA-8A55-C01B-9CD873A62F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482" y="558442"/>
            <a:ext cx="6083036" cy="5949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0154" y="1348299"/>
            <a:ext cx="4591691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692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짤방백업봇 on X: &quot;바꿔 바꿔 거짓은 다 바꿔 https://t.co/Zyanung54a&quot; / 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8675" y="411162"/>
            <a:ext cx="7550150" cy="5662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8230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86" y="131212"/>
            <a:ext cx="4513659" cy="5355188"/>
          </a:xfrm>
          <a:prstGeom prst="rect">
            <a:avLst/>
          </a:prstGeom>
        </p:spPr>
      </p:pic>
      <p:sp>
        <p:nvSpPr>
          <p:cNvPr id="6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4993640" y="157690"/>
            <a:ext cx="5156199" cy="209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assets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파일 전부 삭제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components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파일 전부 삭제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3642360" y="1097280"/>
            <a:ext cx="1772920" cy="106680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1161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55" y="116499"/>
            <a:ext cx="5734850" cy="4877481"/>
          </a:xfrm>
          <a:prstGeom prst="rect">
            <a:avLst/>
          </a:prstGeom>
        </p:spPr>
      </p:pic>
      <p:sp>
        <p:nvSpPr>
          <p:cNvPr id="5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6182360" y="116499"/>
            <a:ext cx="5156199" cy="16818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삭제한 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main.css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파일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임포트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코드 삭제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5019040" y="957409"/>
            <a:ext cx="1615440" cy="170352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6359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21920" y="141744"/>
            <a:ext cx="8087360" cy="480131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script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setup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RouterLink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RouterView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}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from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vue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-router'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script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template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header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nav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 err="1">
                <a:solidFill>
                  <a:srgbClr val="4EC9B0"/>
                </a:solidFill>
                <a:latin typeface="JetBrains Mono" panose="020B0509020102050004" pitchFamily="49" charset="0"/>
              </a:rPr>
              <a:t>RouterLink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to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"/"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Home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 err="1">
                <a:solidFill>
                  <a:srgbClr val="4EC9B0"/>
                </a:solidFill>
                <a:latin typeface="JetBrains Mono" panose="020B0509020102050004" pitchFamily="49" charset="0"/>
              </a:rPr>
              <a:t>RouterLink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/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 err="1">
                <a:solidFill>
                  <a:srgbClr val="4EC9B0"/>
                </a:solidFill>
                <a:latin typeface="JetBrains Mono" panose="020B0509020102050004" pitchFamily="49" charset="0"/>
              </a:rPr>
              <a:t>RouterLink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to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"/about"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About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 err="1">
                <a:solidFill>
                  <a:srgbClr val="4EC9B0"/>
                </a:solidFill>
                <a:latin typeface="JetBrains Mono" panose="020B0509020102050004" pitchFamily="49" charset="0"/>
              </a:rPr>
              <a:t>RouterLink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nav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header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 err="1">
                <a:solidFill>
                  <a:srgbClr val="4EC9B0"/>
                </a:solidFill>
                <a:latin typeface="JetBrains Mono" panose="020B0509020102050004" pitchFamily="49" charset="0"/>
              </a:rPr>
              <a:t>RouterView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 /&gt;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template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style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scoped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style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b="0" dirty="0">
              <a:solidFill>
                <a:srgbClr val="CCCCCC"/>
              </a:solidFill>
              <a:effectLst/>
              <a:latin typeface="JetBrains Mono" panose="020B0509020102050004" pitchFamily="49" charset="0"/>
            </a:endParaRPr>
          </a:p>
        </p:txBody>
      </p:sp>
      <p:sp>
        <p:nvSpPr>
          <p:cNvPr id="5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6964680" y="1300480"/>
            <a:ext cx="5156199" cy="11988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App.vue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불필요 코드를 삭제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6116320" y="1910080"/>
            <a:ext cx="1158240" cy="304801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846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0"/>
            <a:ext cx="1219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Router </a:t>
            </a: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용</a:t>
            </a:r>
            <a:endParaRPr lang="en-US" altLang="ko-KR" sz="9600" dirty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페이지 </a:t>
            </a:r>
            <a:r>
              <a:rPr lang="ko-KR" altLang="en-US" sz="9600" dirty="0" smtClean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작업</a:t>
            </a:r>
            <a:endParaRPr lang="en-US" altLang="ko-KR" sz="9600" dirty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6196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62" y="156127"/>
            <a:ext cx="2762636" cy="118126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4269" y="156127"/>
            <a:ext cx="3073381" cy="1181265"/>
          </a:xfrm>
          <a:prstGeom prst="rect">
            <a:avLst/>
          </a:prstGeom>
        </p:spPr>
      </p:pic>
      <p:sp>
        <p:nvSpPr>
          <p:cNvPr id="6" name="오른쪽 화살표 5"/>
          <p:cNvSpPr/>
          <p:nvPr/>
        </p:nvSpPr>
        <p:spPr>
          <a:xfrm>
            <a:off x="3393440" y="426720"/>
            <a:ext cx="1432560" cy="64008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1844040" y="1650659"/>
            <a:ext cx="5156199" cy="12246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views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폴더를 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pages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폴더로 수정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0496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7" y="173913"/>
            <a:ext cx="2695951" cy="1105054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60957" y="1467902"/>
            <a:ext cx="12059923" cy="36933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template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div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h1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ko-KR" altLang="en-US" dirty="0">
                <a:solidFill>
                  <a:srgbClr val="CCCCCC"/>
                </a:solidFill>
                <a:latin typeface="JetBrains Mono" panose="020B0509020102050004" pitchFamily="49" charset="0"/>
              </a:rPr>
              <a:t>뷰 라우터의 세계에 오신 것을 환영 합니다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!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h1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img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src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"https://photo.coolenjoy.co.kr/data/editor/2008/20200813130955_aiqgbsrk.gif"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alt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</a:t>
            </a:r>
            <a:r>
              <a:rPr lang="ko-KR" altLang="en-US" dirty="0">
                <a:solidFill>
                  <a:srgbClr val="CE9178"/>
                </a:solidFill>
                <a:latin typeface="JetBrains Mono" panose="020B0509020102050004" pitchFamily="49" charset="0"/>
              </a:rPr>
              <a:t>지겨운 장동민 </a:t>
            </a:r>
            <a:r>
              <a:rPr lang="ko-KR" altLang="en-US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마멋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</a:t>
            </a:r>
            <a:endParaRPr lang="ko-KR" altLang="en-US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ko-KR" altLang="en-US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/&gt;</a:t>
            </a:r>
            <a:endParaRPr lang="ko-KR" altLang="en-US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ko-KR" altLang="en-US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div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template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script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setup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script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style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lang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scss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scoped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style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b="0" dirty="0">
              <a:solidFill>
                <a:srgbClr val="CCCCCC"/>
              </a:solidFill>
              <a:effectLst/>
              <a:latin typeface="JetBrains Mono" panose="020B050902010205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365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1120" y="1364685"/>
            <a:ext cx="12019280" cy="42473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template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div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h1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ko-KR" altLang="en-US" dirty="0">
                <a:solidFill>
                  <a:srgbClr val="CCCCCC"/>
                </a:solidFill>
                <a:latin typeface="JetBrains Mono" panose="020B0509020102050004" pitchFamily="49" charset="0"/>
              </a:rPr>
              <a:t>라우터를 한 장의 사진으로 표현을 하자면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!?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h1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img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src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"https://i.namu.wiki/i/7FODsKCXtAzORT_Y79ifc5xHgyqWYetlEAPqZmZMnI7rCdu2AjSsJauxPZTUBw39kQ10PXOa1sLU5m_EEov2hPfKFNnTerBjLto6fWdoktzGLRpDiYlfDIY4yoczHhyfuW1qsM1JNWQCmxE48y_PHA.webp"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alt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</a:t>
            </a:r>
            <a:r>
              <a:rPr lang="ko-KR" altLang="en-US" dirty="0">
                <a:solidFill>
                  <a:srgbClr val="CE9178"/>
                </a:solidFill>
                <a:latin typeface="JetBrains Mono" panose="020B0509020102050004" pitchFamily="49" charset="0"/>
              </a:rPr>
              <a:t>교통 경찰관 님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</a:t>
            </a:r>
            <a:endParaRPr lang="ko-KR" altLang="en-US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ko-KR" altLang="en-US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/&gt;</a:t>
            </a:r>
            <a:endParaRPr lang="ko-KR" altLang="en-US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ko-KR" altLang="en-US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div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template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script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setup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script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style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lang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scss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scoped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style</a:t>
            </a:r>
            <a:r>
              <a:rPr lang="en-US" altLang="ko-KR" dirty="0" smtClean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b="0" dirty="0">
              <a:solidFill>
                <a:srgbClr val="CCCCCC"/>
              </a:solidFill>
              <a:effectLst/>
              <a:latin typeface="JetBrains Mono" panose="020B0509020102050004" pitchFamily="49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" y="143433"/>
            <a:ext cx="2724530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064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0"/>
            <a:ext cx="1219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Router</a:t>
            </a:r>
          </a:p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설정하기</a:t>
            </a:r>
            <a:endParaRPr lang="en-US" altLang="ko-KR" sz="9600" dirty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6719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71" y="130432"/>
            <a:ext cx="3690480" cy="128180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43971" y="1552832"/>
            <a:ext cx="9265920" cy="507831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createRouter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createWebHistory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}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from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vue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-router'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HomeView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from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'../pages/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HomeView.vue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router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createRouter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history: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createWebHistory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 err="1">
                <a:solidFill>
                  <a:srgbClr val="C586C0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meta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env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BASE_URL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routes: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[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path: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'/'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name: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'home'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4EC9B0"/>
                </a:solidFill>
                <a:latin typeface="JetBrains Mono" panose="020B0509020102050004" pitchFamily="49" charset="0"/>
              </a:rPr>
              <a:t>component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HomeView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},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path: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'/about'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name: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'about'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component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()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=&gt;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'../pages/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AboutView.vue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},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],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});</a:t>
            </a:r>
            <a:endParaRPr lang="en-US" altLang="ko-KR" b="0" dirty="0">
              <a:solidFill>
                <a:srgbClr val="CCCCCC"/>
              </a:solidFill>
              <a:effectLst/>
              <a:latin typeface="JetBrains Mono" panose="020B0509020102050004" pitchFamily="49" charset="0"/>
            </a:endParaRPr>
          </a:p>
        </p:txBody>
      </p:sp>
      <p:sp>
        <p:nvSpPr>
          <p:cNvPr id="6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7035801" y="3220720"/>
            <a:ext cx="5156199" cy="11988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pages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변경 된 폴더 명 반영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4185920" y="2255520"/>
            <a:ext cx="3078480" cy="1534160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5334000" y="3789680"/>
            <a:ext cx="1930400" cy="1515488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484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2080" y="117693"/>
            <a:ext cx="11013440" cy="563231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createRouter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createWebHistory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}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from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vue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-router'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HomeView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from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'../pages/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HomeView.vue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router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createRouter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history: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createWebHistory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 err="1">
                <a:solidFill>
                  <a:srgbClr val="C586C0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meta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env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BASE_URL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routes: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[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path: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'/'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name: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'home'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4EC9B0"/>
                </a:solidFill>
                <a:latin typeface="JetBrains Mono" panose="020B0509020102050004" pitchFamily="49" charset="0"/>
              </a:rPr>
              <a:t>component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HomeView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},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path: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'/about'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name: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'about'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component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()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=&gt;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'../pages/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AboutView.vue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},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],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});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export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default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router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  <a:endParaRPr lang="en-US" altLang="ko-KR" b="0" dirty="0">
              <a:solidFill>
                <a:srgbClr val="CCCCCC"/>
              </a:solidFill>
              <a:effectLst/>
              <a:latin typeface="JetBrains Mono" panose="020B0509020102050004" pitchFamily="49" charset="0"/>
            </a:endParaRPr>
          </a:p>
        </p:txBody>
      </p:sp>
      <p:sp>
        <p:nvSpPr>
          <p:cNvPr id="5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4541520" y="1706880"/>
            <a:ext cx="5156199" cy="6807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라우터가 연결할 주소 값을 지정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2540000" y="2011680"/>
            <a:ext cx="2316480" cy="172720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5110480" y="2692400"/>
            <a:ext cx="5156199" cy="6807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해당 주소에 연결할 컴포넌트 연결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3901440" y="2783840"/>
            <a:ext cx="1524000" cy="213360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7331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2080" y="117693"/>
            <a:ext cx="11013440" cy="563231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createRouter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createWebHistory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}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from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vue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-router'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HomeView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from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'../pages/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HomeView.vue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router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createRouter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history: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createWebHistory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 err="1">
                <a:solidFill>
                  <a:srgbClr val="C586C0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meta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env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BASE_URL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routes: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[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path: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'/'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name: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'home'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4EC9B0"/>
                </a:solidFill>
                <a:latin typeface="JetBrains Mono" panose="020B0509020102050004" pitchFamily="49" charset="0"/>
              </a:rPr>
              <a:t>component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HomeView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},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path: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'/about'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name: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'about'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component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()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=&gt;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'../pages/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AboutView.vue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},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],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});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export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default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router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  <a:endParaRPr lang="en-US" altLang="ko-KR" b="0" dirty="0">
              <a:solidFill>
                <a:srgbClr val="CCCCCC"/>
              </a:solidFill>
              <a:effectLst/>
              <a:latin typeface="JetBrains Mono" panose="020B0509020102050004" pitchFamily="49" charset="0"/>
            </a:endParaRPr>
          </a:p>
        </p:txBody>
      </p:sp>
      <p:sp>
        <p:nvSpPr>
          <p:cNvPr id="10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5110480" y="1666240"/>
            <a:ext cx="5156199" cy="218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초기에 컴포넌트를 로딩하지 않고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해당 주소 요청이 들어 올 때만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컴포넌트를 즉시 불러서 연결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  <a:p>
            <a:pPr algn="ctr"/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 Lazy Loading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3850640" y="2794000"/>
            <a:ext cx="1524000" cy="1056640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517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0"/>
            <a:ext cx="12192000" cy="4311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App</a:t>
            </a:r>
          </a:p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코드 변경</a:t>
            </a:r>
            <a:endParaRPr lang="en-US" altLang="ko-KR" sz="9600" dirty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9537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21920" y="141744"/>
            <a:ext cx="8087360" cy="480131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script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setup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RouterLink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RouterView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}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from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vue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-router'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script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template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header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nav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 err="1">
                <a:solidFill>
                  <a:srgbClr val="4EC9B0"/>
                </a:solidFill>
                <a:latin typeface="JetBrains Mono" panose="020B0509020102050004" pitchFamily="49" charset="0"/>
              </a:rPr>
              <a:t>RouterLink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to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"/"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Home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 err="1">
                <a:solidFill>
                  <a:srgbClr val="4EC9B0"/>
                </a:solidFill>
                <a:latin typeface="JetBrains Mono" panose="020B0509020102050004" pitchFamily="49" charset="0"/>
              </a:rPr>
              <a:t>RouterLink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/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 err="1">
                <a:solidFill>
                  <a:srgbClr val="4EC9B0"/>
                </a:solidFill>
                <a:latin typeface="JetBrains Mono" panose="020B0509020102050004" pitchFamily="49" charset="0"/>
              </a:rPr>
              <a:t>RouterLink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to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"/about"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About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 err="1">
                <a:solidFill>
                  <a:srgbClr val="4EC9B0"/>
                </a:solidFill>
                <a:latin typeface="JetBrains Mono" panose="020B0509020102050004" pitchFamily="49" charset="0"/>
              </a:rPr>
              <a:t>RouterLink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nav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header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 err="1">
                <a:solidFill>
                  <a:srgbClr val="4EC9B0"/>
                </a:solidFill>
                <a:latin typeface="JetBrains Mono" panose="020B0509020102050004" pitchFamily="49" charset="0"/>
              </a:rPr>
              <a:t>RouterView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 /&gt;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template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style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scoped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style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b="0" dirty="0">
              <a:solidFill>
                <a:srgbClr val="CCCCCC"/>
              </a:solidFill>
              <a:effectLst/>
              <a:latin typeface="JetBrains Mono" panose="020B0509020102050004" pitchFamily="49" charset="0"/>
            </a:endParaRPr>
          </a:p>
        </p:txBody>
      </p:sp>
      <p:sp>
        <p:nvSpPr>
          <p:cNvPr id="5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7081520" y="1172569"/>
            <a:ext cx="4368800" cy="11930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라우터에 설정한 주소로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이동시켜주는 </a:t>
            </a:r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RouterLink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6096000" y="1637025"/>
            <a:ext cx="1364488" cy="557535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6920992" y="1637026"/>
            <a:ext cx="539496" cy="1081790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6144768" y="3482321"/>
            <a:ext cx="6047232" cy="14361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라우터 주소에 연결 된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컴포넌트를 보여줄 위치를 지정하는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router-view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2560320" y="3891416"/>
            <a:ext cx="3942080" cy="364029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5521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75" y="101321"/>
            <a:ext cx="6168065" cy="5867184"/>
          </a:xfrm>
          <a:prstGeom prst="rect">
            <a:avLst/>
          </a:prstGeom>
        </p:spPr>
      </p:pic>
      <p:cxnSp>
        <p:nvCxnSpPr>
          <p:cNvPr id="6" name="직선 연결선 5"/>
          <p:cNvCxnSpPr/>
          <p:nvPr/>
        </p:nvCxnSpPr>
        <p:spPr>
          <a:xfrm>
            <a:off x="1309116" y="755904"/>
            <a:ext cx="896112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158" y="549650"/>
            <a:ext cx="6480241" cy="6003550"/>
          </a:xfrm>
          <a:prstGeom prst="rect">
            <a:avLst/>
          </a:prstGeom>
        </p:spPr>
      </p:pic>
      <p:cxnSp>
        <p:nvCxnSpPr>
          <p:cNvPr id="9" name="직선 연결선 8"/>
          <p:cNvCxnSpPr/>
          <p:nvPr/>
        </p:nvCxnSpPr>
        <p:spPr>
          <a:xfrm>
            <a:off x="5960872" y="1233424"/>
            <a:ext cx="1292352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372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87" y="745441"/>
            <a:ext cx="5296424" cy="5089301"/>
          </a:xfrm>
          <a:prstGeom prst="rect">
            <a:avLst/>
          </a:prstGeom>
        </p:spPr>
      </p:pic>
      <p:pic>
        <p:nvPicPr>
          <p:cNvPr id="5122" name="Picture 2" descr="IT프로젝트 업무 사진 &gt; 유머게시판 | 퀘이사플레이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2517" y="182881"/>
            <a:ext cx="6448570" cy="6448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6893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0"/>
            <a:ext cx="12192000" cy="4311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600" dirty="0" smtClean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주소 처리를 </a:t>
            </a:r>
            <a:r>
              <a:rPr lang="ko-KR" altLang="en-US" sz="9600" dirty="0" smtClean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도와주는</a:t>
            </a:r>
            <a:endParaRPr lang="en-US" altLang="ko-KR" sz="9600" dirty="0" smtClean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9600" dirty="0" err="1" smtClean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useRouter</a:t>
            </a:r>
            <a:endParaRPr lang="en-US" altLang="ko-KR" sz="9600" dirty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3569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12" y="228185"/>
            <a:ext cx="11641175" cy="594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419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A Href Links: What They Are &amp; How to Use Them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49" t="29680" r="13320" b="33224"/>
          <a:stretch/>
        </p:blipFill>
        <p:spPr bwMode="auto">
          <a:xfrm>
            <a:off x="515816" y="468924"/>
            <a:ext cx="8850122" cy="2227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File:Red X.svg - Wikipe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0626" y="307304"/>
            <a:ext cx="2550624" cy="2550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js-logo – GLE Construction And Developmen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190" y="3247292"/>
            <a:ext cx="3337903" cy="3337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로켓 - 무료 교통개 아이콘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3942" y="3552091"/>
            <a:ext cx="2728302" cy="2728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4757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117230" y="93784"/>
            <a:ext cx="10632050" cy="590931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script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setup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RouterLink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RouterView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useRouter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}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from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vue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-router'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router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useRouter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();</a:t>
            </a:r>
          </a:p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script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template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header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nav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div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class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"button-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nav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button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@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click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="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router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push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'/'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)"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Home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button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button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@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click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="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router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push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'/about'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)"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About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button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button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@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click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="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router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back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()"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ko-KR" altLang="en-US" dirty="0">
                <a:solidFill>
                  <a:srgbClr val="CCCCCC"/>
                </a:solidFill>
                <a:latin typeface="JetBrains Mono" panose="020B0509020102050004" pitchFamily="49" charset="0"/>
              </a:rPr>
              <a:t>뒤로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button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button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@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click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="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router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forward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()"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ko-KR" altLang="en-US" dirty="0">
                <a:solidFill>
                  <a:srgbClr val="CCCCCC"/>
                </a:solidFill>
                <a:latin typeface="JetBrains Mono" panose="020B0509020102050004" pitchFamily="49" charset="0"/>
              </a:rPr>
              <a:t>앞으로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button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button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@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click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="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router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go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-</a:t>
            </a:r>
            <a:r>
              <a:rPr lang="en-US" altLang="ko-KR" dirty="0">
                <a:solidFill>
                  <a:srgbClr val="B5CEA8"/>
                </a:solidFill>
                <a:latin typeface="JetBrains Mono" panose="020B0509020102050004" pitchFamily="49" charset="0"/>
              </a:rPr>
              <a:t>2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)"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ko-KR" altLang="en-US" dirty="0">
                <a:solidFill>
                  <a:srgbClr val="CCCCCC"/>
                </a:solidFill>
                <a:latin typeface="JetBrains Mono" panose="020B0509020102050004" pitchFamily="49" charset="0"/>
              </a:rPr>
              <a:t>뒤로 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2</a:t>
            </a:r>
            <a:r>
              <a:rPr lang="ko-KR" altLang="en-US" dirty="0">
                <a:solidFill>
                  <a:srgbClr val="CCCCCC"/>
                </a:solidFill>
                <a:latin typeface="JetBrains Mono" panose="020B0509020102050004" pitchFamily="49" charset="0"/>
              </a:rPr>
              <a:t>번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button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div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nav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header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 err="1">
                <a:solidFill>
                  <a:srgbClr val="4EC9B0"/>
                </a:solidFill>
                <a:latin typeface="JetBrains Mono" panose="020B0509020102050004" pitchFamily="49" charset="0"/>
              </a:rPr>
              <a:t>RouterView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 /&gt;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template</a:t>
            </a:r>
            <a:r>
              <a:rPr lang="en-US" altLang="ko-KR" dirty="0" smtClean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b="0" dirty="0">
              <a:solidFill>
                <a:srgbClr val="CCCCCC"/>
              </a:solidFill>
              <a:effectLst/>
              <a:latin typeface="JetBrains Mono" panose="020B0509020102050004" pitchFamily="49" charset="0"/>
            </a:endParaRPr>
          </a:p>
        </p:txBody>
      </p:sp>
      <p:sp>
        <p:nvSpPr>
          <p:cNvPr id="4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8159750" y="802640"/>
            <a:ext cx="3727450" cy="12258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Vue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에서 관리하는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라우터 객체를 </a:t>
            </a:r>
            <a:r>
              <a:rPr lang="ko-KR" altLang="en-US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임포트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5628640" y="802640"/>
            <a:ext cx="2865120" cy="497840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4411980" y="1300480"/>
            <a:ext cx="2853690" cy="965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객체를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변수에 담아서 사용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4033520" y="1168400"/>
            <a:ext cx="721360" cy="467360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5838824" y="4531360"/>
            <a:ext cx="4717415" cy="965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각각의 기능을 잘 쓰면 됩니다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5460365" y="4399280"/>
            <a:ext cx="721360" cy="467360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9229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1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01" y="167796"/>
            <a:ext cx="7701258" cy="453462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9951" y="1605100"/>
            <a:ext cx="8184816" cy="44341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4150901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0"/>
            <a:ext cx="1219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Dynamic</a:t>
            </a:r>
          </a:p>
          <a:p>
            <a:pPr algn="ctr">
              <a:lnSpc>
                <a:spcPct val="150000"/>
              </a:lnSpc>
            </a:pPr>
            <a:r>
              <a:rPr lang="en-US" altLang="ko-KR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Route</a:t>
            </a:r>
          </a:p>
        </p:txBody>
      </p:sp>
    </p:spTree>
    <p:extLst>
      <p:ext uri="{BB962C8B-B14F-4D97-AF65-F5344CB8AC3E}">
        <p14:creationId xmlns:p14="http://schemas.microsoft.com/office/powerpoint/2010/main" val="267581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공식입장] 다이나믹 듀오, MBC '언더나인틴' 디렉터 확정 - 뉴스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8" y="499608"/>
            <a:ext cx="8785225" cy="5867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6840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개발 공감 짤 구경하고 가세요~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032" y="475224"/>
            <a:ext cx="5389819" cy="5389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개발 짤 10, 곧 코딩을 다 끝낸다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5075" y="903925"/>
            <a:ext cx="5618023" cy="4532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897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닥터 스트레인지의 진짜 큰그림은 이거였음! [꿀이벤트]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723"/>
          <a:stretch/>
        </p:blipFill>
        <p:spPr bwMode="auto">
          <a:xfrm>
            <a:off x="1364545" y="584427"/>
            <a:ext cx="9462911" cy="4219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닥터 스트레인지의 진짜 큰그림은 이거였음! [꿀이벤트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545" y="584427"/>
            <a:ext cx="9462911" cy="5322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0881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힘내!!! on X: &quot;ㅍㅎㅎㅎㅎ 천수관음 아니 천수호빵왕자ㅋㅋ 속으론 떨고있지만 언제나 당당한 모습 죠와 ✌ #호빵왕자 #복면가왕  #복가 https://t.co/pqq0CtgjD4&quot; / 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535" y="469900"/>
            <a:ext cx="10430931" cy="5867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사각형: 둥근 모서리 5">
            <a:extLst>
              <a:ext uri="{FF2B5EF4-FFF2-40B4-BE49-F238E27FC236}">
                <a16:creationId xmlns:a16="http://schemas.microsoft.com/office/drawing/2014/main" id="{91487BA2-F7B2-5C8A-D2AB-9ACAA234F152}"/>
              </a:ext>
            </a:extLst>
          </p:cNvPr>
          <p:cNvSpPr/>
          <p:nvPr/>
        </p:nvSpPr>
        <p:spPr>
          <a:xfrm>
            <a:off x="2173386" y="4913684"/>
            <a:ext cx="1814413" cy="781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컴포넌트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1487BA2-F7B2-5C8A-D2AB-9ACAA234F152}"/>
              </a:ext>
            </a:extLst>
          </p:cNvPr>
          <p:cNvSpPr/>
          <p:nvPr/>
        </p:nvSpPr>
        <p:spPr>
          <a:xfrm>
            <a:off x="1893986" y="2868984"/>
            <a:ext cx="1814413" cy="781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컴포넌트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사각형: 둥근 모서리 5">
            <a:extLst>
              <a:ext uri="{FF2B5EF4-FFF2-40B4-BE49-F238E27FC236}">
                <a16:creationId xmlns:a16="http://schemas.microsoft.com/office/drawing/2014/main" id="{91487BA2-F7B2-5C8A-D2AB-9ACAA234F152}"/>
              </a:ext>
            </a:extLst>
          </p:cNvPr>
          <p:cNvSpPr/>
          <p:nvPr/>
        </p:nvSpPr>
        <p:spPr>
          <a:xfrm>
            <a:off x="2338486" y="1214809"/>
            <a:ext cx="1814413" cy="781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컴포넌트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사각형: 둥근 모서리 5">
            <a:extLst>
              <a:ext uri="{FF2B5EF4-FFF2-40B4-BE49-F238E27FC236}">
                <a16:creationId xmlns:a16="http://schemas.microsoft.com/office/drawing/2014/main" id="{91487BA2-F7B2-5C8A-D2AB-9ACAA234F152}"/>
              </a:ext>
            </a:extLst>
          </p:cNvPr>
          <p:cNvSpPr/>
          <p:nvPr/>
        </p:nvSpPr>
        <p:spPr>
          <a:xfrm>
            <a:off x="6786875" y="469900"/>
            <a:ext cx="1814413" cy="781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컴포넌트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" name="사각형: 둥근 모서리 5">
            <a:extLst>
              <a:ext uri="{FF2B5EF4-FFF2-40B4-BE49-F238E27FC236}">
                <a16:creationId xmlns:a16="http://schemas.microsoft.com/office/drawing/2014/main" id="{91487BA2-F7B2-5C8A-D2AB-9ACAA234F152}"/>
              </a:ext>
            </a:extLst>
          </p:cNvPr>
          <p:cNvSpPr/>
          <p:nvPr/>
        </p:nvSpPr>
        <p:spPr>
          <a:xfrm>
            <a:off x="8630076" y="1092200"/>
            <a:ext cx="1814413" cy="781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E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컴포넌트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" name="사각형: 둥근 모서리 5">
            <a:extLst>
              <a:ext uri="{FF2B5EF4-FFF2-40B4-BE49-F238E27FC236}">
                <a16:creationId xmlns:a16="http://schemas.microsoft.com/office/drawing/2014/main" id="{91487BA2-F7B2-5C8A-D2AB-9ACAA234F152}"/>
              </a:ext>
            </a:extLst>
          </p:cNvPr>
          <p:cNvSpPr/>
          <p:nvPr/>
        </p:nvSpPr>
        <p:spPr>
          <a:xfrm>
            <a:off x="9112676" y="2868984"/>
            <a:ext cx="1814413" cy="781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F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컴포넌트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사각형: 둥근 모서리 5">
            <a:extLst>
              <a:ext uri="{FF2B5EF4-FFF2-40B4-BE49-F238E27FC236}">
                <a16:creationId xmlns:a16="http://schemas.microsoft.com/office/drawing/2014/main" id="{91487BA2-F7B2-5C8A-D2AB-9ACAA234F152}"/>
              </a:ext>
            </a:extLst>
          </p:cNvPr>
          <p:cNvSpPr/>
          <p:nvPr/>
        </p:nvSpPr>
        <p:spPr>
          <a:xfrm>
            <a:off x="8731676" y="5245843"/>
            <a:ext cx="1814413" cy="781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G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컴포넌트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0025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140,219 Request Images, Stock Photos, 3D objects, &amp; Vectors | Shutterstock">
            <a:extLst>
              <a:ext uri="{FF2B5EF4-FFF2-40B4-BE49-F238E27FC236}">
                <a16:creationId xmlns:a16="http://schemas.microsoft.com/office/drawing/2014/main" id="{F8B124FA-3977-4E91-2EBA-6D8BA419DB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29"/>
          <a:stretch/>
        </p:blipFill>
        <p:spPr bwMode="auto">
          <a:xfrm>
            <a:off x="1035423" y="1790700"/>
            <a:ext cx="7225553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6191648F-E310-28EE-D945-964E86BEA4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769"/>
          <a:stretch/>
        </p:blipFill>
        <p:spPr bwMode="auto">
          <a:xfrm>
            <a:off x="5838825" y="0"/>
            <a:ext cx="4905375" cy="360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0493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0"/>
            <a:ext cx="1219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Parameter,</a:t>
            </a:r>
          </a:p>
          <a:p>
            <a:pPr algn="ctr">
              <a:lnSpc>
                <a:spcPct val="150000"/>
              </a:lnSpc>
            </a:pPr>
            <a:r>
              <a:rPr lang="en-US" altLang="ko-KR" sz="9600" dirty="0" err="1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QueryString</a:t>
            </a:r>
            <a:endParaRPr lang="en-US" altLang="ko-KR" sz="9600" dirty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7022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A Beginner's Guide to URL Parameter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941"/>
          <a:stretch/>
        </p:blipFill>
        <p:spPr bwMode="auto">
          <a:xfrm>
            <a:off x="0" y="0"/>
            <a:ext cx="12192000" cy="3088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몰랑이작가 on X: &quot;한때 유행했던 카톡 복주머니짤을 패러디했던 몰랑이ㅎㅎ 언제적 그림인지 기억도 안나..  https://t.co/UCpkQvWTcW&quot; / X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2873375"/>
            <a:ext cx="3119355" cy="348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사각형: 둥근 모서리 5">
            <a:extLst>
              <a:ext uri="{FF2B5EF4-FFF2-40B4-BE49-F238E27FC236}">
                <a16:creationId xmlns:a16="http://schemas.microsoft.com/office/drawing/2014/main" id="{91487BA2-F7B2-5C8A-D2AB-9ACAA234F152}"/>
              </a:ext>
            </a:extLst>
          </p:cNvPr>
          <p:cNvSpPr/>
          <p:nvPr/>
        </p:nvSpPr>
        <p:spPr>
          <a:xfrm>
            <a:off x="581967" y="4730115"/>
            <a:ext cx="1344514" cy="781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Client</a:t>
            </a:r>
          </a:p>
        </p:txBody>
      </p:sp>
      <p:sp>
        <p:nvSpPr>
          <p:cNvPr id="5" name="사각형: 둥근 모서리 5">
            <a:extLst>
              <a:ext uri="{FF2B5EF4-FFF2-40B4-BE49-F238E27FC236}">
                <a16:creationId xmlns:a16="http://schemas.microsoft.com/office/drawing/2014/main" id="{91487BA2-F7B2-5C8A-D2AB-9ACAA234F152}"/>
              </a:ext>
            </a:extLst>
          </p:cNvPr>
          <p:cNvSpPr/>
          <p:nvPr/>
        </p:nvSpPr>
        <p:spPr>
          <a:xfrm>
            <a:off x="3240187" y="5390515"/>
            <a:ext cx="1344514" cy="781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정보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619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93997" y="450334"/>
            <a:ext cx="8084264" cy="5847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sz="3200" dirty="0">
                <a:solidFill>
                  <a:srgbClr val="9CDCFE"/>
                </a:solidFill>
                <a:latin typeface="Jetbrains Mono" panose="02000009000000000000" pitchFamily="49" charset="0"/>
              </a:rPr>
              <a:t>url:</a:t>
            </a:r>
            <a:r>
              <a:rPr lang="en-US" altLang="ko-KR" sz="3200" dirty="0">
                <a:solidFill>
                  <a:srgbClr val="D4D4D4"/>
                </a:solidFill>
                <a:latin typeface="Jetbrains Mono" panose="02000009000000000000" pitchFamily="49" charset="0"/>
              </a:rPr>
              <a:t> </a:t>
            </a:r>
            <a:r>
              <a:rPr lang="en-US" altLang="ko-KR" sz="3200" dirty="0">
                <a:solidFill>
                  <a:srgbClr val="CE9178"/>
                </a:solidFill>
                <a:latin typeface="Jetbrains Mono" panose="02000009000000000000" pitchFamily="49" charset="0"/>
              </a:rPr>
              <a:t>'/dynamic/:mood/:condition'</a:t>
            </a:r>
            <a:endParaRPr lang="en-US" altLang="ko-KR" sz="32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</p:txBody>
      </p:sp>
      <p:sp>
        <p:nvSpPr>
          <p:cNvPr id="3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8331200" y="1162957"/>
            <a:ext cx="3860799" cy="14477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Parameter</a:t>
            </a: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약속된 형태로 정보 보내기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8331200" y="914400"/>
            <a:ext cx="495300" cy="584200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997" y="1498600"/>
            <a:ext cx="7086879" cy="1022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357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03497" y="424934"/>
            <a:ext cx="10552889" cy="5847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sz="3200" dirty="0">
                <a:solidFill>
                  <a:srgbClr val="9CDCFE"/>
                </a:solidFill>
                <a:latin typeface="Jetbrains Mono" panose="02000009000000000000" pitchFamily="49" charset="0"/>
              </a:rPr>
              <a:t>url:</a:t>
            </a:r>
            <a:r>
              <a:rPr lang="en-US" altLang="ko-KR" sz="3200" dirty="0">
                <a:solidFill>
                  <a:srgbClr val="D4D4D4"/>
                </a:solidFill>
                <a:latin typeface="Jetbrains Mono" panose="02000009000000000000" pitchFamily="49" charset="0"/>
              </a:rPr>
              <a:t> </a:t>
            </a:r>
            <a:r>
              <a:rPr lang="en-US" altLang="ko-KR" sz="3200" dirty="0">
                <a:solidFill>
                  <a:srgbClr val="CE9178"/>
                </a:solidFill>
                <a:latin typeface="Jetbrains Mono" panose="02000009000000000000" pitchFamily="49" charset="0"/>
              </a:rPr>
              <a:t>'/</a:t>
            </a:r>
            <a:r>
              <a:rPr lang="en-US" altLang="ko-KR" sz="3200" dirty="0" err="1">
                <a:solidFill>
                  <a:srgbClr val="CE9178"/>
                </a:solidFill>
                <a:latin typeface="Jetbrains Mono" panose="02000009000000000000" pitchFamily="49" charset="0"/>
              </a:rPr>
              <a:t>dynamic?mood</a:t>
            </a:r>
            <a:r>
              <a:rPr lang="en-US" altLang="ko-KR" sz="3200" dirty="0">
                <a:solidFill>
                  <a:srgbClr val="CE9178"/>
                </a:solidFill>
                <a:latin typeface="Jetbrains Mono" panose="02000009000000000000" pitchFamily="49" charset="0"/>
              </a:rPr>
              <a:t>=</a:t>
            </a:r>
            <a:r>
              <a:rPr lang="en-US" altLang="ko-KR" sz="3200" dirty="0" err="1">
                <a:solidFill>
                  <a:srgbClr val="CE9178"/>
                </a:solidFill>
                <a:latin typeface="Jetbrains Mono" panose="02000009000000000000" pitchFamily="49" charset="0"/>
              </a:rPr>
              <a:t>happy&amp;condition</a:t>
            </a:r>
            <a:r>
              <a:rPr lang="en-US" altLang="ko-KR" sz="3200" dirty="0">
                <a:solidFill>
                  <a:srgbClr val="CE9178"/>
                </a:solidFill>
                <a:latin typeface="Jetbrains Mono" panose="02000009000000000000" pitchFamily="49" charset="0"/>
              </a:rPr>
              <a:t>=good'</a:t>
            </a:r>
            <a:r>
              <a:rPr lang="en-US" altLang="ko-KR" sz="3200" dirty="0">
                <a:solidFill>
                  <a:srgbClr val="D4D4D4"/>
                </a:solidFill>
                <a:latin typeface="Jetbrains Mono" panose="02000009000000000000" pitchFamily="49" charset="0"/>
              </a:rPr>
              <a:t>,</a:t>
            </a:r>
            <a:endParaRPr lang="en-US" altLang="ko-KR" sz="32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</p:txBody>
      </p:sp>
      <p:sp>
        <p:nvSpPr>
          <p:cNvPr id="3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8864600" y="1486866"/>
            <a:ext cx="3327400" cy="14477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QueryString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사용자가 </a:t>
            </a:r>
            <a:r>
              <a:rPr lang="ko-KR" altLang="en-US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원하는대로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정보 보내기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10350500" y="850900"/>
            <a:ext cx="177800" cy="737566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" y="1588466"/>
            <a:ext cx="8561520" cy="84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440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0"/>
            <a:ext cx="12192000" cy="4311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Parameter </a:t>
            </a: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에 의한</a:t>
            </a:r>
            <a:endParaRPr lang="en-US" altLang="ko-KR" sz="9600" dirty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Dynamic Route</a:t>
            </a:r>
          </a:p>
        </p:txBody>
      </p:sp>
    </p:spTree>
    <p:extLst>
      <p:ext uri="{BB962C8B-B14F-4D97-AF65-F5344CB8AC3E}">
        <p14:creationId xmlns:p14="http://schemas.microsoft.com/office/powerpoint/2010/main" val="2518291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228600" y="147747"/>
            <a:ext cx="10256520" cy="646330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 err="1" smtClean="0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router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createRouter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history: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createWebHistory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 err="1">
                <a:solidFill>
                  <a:srgbClr val="C586C0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meta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env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BASE_URL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routes: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[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path: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'/'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name: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'home'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4EC9B0"/>
                </a:solidFill>
                <a:latin typeface="JetBrains Mono" panose="020B0509020102050004" pitchFamily="49" charset="0"/>
              </a:rPr>
              <a:t>component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HomeView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},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path: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'/about'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name: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'about'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component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()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=&gt;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'../pages/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AboutView.vue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},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path: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'/dynamic/:mood'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name: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'dynamic'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comment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()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=&gt;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'../pages/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DynamicPage.vue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props: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true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},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],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});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export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default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router</a:t>
            </a:r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  <a:endParaRPr lang="en-US" altLang="ko-KR" b="0" dirty="0">
              <a:solidFill>
                <a:srgbClr val="CCCCCC"/>
              </a:solidFill>
              <a:effectLst/>
              <a:latin typeface="JetBrains Mono" panose="020B0509020102050004" pitchFamily="49" charset="0"/>
            </a:endParaRPr>
          </a:p>
        </p:txBody>
      </p:sp>
      <p:sp>
        <p:nvSpPr>
          <p:cNvPr id="3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8473440" y="2121866"/>
            <a:ext cx="3675380" cy="14477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dynamic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주소에 대한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parameter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설정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4399280" y="2966720"/>
            <a:ext cx="4328160" cy="1178560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사각형: 둥근 모서리 5">
            <a:extLst>
              <a:ext uri="{FF2B5EF4-FFF2-40B4-BE49-F238E27FC236}">
                <a16:creationId xmlns:a16="http://schemas.microsoft.com/office/drawing/2014/main" id="{91487BA2-F7B2-5C8A-D2AB-9ACAA234F152}"/>
              </a:ext>
            </a:extLst>
          </p:cNvPr>
          <p:cNvSpPr/>
          <p:nvPr/>
        </p:nvSpPr>
        <p:spPr>
          <a:xfrm>
            <a:off x="7973366" y="147747"/>
            <a:ext cx="2605734" cy="781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router/index.js</a:t>
            </a:r>
          </a:p>
        </p:txBody>
      </p:sp>
    </p:spTree>
    <p:extLst>
      <p:ext uri="{BB962C8B-B14F-4D97-AF65-F5344CB8AC3E}">
        <p14:creationId xmlns:p14="http://schemas.microsoft.com/office/powerpoint/2010/main" val="1379596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111760" y="94129"/>
            <a:ext cx="10495280" cy="646330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script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setup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RouterLink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RouterView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}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from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vue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-router'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script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template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header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nav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 err="1">
                <a:solidFill>
                  <a:srgbClr val="4EC9B0"/>
                </a:solidFill>
                <a:latin typeface="JetBrains Mono" panose="020B0509020102050004" pitchFamily="49" charset="0"/>
              </a:rPr>
              <a:t>RouterLink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to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"/"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Home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 err="1">
                <a:solidFill>
                  <a:srgbClr val="4EC9B0"/>
                </a:solidFill>
                <a:latin typeface="JetBrains Mono" panose="020B0509020102050004" pitchFamily="49" charset="0"/>
              </a:rPr>
              <a:t>RouterLink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/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 err="1">
                <a:solidFill>
                  <a:srgbClr val="4EC9B0"/>
                </a:solidFill>
                <a:latin typeface="JetBrains Mono" panose="020B0509020102050004" pitchFamily="49" charset="0"/>
              </a:rPr>
              <a:t>RouterLink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to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"/about"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About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 err="1">
                <a:solidFill>
                  <a:srgbClr val="4EC9B0"/>
                </a:solidFill>
                <a:latin typeface="JetBrains Mono" panose="020B0509020102050004" pitchFamily="49" charset="0"/>
              </a:rPr>
              <a:t>RouterLink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/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 err="1">
                <a:solidFill>
                  <a:srgbClr val="4EC9B0"/>
                </a:solidFill>
                <a:latin typeface="JetBrains Mono" panose="020B0509020102050004" pitchFamily="49" charset="0"/>
              </a:rPr>
              <a:t>RouterLink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to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"/dynamic/happy"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Happy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 err="1">
                <a:solidFill>
                  <a:srgbClr val="4EC9B0"/>
                </a:solidFill>
                <a:latin typeface="JetBrains Mono" panose="020B0509020102050004" pitchFamily="49" charset="0"/>
              </a:rPr>
              <a:t>RouterLink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/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 err="1">
                <a:solidFill>
                  <a:srgbClr val="4EC9B0"/>
                </a:solidFill>
                <a:latin typeface="JetBrains Mono" panose="020B0509020102050004" pitchFamily="49" charset="0"/>
              </a:rPr>
              <a:t>RouterLink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to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"/dynamic/exciting"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Exciting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 err="1">
                <a:solidFill>
                  <a:srgbClr val="4EC9B0"/>
                </a:solidFill>
                <a:latin typeface="JetBrains Mono" panose="020B0509020102050004" pitchFamily="49" charset="0"/>
              </a:rPr>
              <a:t>RouterLink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nav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header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 err="1">
                <a:solidFill>
                  <a:srgbClr val="4EC9B0"/>
                </a:solidFill>
                <a:latin typeface="JetBrains Mono" panose="020B0509020102050004" pitchFamily="49" charset="0"/>
              </a:rPr>
              <a:t>RouterView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 /&gt;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template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style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scoped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style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endParaRPr lang="en-US" altLang="ko-KR" b="0" dirty="0">
              <a:solidFill>
                <a:srgbClr val="CCCCCC"/>
              </a:solidFill>
              <a:effectLst/>
              <a:latin typeface="JetBrains Mono" panose="020B0509020102050004" pitchFamily="49" charset="0"/>
            </a:endParaRPr>
          </a:p>
        </p:txBody>
      </p:sp>
      <p:sp>
        <p:nvSpPr>
          <p:cNvPr id="3" name="사각형: 둥근 모서리 5">
            <a:extLst>
              <a:ext uri="{FF2B5EF4-FFF2-40B4-BE49-F238E27FC236}">
                <a16:creationId xmlns:a16="http://schemas.microsoft.com/office/drawing/2014/main" id="{91487BA2-F7B2-5C8A-D2AB-9ACAA234F152}"/>
              </a:ext>
            </a:extLst>
          </p:cNvPr>
          <p:cNvSpPr/>
          <p:nvPr/>
        </p:nvSpPr>
        <p:spPr>
          <a:xfrm>
            <a:off x="8633766" y="191344"/>
            <a:ext cx="1551634" cy="781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App.vue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8509000" y="1487042"/>
            <a:ext cx="3683000" cy="14477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happy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와 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exciting</a:t>
            </a: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문자를 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parameter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보내는 링크 설정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8633766" y="2629858"/>
            <a:ext cx="378154" cy="1027742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8006080" y="2314507"/>
            <a:ext cx="838200" cy="960476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3490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92392" y="49507"/>
            <a:ext cx="7852727" cy="674030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template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div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h1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ko-KR" altLang="en-US" dirty="0">
                <a:solidFill>
                  <a:srgbClr val="CCCCCC"/>
                </a:solidFill>
                <a:latin typeface="JetBrains Mono" panose="020B0509020102050004" pitchFamily="49" charset="0"/>
              </a:rPr>
              <a:t>오늘의 기분은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!? {{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msg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}}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h1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img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: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src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="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imgSrc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"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alt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msg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/&gt;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div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template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script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setup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ref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watch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computed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}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from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vue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useRoute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}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from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vue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-router'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currentRoute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useRoute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();</a:t>
            </a:r>
          </a:p>
          <a:p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mood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computed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(()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=&gt;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currentRoute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params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mood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msg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computed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(()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=&gt;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mood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value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===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'happy'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?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ko-KR" altLang="en-US" dirty="0">
                <a:solidFill>
                  <a:srgbClr val="CE9178"/>
                </a:solidFill>
                <a:latin typeface="JetBrains Mono" panose="020B0509020102050004" pitchFamily="49" charset="0"/>
              </a:rPr>
              <a:t>행복합니다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ko-KR" altLang="en-US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:</a:t>
            </a:r>
            <a:r>
              <a:rPr lang="ko-KR" altLang="en-US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ko-KR" altLang="en-US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씐납니다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endParaRPr lang="ko-KR" altLang="en-US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imgSrc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computed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(()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=&gt;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mood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value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===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'happy'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?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'https://i.pinimg.com/564x/a3/a3/52/a3a352efb5a5829ca7007d86369a0d59.jpg'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'https://i.imgur.com/wOCGlbN.gif'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script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b="0" dirty="0">
              <a:solidFill>
                <a:srgbClr val="CCCCCC"/>
              </a:solidFill>
              <a:effectLst/>
              <a:latin typeface="JetBrains Mono" panose="020B0509020102050004" pitchFamily="49" charset="0"/>
            </a:endParaRPr>
          </a:p>
        </p:txBody>
      </p:sp>
      <p:sp>
        <p:nvSpPr>
          <p:cNvPr id="3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8150225" y="153055"/>
            <a:ext cx="3727450" cy="18567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mood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라는 약속된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파라미터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정보를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useRoute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사용하여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받아오기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  <a:endCxn id="3" idx="1"/>
          </p:cNvCxnSpPr>
          <p:nvPr/>
        </p:nvCxnSpPr>
        <p:spPr>
          <a:xfrm flipV="1">
            <a:off x="5882640" y="1081415"/>
            <a:ext cx="2267585" cy="2210425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1487BA2-F7B2-5C8A-D2AB-9ACAA234F152}"/>
              </a:ext>
            </a:extLst>
          </p:cNvPr>
          <p:cNvSpPr/>
          <p:nvPr/>
        </p:nvSpPr>
        <p:spPr>
          <a:xfrm>
            <a:off x="5130800" y="5141"/>
            <a:ext cx="2814320" cy="6749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DynamicPage.vue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8150225" y="2480162"/>
            <a:ext cx="3727450" cy="18567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받아온 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mood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값으로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computed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이용하여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오늘의 기분 메시지를 결정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7040880" y="3455056"/>
            <a:ext cx="1360170" cy="578464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8150225" y="4492909"/>
            <a:ext cx="3727450" cy="18567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받아온 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mood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값으로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computed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이용하여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이미지의 </a:t>
            </a:r>
            <a:r>
              <a:rPr lang="ko-KR" altLang="en-US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주소값도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결정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4328160" y="4622800"/>
            <a:ext cx="4072890" cy="184469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2167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  <p:bldP spid="13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77" y="198682"/>
            <a:ext cx="6326567" cy="6094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609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84" y="297707"/>
            <a:ext cx="5649113" cy="59063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6" y="369386"/>
            <a:ext cx="5527559" cy="58346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오른쪽 화살표 5"/>
          <p:cNvSpPr/>
          <p:nvPr/>
        </p:nvSpPr>
        <p:spPr>
          <a:xfrm>
            <a:off x="4789396" y="2764231"/>
            <a:ext cx="1646218" cy="1299598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2288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561" y="1333746"/>
            <a:ext cx="12192000" cy="2095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주소 예외 처리</a:t>
            </a:r>
            <a:endParaRPr lang="en-US" altLang="ko-KR" sz="9600" dirty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5736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3ED5B22-1322-9D5F-832E-D079064D6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88" y="2828"/>
            <a:ext cx="11260802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Page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Not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Found</a:t>
            </a:r>
            <a:endParaRPr lang="en-US" altLang="ko-KR" sz="44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E654C6B9-B2DE-2E2F-A6FF-A30BA8E06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0"/>
            <a:ext cx="11260802" cy="5529609"/>
          </a:xfrm>
        </p:spPr>
        <p:txBody>
          <a:bodyPr/>
          <a:lstStyle/>
          <a:p>
            <a:r>
              <a:rPr lang="ko-KR" altLang="en-US" dirty="0"/>
              <a:t>사용자가 예상하지 못한 주소 값을 입력하는 경우가 발생</a:t>
            </a:r>
            <a:endParaRPr lang="en-US" altLang="ko-KR" dirty="0"/>
          </a:p>
          <a:p>
            <a:r>
              <a:rPr lang="ko-KR" altLang="en-US" dirty="0"/>
              <a:t>이럴 때</a:t>
            </a:r>
            <a:r>
              <a:rPr lang="en-US" altLang="ko-KR" dirty="0"/>
              <a:t>, </a:t>
            </a:r>
            <a:r>
              <a:rPr lang="ko-KR" altLang="en-US" dirty="0"/>
              <a:t>브라우저에서 제공하는 </a:t>
            </a:r>
            <a:r>
              <a:rPr lang="en-US" altLang="ko-KR" dirty="0">
                <a:solidFill>
                  <a:schemeClr val="accent2"/>
                </a:solidFill>
              </a:rPr>
              <a:t>404 Not Found</a:t>
            </a:r>
            <a:r>
              <a:rPr lang="en-US" altLang="ko-KR" dirty="0"/>
              <a:t> </a:t>
            </a:r>
            <a:r>
              <a:rPr lang="ko-KR" altLang="en-US" dirty="0"/>
              <a:t>페이지를 띄우면</a:t>
            </a:r>
            <a:r>
              <a:rPr lang="en-US" altLang="ko-KR" dirty="0"/>
              <a:t>?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E999FCE-3F60-C67D-F069-23491124A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29" y="2945514"/>
            <a:ext cx="3694544" cy="2868640"/>
          </a:xfrm>
          <a:prstGeom prst="rect">
            <a:avLst/>
          </a:prstGeom>
        </p:spPr>
      </p:pic>
      <p:pic>
        <p:nvPicPr>
          <p:cNvPr id="2050" name="Picture 2" descr="실망 짤방 모음">
            <a:extLst>
              <a:ext uri="{FF2B5EF4-FFF2-40B4-BE49-F238E27FC236}">
                <a16:creationId xmlns:a16="http://schemas.microsoft.com/office/drawing/2014/main" id="{F955D73B-55B5-277F-DCFC-010ADD2515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2214" y="2945514"/>
            <a:ext cx="3694543" cy="3694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4745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8F677DF-F18F-E5B6-22E2-F33E0E8BC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6735" y="344500"/>
            <a:ext cx="6805265" cy="406836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8544743-8505-7E2D-914C-1B275187B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92" y="377805"/>
            <a:ext cx="5153890" cy="400175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D9F8CE0-3A41-244C-4A05-75E62778CE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641" y="4702991"/>
            <a:ext cx="1776718" cy="151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826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3ED5B22-1322-9D5F-832E-D079064D6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88" y="2828"/>
            <a:ext cx="11260802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Page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Not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Found</a:t>
            </a:r>
            <a:endParaRPr lang="en-US" altLang="ko-KR" sz="44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E654C6B9-B2DE-2E2F-A6FF-A30BA8E06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0"/>
            <a:ext cx="11260802" cy="5529609"/>
          </a:xfrm>
        </p:spPr>
        <p:txBody>
          <a:bodyPr/>
          <a:lstStyle/>
          <a:p>
            <a:r>
              <a:rPr lang="ko-KR" altLang="en-US" dirty="0"/>
              <a:t>따라서 잘못 입력 된 주소에 대한 예외 처리가 필요합니다</a:t>
            </a:r>
            <a:r>
              <a:rPr lang="en-US" altLang="ko-KR" dirty="0"/>
              <a:t>!</a:t>
            </a:r>
          </a:p>
          <a:p>
            <a:r>
              <a:rPr lang="en-US" altLang="ko-KR" dirty="0" err="1"/>
              <a:t>Vue</a:t>
            </a:r>
            <a:r>
              <a:rPr lang="en-US" altLang="ko-KR" dirty="0"/>
              <a:t> Router </a:t>
            </a:r>
            <a:r>
              <a:rPr lang="ko-KR" altLang="en-US" dirty="0"/>
              <a:t>는 </a:t>
            </a:r>
            <a:r>
              <a:rPr lang="en-US" altLang="ko-KR" dirty="0">
                <a:solidFill>
                  <a:schemeClr val="accent2"/>
                </a:solidFill>
              </a:rPr>
              <a:t>*</a:t>
            </a:r>
            <a:r>
              <a:rPr lang="en-US" altLang="ko-KR" dirty="0"/>
              <a:t> </a:t>
            </a:r>
            <a:r>
              <a:rPr lang="ko-KR" altLang="en-US" dirty="0"/>
              <a:t>라는 편리한 방법을 제공 합니다</a:t>
            </a:r>
            <a:r>
              <a:rPr lang="en-US" altLang="ko-KR" dirty="0"/>
              <a:t>!</a:t>
            </a:r>
          </a:p>
          <a:p>
            <a:r>
              <a:rPr lang="en-US" altLang="ko-KR" dirty="0" smtClean="0">
                <a:solidFill>
                  <a:schemeClr val="accent2"/>
                </a:solidFill>
              </a:rPr>
              <a:t>/:</a:t>
            </a:r>
            <a:r>
              <a:rPr lang="en-US" altLang="ko-KR" dirty="0" err="1" smtClean="0">
                <a:solidFill>
                  <a:schemeClr val="accent2"/>
                </a:solidFill>
              </a:rPr>
              <a:t>pathMatch</a:t>
            </a:r>
            <a:r>
              <a:rPr lang="en-US" altLang="ko-KR" dirty="0" smtClean="0">
                <a:solidFill>
                  <a:schemeClr val="accent2"/>
                </a:solidFill>
              </a:rPr>
              <a:t>(.*)*</a:t>
            </a:r>
            <a:r>
              <a:rPr lang="en-US" altLang="ko-KR" dirty="0" smtClean="0"/>
              <a:t> </a:t>
            </a:r>
            <a:r>
              <a:rPr lang="ko-KR" altLang="en-US" dirty="0"/>
              <a:t>는</a:t>
            </a:r>
            <a:r>
              <a:rPr lang="en-US" altLang="ko-KR" dirty="0"/>
              <a:t> </a:t>
            </a:r>
            <a:r>
              <a:rPr lang="ko-KR" altLang="en-US" dirty="0"/>
              <a:t>모든 주소 입력을 의미하며 아래와 같이 사용합니다</a:t>
            </a:r>
            <a:r>
              <a:rPr lang="en-US" altLang="ko-KR" dirty="0"/>
              <a:t>!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510987" y="3732455"/>
            <a:ext cx="10716455" cy="14773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path: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'/: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pathMatch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(.*)*'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name: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notfound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component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()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=&gt;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'../pages/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NotFound.vue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),</a:t>
            </a:r>
          </a:p>
          <a:p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},</a:t>
            </a:r>
            <a:endParaRPr lang="en-US" altLang="ko-KR" b="0" dirty="0">
              <a:solidFill>
                <a:srgbClr val="CCCCCC"/>
              </a:solidFill>
              <a:effectLst/>
              <a:latin typeface="JetBrains Mono" panose="020B050902010205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508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50C716C-9B65-7F0A-761C-B3F1DE41C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996" y="496517"/>
            <a:ext cx="8394331" cy="58649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0CE524-BFCA-6A33-9A1E-987CD1BC58ED}"/>
              </a:ext>
            </a:extLst>
          </p:cNvPr>
          <p:cNvSpPr txBox="1"/>
          <p:nvPr/>
        </p:nvSpPr>
        <p:spPr>
          <a:xfrm>
            <a:off x="6659417" y="0"/>
            <a:ext cx="2134063" cy="3154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9900" b="0" dirty="0" smtClean="0">
                <a:solidFill>
                  <a:schemeClr val="accent2"/>
                </a:solidFill>
                <a:effectLst/>
                <a:latin typeface="Jetbrains Mono" panose="02000009000000000000" pitchFamily="49" charset="0"/>
              </a:rPr>
              <a:t>*</a:t>
            </a:r>
            <a:endParaRPr lang="ko-KR" altLang="en-US" sz="19900" dirty="0">
              <a:solidFill>
                <a:schemeClr val="accent2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B70A7C-1B8A-D4CD-B34A-78B7DE96AC72}"/>
              </a:ext>
            </a:extLst>
          </p:cNvPr>
          <p:cNvSpPr/>
          <p:nvPr/>
        </p:nvSpPr>
        <p:spPr>
          <a:xfrm>
            <a:off x="4839854" y="5588000"/>
            <a:ext cx="2512291" cy="6373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4583726" y="4528497"/>
            <a:ext cx="553683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54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/:</a:t>
            </a:r>
            <a:r>
              <a:rPr lang="en-US" altLang="ko-KR" sz="5400" dirty="0" err="1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pathMatch</a:t>
            </a:r>
            <a:r>
              <a:rPr lang="en-US" altLang="ko-KR" sz="54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(.*)*</a:t>
            </a:r>
            <a:endParaRPr lang="ko-KR" altLang="en-US" sz="5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6130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2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52400" y="138232"/>
            <a:ext cx="10317480" cy="634019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9CDCFE"/>
                </a:solidFill>
                <a:latin typeface="JetBrains Mono" panose="020B0509020102050004" pitchFamily="49" charset="0"/>
              </a:rPr>
              <a:t>routes: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 [</a:t>
            </a:r>
          </a:p>
          <a:p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    {</a:t>
            </a:r>
          </a:p>
          <a:p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sz="1400" dirty="0">
                <a:solidFill>
                  <a:srgbClr val="9CDCFE"/>
                </a:solidFill>
                <a:latin typeface="JetBrains Mono" panose="020B0509020102050004" pitchFamily="49" charset="0"/>
              </a:rPr>
              <a:t>path: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sz="1400" dirty="0">
                <a:solidFill>
                  <a:srgbClr val="CE9178"/>
                </a:solidFill>
                <a:latin typeface="JetBrains Mono" panose="020B0509020102050004" pitchFamily="49" charset="0"/>
              </a:rPr>
              <a:t>'/'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sz="1400" dirty="0">
                <a:solidFill>
                  <a:srgbClr val="9CDCFE"/>
                </a:solidFill>
                <a:latin typeface="JetBrains Mono" panose="020B0509020102050004" pitchFamily="49" charset="0"/>
              </a:rPr>
              <a:t>name: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sz="1400" dirty="0">
                <a:solidFill>
                  <a:srgbClr val="CE9178"/>
                </a:solidFill>
                <a:latin typeface="JetBrains Mono" panose="020B0509020102050004" pitchFamily="49" charset="0"/>
              </a:rPr>
              <a:t>'home'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sz="1400" dirty="0">
                <a:solidFill>
                  <a:srgbClr val="4EC9B0"/>
                </a:solidFill>
                <a:latin typeface="JetBrains Mono" panose="020B0509020102050004" pitchFamily="49" charset="0"/>
              </a:rPr>
              <a:t>component</a:t>
            </a:r>
            <a:r>
              <a:rPr lang="en-US" altLang="ko-KR" sz="1400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sz="1400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HomeView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    },</a:t>
            </a:r>
          </a:p>
          <a:p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    {</a:t>
            </a:r>
          </a:p>
          <a:p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sz="1400" dirty="0">
                <a:solidFill>
                  <a:srgbClr val="9CDCFE"/>
                </a:solidFill>
                <a:latin typeface="JetBrains Mono" panose="020B0509020102050004" pitchFamily="49" charset="0"/>
              </a:rPr>
              <a:t>path: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sz="1400" dirty="0">
                <a:solidFill>
                  <a:srgbClr val="CE9178"/>
                </a:solidFill>
                <a:latin typeface="JetBrains Mono" panose="020B0509020102050004" pitchFamily="49" charset="0"/>
              </a:rPr>
              <a:t>'/about'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sz="1400" dirty="0">
                <a:solidFill>
                  <a:srgbClr val="9CDCFE"/>
                </a:solidFill>
                <a:latin typeface="JetBrains Mono" panose="020B0509020102050004" pitchFamily="49" charset="0"/>
              </a:rPr>
              <a:t>name: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sz="1400" dirty="0">
                <a:solidFill>
                  <a:srgbClr val="CE9178"/>
                </a:solidFill>
                <a:latin typeface="JetBrains Mono" panose="020B0509020102050004" pitchFamily="49" charset="0"/>
              </a:rPr>
              <a:t>'about'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sz="1400" dirty="0">
                <a:solidFill>
                  <a:srgbClr val="DCDCAA"/>
                </a:solidFill>
                <a:latin typeface="JetBrains Mono" panose="020B0509020102050004" pitchFamily="49" charset="0"/>
              </a:rPr>
              <a:t>component</a:t>
            </a:r>
            <a:r>
              <a:rPr lang="en-US" altLang="ko-KR" sz="1400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 () </a:t>
            </a:r>
            <a:r>
              <a:rPr lang="en-US" altLang="ko-KR" sz="1400" dirty="0">
                <a:solidFill>
                  <a:srgbClr val="569CD6"/>
                </a:solidFill>
                <a:latin typeface="JetBrains Mono" panose="020B0509020102050004" pitchFamily="49" charset="0"/>
              </a:rPr>
              <a:t>=&gt;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sz="1400" dirty="0">
                <a:solidFill>
                  <a:srgbClr val="569CD6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sz="1400" dirty="0">
                <a:solidFill>
                  <a:srgbClr val="CE9178"/>
                </a:solidFill>
                <a:latin typeface="JetBrains Mono" panose="020B0509020102050004" pitchFamily="49" charset="0"/>
              </a:rPr>
              <a:t>'../pages/</a:t>
            </a:r>
            <a:r>
              <a:rPr lang="en-US" altLang="ko-KR" sz="1400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AboutView.vue</a:t>
            </a:r>
            <a:r>
              <a:rPr lang="en-US" altLang="ko-KR" sz="1400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),</a:t>
            </a:r>
          </a:p>
          <a:p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    },</a:t>
            </a:r>
          </a:p>
          <a:p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    {</a:t>
            </a:r>
          </a:p>
          <a:p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sz="1400" dirty="0">
                <a:solidFill>
                  <a:srgbClr val="9CDCFE"/>
                </a:solidFill>
                <a:latin typeface="JetBrains Mono" panose="020B0509020102050004" pitchFamily="49" charset="0"/>
              </a:rPr>
              <a:t>path: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sz="1400" dirty="0">
                <a:solidFill>
                  <a:srgbClr val="CE9178"/>
                </a:solidFill>
                <a:latin typeface="JetBrains Mono" panose="020B0509020102050004" pitchFamily="49" charset="0"/>
              </a:rPr>
              <a:t>'/dynamic/:mood'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sz="1400" dirty="0">
                <a:solidFill>
                  <a:srgbClr val="9CDCFE"/>
                </a:solidFill>
                <a:latin typeface="JetBrains Mono" panose="020B0509020102050004" pitchFamily="49" charset="0"/>
              </a:rPr>
              <a:t>name: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sz="1400" dirty="0">
                <a:solidFill>
                  <a:srgbClr val="CE9178"/>
                </a:solidFill>
                <a:latin typeface="JetBrains Mono" panose="020B0509020102050004" pitchFamily="49" charset="0"/>
              </a:rPr>
              <a:t>'dynamic'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sz="1400" dirty="0">
                <a:solidFill>
                  <a:srgbClr val="DCDCAA"/>
                </a:solidFill>
                <a:latin typeface="JetBrains Mono" panose="020B0509020102050004" pitchFamily="49" charset="0"/>
              </a:rPr>
              <a:t>component</a:t>
            </a:r>
            <a:r>
              <a:rPr lang="en-US" altLang="ko-KR" sz="1400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 () </a:t>
            </a:r>
            <a:r>
              <a:rPr lang="en-US" altLang="ko-KR" sz="1400" dirty="0">
                <a:solidFill>
                  <a:srgbClr val="569CD6"/>
                </a:solidFill>
                <a:latin typeface="JetBrains Mono" panose="020B0509020102050004" pitchFamily="49" charset="0"/>
              </a:rPr>
              <a:t>=&gt;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sz="1400" dirty="0">
                <a:solidFill>
                  <a:srgbClr val="569CD6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sz="1400" dirty="0">
                <a:solidFill>
                  <a:srgbClr val="CE9178"/>
                </a:solidFill>
                <a:latin typeface="JetBrains Mono" panose="020B0509020102050004" pitchFamily="49" charset="0"/>
              </a:rPr>
              <a:t>'../pages/</a:t>
            </a:r>
            <a:r>
              <a:rPr lang="en-US" altLang="ko-KR" sz="1400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DynamicPage.vue</a:t>
            </a:r>
            <a:r>
              <a:rPr lang="en-US" altLang="ko-KR" sz="1400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),</a:t>
            </a:r>
          </a:p>
          <a:p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sz="1400" dirty="0">
                <a:solidFill>
                  <a:srgbClr val="9CDCFE"/>
                </a:solidFill>
                <a:latin typeface="JetBrains Mono" panose="020B0509020102050004" pitchFamily="49" charset="0"/>
              </a:rPr>
              <a:t>props: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sz="1400" dirty="0">
                <a:solidFill>
                  <a:srgbClr val="569CD6"/>
                </a:solidFill>
                <a:latin typeface="JetBrains Mono" panose="020B0509020102050004" pitchFamily="49" charset="0"/>
              </a:rPr>
              <a:t>true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    },</a:t>
            </a:r>
          </a:p>
          <a:p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    {</a:t>
            </a:r>
          </a:p>
          <a:p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sz="1400" dirty="0">
                <a:solidFill>
                  <a:srgbClr val="9CDCFE"/>
                </a:solidFill>
                <a:latin typeface="JetBrains Mono" panose="020B0509020102050004" pitchFamily="49" charset="0"/>
              </a:rPr>
              <a:t>path: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sz="1400" dirty="0">
                <a:solidFill>
                  <a:srgbClr val="CE9178"/>
                </a:solidFill>
                <a:latin typeface="JetBrains Mono" panose="020B0509020102050004" pitchFamily="49" charset="0"/>
              </a:rPr>
              <a:t>'/user/:id'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sz="1400" dirty="0">
                <a:solidFill>
                  <a:srgbClr val="9CDCFE"/>
                </a:solidFill>
                <a:latin typeface="JetBrains Mono" panose="020B0509020102050004" pitchFamily="49" charset="0"/>
              </a:rPr>
              <a:t>name: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sz="1400" dirty="0">
                <a:solidFill>
                  <a:srgbClr val="CE9178"/>
                </a:solidFill>
                <a:latin typeface="JetBrains Mono" panose="020B0509020102050004" pitchFamily="49" charset="0"/>
              </a:rPr>
              <a:t>'user'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sz="1400" dirty="0">
                <a:solidFill>
                  <a:srgbClr val="DCDCAA"/>
                </a:solidFill>
                <a:latin typeface="JetBrains Mono" panose="020B0509020102050004" pitchFamily="49" charset="0"/>
              </a:rPr>
              <a:t>component</a:t>
            </a:r>
            <a:r>
              <a:rPr lang="en-US" altLang="ko-KR" sz="1400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 () </a:t>
            </a:r>
            <a:r>
              <a:rPr lang="en-US" altLang="ko-KR" sz="1400" dirty="0">
                <a:solidFill>
                  <a:srgbClr val="569CD6"/>
                </a:solidFill>
                <a:latin typeface="JetBrains Mono" panose="020B0509020102050004" pitchFamily="49" charset="0"/>
              </a:rPr>
              <a:t>=&gt;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sz="1400" dirty="0">
                <a:solidFill>
                  <a:srgbClr val="569CD6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sz="1400" dirty="0">
                <a:solidFill>
                  <a:srgbClr val="CE9178"/>
                </a:solidFill>
                <a:latin typeface="JetBrains Mono" panose="020B0509020102050004" pitchFamily="49" charset="0"/>
              </a:rPr>
              <a:t>'../pages/</a:t>
            </a:r>
            <a:r>
              <a:rPr lang="en-US" altLang="ko-KR" sz="1400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UserPage.vue</a:t>
            </a:r>
            <a:r>
              <a:rPr lang="en-US" altLang="ko-KR" sz="1400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),</a:t>
            </a:r>
          </a:p>
          <a:p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sz="1400" dirty="0">
                <a:solidFill>
                  <a:srgbClr val="9CDCFE"/>
                </a:solidFill>
                <a:latin typeface="JetBrains Mono" panose="020B0509020102050004" pitchFamily="49" charset="0"/>
              </a:rPr>
              <a:t>props: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sz="1400" dirty="0">
                <a:solidFill>
                  <a:srgbClr val="569CD6"/>
                </a:solidFill>
                <a:latin typeface="JetBrains Mono" panose="020B0509020102050004" pitchFamily="49" charset="0"/>
              </a:rPr>
              <a:t>true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    },</a:t>
            </a:r>
          </a:p>
          <a:p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    {</a:t>
            </a:r>
          </a:p>
          <a:p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sz="1400" dirty="0">
                <a:solidFill>
                  <a:srgbClr val="9CDCFE"/>
                </a:solidFill>
                <a:latin typeface="JetBrains Mono" panose="020B0509020102050004" pitchFamily="49" charset="0"/>
              </a:rPr>
              <a:t>path: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sz="1400" dirty="0">
                <a:solidFill>
                  <a:srgbClr val="CE9178"/>
                </a:solidFill>
                <a:latin typeface="JetBrains Mono" panose="020B0509020102050004" pitchFamily="49" charset="0"/>
              </a:rPr>
              <a:t>'/:</a:t>
            </a:r>
            <a:r>
              <a:rPr lang="en-US" altLang="ko-KR" sz="1400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pathMatch</a:t>
            </a:r>
            <a:r>
              <a:rPr lang="en-US" altLang="ko-KR" sz="1400" dirty="0">
                <a:solidFill>
                  <a:srgbClr val="CE9178"/>
                </a:solidFill>
                <a:latin typeface="JetBrains Mono" panose="020B0509020102050004" pitchFamily="49" charset="0"/>
              </a:rPr>
              <a:t>(.*)*'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sz="1400" dirty="0">
                <a:solidFill>
                  <a:srgbClr val="9CDCFE"/>
                </a:solidFill>
                <a:latin typeface="JetBrains Mono" panose="020B0509020102050004" pitchFamily="49" charset="0"/>
              </a:rPr>
              <a:t>name: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sz="1400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sz="1400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notfound</a:t>
            </a:r>
            <a:r>
              <a:rPr lang="en-US" altLang="ko-KR" sz="1400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sz="1400" dirty="0">
                <a:solidFill>
                  <a:srgbClr val="DCDCAA"/>
                </a:solidFill>
                <a:latin typeface="JetBrains Mono" panose="020B0509020102050004" pitchFamily="49" charset="0"/>
              </a:rPr>
              <a:t>component</a:t>
            </a:r>
            <a:r>
              <a:rPr lang="en-US" altLang="ko-KR" sz="1400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 () </a:t>
            </a:r>
            <a:r>
              <a:rPr lang="en-US" altLang="ko-KR" sz="1400" dirty="0">
                <a:solidFill>
                  <a:srgbClr val="569CD6"/>
                </a:solidFill>
                <a:latin typeface="JetBrains Mono" panose="020B0509020102050004" pitchFamily="49" charset="0"/>
              </a:rPr>
              <a:t>=&gt;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sz="1400" dirty="0">
                <a:solidFill>
                  <a:srgbClr val="569CD6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sz="1400" dirty="0">
                <a:solidFill>
                  <a:srgbClr val="CE9178"/>
                </a:solidFill>
                <a:latin typeface="JetBrains Mono" panose="020B0509020102050004" pitchFamily="49" charset="0"/>
              </a:rPr>
              <a:t>'../pages/</a:t>
            </a:r>
            <a:r>
              <a:rPr lang="en-US" altLang="ko-KR" sz="1400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NotFound.vue</a:t>
            </a:r>
            <a:r>
              <a:rPr lang="en-US" altLang="ko-KR" sz="1400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),</a:t>
            </a:r>
          </a:p>
          <a:p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    },</a:t>
            </a:r>
          </a:p>
          <a:p>
            <a:r>
              <a:rPr lang="en-US" altLang="ko-KR" sz="1400" dirty="0">
                <a:solidFill>
                  <a:srgbClr val="CCCCCC"/>
                </a:solidFill>
                <a:latin typeface="JetBrains Mono" panose="020B0509020102050004" pitchFamily="49" charset="0"/>
              </a:rPr>
              <a:t>  ],</a:t>
            </a:r>
            <a:endParaRPr lang="en-US" altLang="ko-KR" sz="1400" b="0" dirty="0">
              <a:solidFill>
                <a:srgbClr val="CCCCCC"/>
              </a:solidFill>
              <a:effectLst/>
              <a:latin typeface="JetBrains Mono" panose="020B0509020102050004" pitchFamily="49" charset="0"/>
            </a:endParaRPr>
          </a:p>
        </p:txBody>
      </p:sp>
      <p:sp>
        <p:nvSpPr>
          <p:cNvPr id="6" name="사각형: 둥근 모서리 8">
            <a:extLst>
              <a:ext uri="{FF2B5EF4-FFF2-40B4-BE49-F238E27FC236}">
                <a16:creationId xmlns:a16="http://schemas.microsoft.com/office/drawing/2014/main" id="{CE855A87-A7DD-FA1C-4AB6-87C64FF214BC}"/>
              </a:ext>
            </a:extLst>
          </p:cNvPr>
          <p:cNvSpPr/>
          <p:nvPr/>
        </p:nvSpPr>
        <p:spPr>
          <a:xfrm>
            <a:off x="5968825" y="254890"/>
            <a:ext cx="2696730" cy="6993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코드 처리 방향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F150255F-611A-285D-5F50-604C88F9527B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7317190" y="954253"/>
            <a:ext cx="0" cy="5035067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5395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3ED5B22-1322-9D5F-832E-D079064D6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88" y="2828"/>
            <a:ext cx="11260802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Page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Not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Found</a:t>
            </a:r>
            <a:endParaRPr lang="en-US" altLang="ko-KR" sz="44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E654C6B9-B2DE-2E2F-A6FF-A30BA8E06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0"/>
            <a:ext cx="11260802" cy="5529609"/>
          </a:xfrm>
        </p:spPr>
        <p:txBody>
          <a:bodyPr/>
          <a:lstStyle/>
          <a:p>
            <a:r>
              <a:rPr lang="ko-KR" altLang="en-US" dirty="0"/>
              <a:t>주소 요청에 일치가 되는 라우터가 없으면 아래의 라우터로 내려오게 되는데 마지막 라우터에서 주소를 </a:t>
            </a:r>
            <a:r>
              <a:rPr lang="en-US" altLang="ko-KR" dirty="0">
                <a:solidFill>
                  <a:schemeClr val="accent2"/>
                </a:solidFill>
              </a:rPr>
              <a:t>/:</a:t>
            </a:r>
            <a:r>
              <a:rPr lang="en-US" altLang="ko-KR" dirty="0" err="1">
                <a:solidFill>
                  <a:schemeClr val="accent2"/>
                </a:solidFill>
              </a:rPr>
              <a:t>pathMatch</a:t>
            </a:r>
            <a:r>
              <a:rPr lang="en-US" altLang="ko-KR" dirty="0">
                <a:solidFill>
                  <a:schemeClr val="accent2"/>
                </a:solidFill>
              </a:rPr>
              <a:t>(.*)*</a:t>
            </a:r>
            <a:r>
              <a:rPr lang="en-US" altLang="ko-KR" dirty="0" smtClean="0"/>
              <a:t> </a:t>
            </a:r>
            <a:r>
              <a:rPr lang="ko-KR" altLang="en-US" dirty="0"/>
              <a:t>를 사용하여 처리 하면 일치가 안된 주소는 한꺼번에 처리가 가능합니다</a:t>
            </a:r>
            <a:r>
              <a:rPr lang="en-US" altLang="ko-KR" dirty="0"/>
              <a:t>!</a:t>
            </a:r>
          </a:p>
          <a:p>
            <a:r>
              <a:rPr lang="ko-KR" altLang="en-US" dirty="0"/>
              <a:t>해당 라우터에서 </a:t>
            </a:r>
            <a:r>
              <a:rPr lang="en-US" altLang="ko-KR" dirty="0">
                <a:solidFill>
                  <a:srgbClr val="00B050"/>
                </a:solidFill>
              </a:rPr>
              <a:t>&lt;</a:t>
            </a:r>
            <a:r>
              <a:rPr lang="en-US" altLang="ko-KR" dirty="0" err="1">
                <a:solidFill>
                  <a:srgbClr val="00B050"/>
                </a:solidFill>
              </a:rPr>
              <a:t>NotFound</a:t>
            </a:r>
            <a:r>
              <a:rPr lang="en-US" altLang="ko-KR" dirty="0">
                <a:solidFill>
                  <a:srgbClr val="00B050"/>
                </a:solidFill>
              </a:rPr>
              <a:t>&gt;</a:t>
            </a:r>
            <a:r>
              <a:rPr lang="en-US" altLang="ko-KR" dirty="0"/>
              <a:t> </a:t>
            </a:r>
            <a:r>
              <a:rPr lang="ko-KR" altLang="en-US" dirty="0"/>
              <a:t>컴포넌트로 연결하여 모든 예외를 처리</a:t>
            </a:r>
            <a:r>
              <a:rPr lang="en-US" altLang="ko-KR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969883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98120" y="251103"/>
            <a:ext cx="11353800" cy="397031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template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div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h1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404 Not Found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h1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img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src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"https://i.namu.wiki/i/P4zEz17i2GeF5QlJ8gMpBTzJD9fJYRraZN6FNuoAg7cnt57W_y6P33c8t520QP6bhzihN1ZVQiph0uR1f3mnjQ.webp"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alt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</a:t>
            </a:r>
            <a:r>
              <a:rPr lang="ko-KR" altLang="en-US" dirty="0">
                <a:solidFill>
                  <a:srgbClr val="CE9178"/>
                </a:solidFill>
                <a:latin typeface="JetBrains Mono" panose="020B0509020102050004" pitchFamily="49" charset="0"/>
              </a:rPr>
              <a:t>없어요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</a:t>
            </a:r>
            <a:endParaRPr lang="ko-KR" altLang="en-US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ko-KR" altLang="en-US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/&gt;</a:t>
            </a:r>
            <a:endParaRPr lang="ko-KR" altLang="en-US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ko-KR" altLang="en-US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div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template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script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setup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script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style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lang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scss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scoped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style</a:t>
            </a:r>
            <a:r>
              <a:rPr lang="en-US" altLang="ko-KR" dirty="0" smtClean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b="0" dirty="0">
              <a:solidFill>
                <a:srgbClr val="CCCCCC"/>
              </a:solidFill>
              <a:effectLst/>
              <a:latin typeface="JetBrains Mono" panose="020B050902010205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5956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BA828C6-F6BE-9E0B-FC79-FECD6A839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265" y="427939"/>
            <a:ext cx="6167208" cy="6002121"/>
          </a:xfrm>
          <a:prstGeom prst="rect">
            <a:avLst/>
          </a:prstGeom>
        </p:spPr>
      </p:pic>
      <p:sp>
        <p:nvSpPr>
          <p:cNvPr id="4" name="오른쪽 화살표 5">
            <a:extLst>
              <a:ext uri="{FF2B5EF4-FFF2-40B4-BE49-F238E27FC236}">
                <a16:creationId xmlns:a16="http://schemas.microsoft.com/office/drawing/2014/main" id="{452B87C6-E736-F415-825A-2B0532EBA799}"/>
              </a:ext>
            </a:extLst>
          </p:cNvPr>
          <p:cNvSpPr/>
          <p:nvPr/>
        </p:nvSpPr>
        <p:spPr>
          <a:xfrm rot="13987806">
            <a:off x="3833835" y="1263444"/>
            <a:ext cx="800100" cy="62865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098" name="Picture 2" descr="귀여운 햄찌&amp; 토깽이 짤 저장 : 네이버 블로그">
            <a:extLst>
              <a:ext uri="{FF2B5EF4-FFF2-40B4-BE49-F238E27FC236}">
                <a16:creationId xmlns:a16="http://schemas.microsoft.com/office/drawing/2014/main" id="{B4F2F2B2-E00D-42AE-FC9B-AE6AAF6176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6100" y="1577769"/>
            <a:ext cx="4620635" cy="4546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5046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10564</TotalTime>
  <Words>763</Words>
  <Application>Microsoft Office PowerPoint</Application>
  <PresentationFormat>와이드스크린</PresentationFormat>
  <Paragraphs>427</Paragraphs>
  <Slides>79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79</vt:i4>
      </vt:variant>
    </vt:vector>
  </HeadingPairs>
  <TitlesOfParts>
    <vt:vector size="88" baseType="lpstr">
      <vt:lpstr>나눔스퀘어 Bold</vt:lpstr>
      <vt:lpstr>Jetbrains Mono</vt:lpstr>
      <vt:lpstr>나눔스퀘어 ExtraBold</vt:lpstr>
      <vt:lpstr>맑은 고딕</vt:lpstr>
      <vt:lpstr>Arial</vt:lpstr>
      <vt:lpstr>Wingdings</vt:lpstr>
      <vt:lpstr>Calibri</vt:lpstr>
      <vt:lpstr>Jetbrains Mono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주소별로 업무를 나누자! 라우팅!</vt:lpstr>
      <vt:lpstr>주소별로 업무를 나누자! 라우팅!</vt:lpstr>
      <vt:lpstr>Vue 에서 Router 활용하기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Page Not Found</vt:lpstr>
      <vt:lpstr>PowerPoint 프레젠테이션</vt:lpstr>
      <vt:lpstr>Page Not Found</vt:lpstr>
      <vt:lpstr>PowerPoint 프레젠테이션</vt:lpstr>
      <vt:lpstr>PowerPoint 프레젠테이션</vt:lpstr>
      <vt:lpstr>Page Not Found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157</dc:creator>
  <cp:lastModifiedBy>student</cp:lastModifiedBy>
  <cp:revision>1429</cp:revision>
  <dcterms:created xsi:type="dcterms:W3CDTF">2022-05-29T13:34:07Z</dcterms:created>
  <dcterms:modified xsi:type="dcterms:W3CDTF">2025-03-28T03:59:28Z</dcterms:modified>
</cp:coreProperties>
</file>