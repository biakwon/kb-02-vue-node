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9"/>
  </p:notesMasterIdLst>
  <p:sldIdLst>
    <p:sldId id="4338" r:id="rId2"/>
    <p:sldId id="4473" r:id="rId3"/>
    <p:sldId id="4908" r:id="rId4"/>
    <p:sldId id="4906" r:id="rId5"/>
    <p:sldId id="4907" r:id="rId6"/>
    <p:sldId id="4909" r:id="rId7"/>
    <p:sldId id="4910" r:id="rId8"/>
    <p:sldId id="4911" r:id="rId9"/>
    <p:sldId id="6660" r:id="rId10"/>
    <p:sldId id="6661" r:id="rId11"/>
    <p:sldId id="6659" r:id="rId12"/>
    <p:sldId id="6663" r:id="rId13"/>
    <p:sldId id="6658" r:id="rId14"/>
    <p:sldId id="6657" r:id="rId15"/>
    <p:sldId id="6662" r:id="rId16"/>
    <p:sldId id="4913" r:id="rId17"/>
    <p:sldId id="4914" r:id="rId18"/>
    <p:sldId id="4916" r:id="rId19"/>
    <p:sldId id="4918" r:id="rId20"/>
    <p:sldId id="4983" r:id="rId21"/>
    <p:sldId id="4992" r:id="rId22"/>
    <p:sldId id="6651" r:id="rId23"/>
    <p:sldId id="4991" r:id="rId24"/>
    <p:sldId id="6656" r:id="rId25"/>
    <p:sldId id="4984" r:id="rId26"/>
    <p:sldId id="4985" r:id="rId27"/>
    <p:sldId id="4986" r:id="rId28"/>
    <p:sldId id="4987" r:id="rId29"/>
    <p:sldId id="4989" r:id="rId30"/>
    <p:sldId id="6653" r:id="rId31"/>
    <p:sldId id="4988" r:id="rId32"/>
    <p:sldId id="6654" r:id="rId33"/>
    <p:sldId id="6652" r:id="rId34"/>
    <p:sldId id="4990" r:id="rId35"/>
    <p:sldId id="6655" r:id="rId36"/>
    <p:sldId id="6664" r:id="rId37"/>
    <p:sldId id="6665" r:id="rId38"/>
    <p:sldId id="6672" r:id="rId39"/>
    <p:sldId id="6673" r:id="rId40"/>
    <p:sldId id="6674" r:id="rId41"/>
    <p:sldId id="6666" r:id="rId42"/>
    <p:sldId id="6675" r:id="rId43"/>
    <p:sldId id="6676" r:id="rId44"/>
    <p:sldId id="6677" r:id="rId45"/>
    <p:sldId id="6679" r:id="rId46"/>
    <p:sldId id="6680" r:id="rId47"/>
    <p:sldId id="6678" r:id="rId48"/>
    <p:sldId id="6669" r:id="rId49"/>
    <p:sldId id="6671" r:id="rId50"/>
    <p:sldId id="6667" r:id="rId51"/>
    <p:sldId id="6681" r:id="rId52"/>
    <p:sldId id="6668" r:id="rId53"/>
    <p:sldId id="6686" r:id="rId54"/>
    <p:sldId id="6682" r:id="rId55"/>
    <p:sldId id="6687" r:id="rId56"/>
    <p:sldId id="6689" r:id="rId57"/>
    <p:sldId id="6688" r:id="rId58"/>
  </p:sldIdLst>
  <p:sldSz cx="12192000" cy="6858000"/>
  <p:notesSz cx="6858000" cy="9144000"/>
  <p:embeddedFontLst>
    <p:embeddedFont>
      <p:font typeface="나눔스퀘어 Bold" panose="020B0600000101010101" pitchFamily="50" charset="-127"/>
      <p:bold r:id="rId60"/>
    </p:embeddedFont>
    <p:embeddedFont>
      <p:font typeface="맑은 고딕" panose="020B0503020000020004" pitchFamily="50" charset="-127"/>
      <p:regular r:id="rId61"/>
      <p:bold r:id="rId62"/>
    </p:embeddedFont>
    <p:embeddedFont>
      <p:font typeface="Jetbrains Mono" panose="020B0509020102050004" pitchFamily="49" charset="0"/>
      <p:regular r:id="rId63"/>
      <p:bold r:id="rId64"/>
    </p:embeddedFont>
    <p:embeddedFont>
      <p:font typeface="나눔스퀘어 ExtraBold" panose="020B0600000101010101" pitchFamily="50" charset="-127"/>
      <p:bold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883"/>
    <a:srgbClr val="1E1E1E"/>
    <a:srgbClr val="36546D"/>
    <a:srgbClr val="FDFFFE"/>
    <a:srgbClr val="7EFF80"/>
    <a:srgbClr val="FEFF7F"/>
    <a:srgbClr val="000072"/>
    <a:srgbClr val="FEFEFE"/>
    <a:srgbClr val="0741E6"/>
    <a:srgbClr val="623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5" autoAdjust="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69E39-999D-5B4A-986F-FF43A57A78CE}" type="datetimeFigureOut">
              <a:rPr kumimoji="1" lang="ko-Kore-KR" altLang="en-US" smtClean="0"/>
              <a:t>04/02/2025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6F2B5-E9AF-9D40-A629-A66BB45D84D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24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9A215-9F2D-2814-C334-CB5E0497A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C12D50-EEB2-BBC4-5DFB-EA953F26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203FC-F5DC-9FC8-9C80-3B7659E3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C1B3B-8370-8842-E0AB-ACED590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5F6C7-A015-92EB-442F-8E30FE18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0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C99DC-7560-0D31-5E87-1B07C408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87C90-77FA-A4F1-E534-2262CF4F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F13712-F9A9-C10D-82CE-69F09CDB28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1130"/>
          <a:stretch/>
        </p:blipFill>
        <p:spPr>
          <a:xfrm>
            <a:off x="11026588" y="0"/>
            <a:ext cx="1165412" cy="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3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25ED7-0633-6679-B353-4BF85A80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2F748-DF81-9C59-A6D0-05652024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B245F-7889-658E-709B-863F596B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84671-432A-65AB-BBFF-27F7A152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110BD-F9F5-DBC6-7DE2-1724879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6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71DE9-CD57-0979-FEB8-0433D68A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A8A1E-A09E-E576-9FFC-72C6EC4F5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523D18-680E-C3AF-EA9F-65973709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B0EC6-E4D7-3E25-9464-B07D7C0A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41624D-31BD-0747-E207-F3739A32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A68745-814C-EF11-9C19-28D6FDEB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0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FB1D-CBFC-21E3-7811-32697E49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5A2F0D-6034-D658-CAA2-71F3D41A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2B5590-2786-6DE8-AB0F-6E539001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304A27-3906-A0B3-5907-9864B4565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DCC80-E50D-D5DE-293E-1965CB2BF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F0E11-F1CA-9D06-D9F1-7685C962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F8348-EAF9-A1E8-100E-DC162112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790FD7-F0BE-5AE5-02EC-E4CAC082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40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21541-94EC-1C7D-C6E1-8CB33524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27702A-8FDB-B754-E8C2-AA6F5B33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041409-ED7B-DCE5-ED7E-CB24E91D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29DEBE-680D-C89F-0AD8-D5B7B332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FB2809-B328-6467-69C6-08023D0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F57083-1937-0E78-41D1-B3000180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827DE-AC3B-C649-094D-3150335F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5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3C609-AF4C-D25A-2A0A-34168C3C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3E7D2-3DF9-E76A-66E8-FE39280D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60D915-D32C-C6DF-2245-DE100AF0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3A5308-1A6B-9B73-5852-2853B7F1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92ED2-B847-20C6-4AA2-CE44FDC1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479958-D44D-C3CA-6664-ED7014A4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0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4DAFB-0DD5-EA21-CBE8-89641426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F73641-61F2-E85B-0E20-909E1A347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81A9F3-F2A8-58C6-4AEC-114A7413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00BF4B-8479-8AFF-CA53-B63C72D6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20B89-C40B-BD91-10D6-05B87B1C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0FC91-4B0E-F57D-6FF8-2943047A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10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C7142-D6C8-742B-156D-89690ECD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19B84-3D6D-2444-221C-5EC1A851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93D9-83E4-2A9D-39B6-EBD97CFD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10FC9-8896-10EB-F8B3-BDBB75AA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A2A8C-801F-F1BA-EDEC-6D40BF73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9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D59B3F-F60A-7F84-0EEF-215A4BC7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BA10DC-E5C2-BC1D-9B9B-4DED4F45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A3621-AD83-48D6-B5C4-51B28828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7C61E-E1BC-E56E-91A8-10EEEE36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E7A2A4-7F4D-3368-AAB4-A2053C17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56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8E710F-5208-72AB-D3A7-67F48ABD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0EAA63-4C18-B22C-0F89-A0C63D8A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394A3-0808-1108-F192-F33EC5D78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46959-3755-42C6-A836-92F078C95403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62FF1-D4F2-F611-0F14-E9975A240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04C58-52A9-835F-708A-5231C0599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7.png"/><Relationship Id="rId4" Type="http://schemas.microsoft.com/office/2007/relationships/hdphoto" Target="../media/hdphoto2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-0-tetz-night-back-m5yo5gmx92cc34bc.sel4.cloudtype.app/cors/ex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DB3970-85DF-154B-4E7A-DDF0FC044C61}"/>
              </a:ext>
            </a:extLst>
          </p:cNvPr>
          <p:cNvSpPr txBox="1"/>
          <p:nvPr/>
        </p:nvSpPr>
        <p:spPr>
          <a:xfrm>
            <a:off x="595619" y="1920664"/>
            <a:ext cx="9157981" cy="1928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8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It’s Your </a:t>
            </a:r>
            <a:r>
              <a:rPr lang="en-US" altLang="ko-KR" sz="8800" dirty="0">
                <a:solidFill>
                  <a:srgbClr val="FCAF1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Life</a:t>
            </a:r>
          </a:p>
        </p:txBody>
      </p:sp>
      <p:pic>
        <p:nvPicPr>
          <p:cNvPr id="1026" name="Picture 2" descr="KB금융그룹 - 위키백과, 우리 모두의 백과사전">
            <a:extLst>
              <a:ext uri="{FF2B5EF4-FFF2-40B4-BE49-F238E27FC236}">
                <a16:creationId xmlns:a16="http://schemas.microsoft.com/office/drawing/2014/main" id="{942DC9FA-7646-5691-155D-A0F52EF6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19" y="733454"/>
            <a:ext cx="3662345" cy="118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B9A00C6-FDE4-E63D-B0A0-A4DBF3635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691" y="4141913"/>
            <a:ext cx="3177309" cy="2549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C4D309-2C53-E2E4-716D-AF4AC3E1D578}"/>
              </a:ext>
            </a:extLst>
          </p:cNvPr>
          <p:cNvSpPr txBox="1"/>
          <p:nvPr/>
        </p:nvSpPr>
        <p:spPr>
          <a:xfrm>
            <a:off x="7573439" y="5627440"/>
            <a:ext cx="168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with</a:t>
            </a:r>
            <a:endParaRPr lang="ko-KR" altLang="en-US" sz="5400" dirty="0">
              <a:solidFill>
                <a:srgbClr val="776C6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92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통신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2464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 통신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28" y="1349827"/>
            <a:ext cx="10968145" cy="357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51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실 전화기(5인용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1685" y="27432"/>
            <a:ext cx="7808850" cy="680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2679147" y="246221"/>
            <a:ext cx="1628775" cy="78105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Requset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화살표: 오른쪽 7">
            <a:extLst>
              <a:ext uri="{FF2B5EF4-FFF2-40B4-BE49-F238E27FC236}">
                <a16:creationId xmlns:a16="http://schemas.microsoft.com/office/drawing/2014/main" id="{3888A8C3-CCDE-4926-6D53-9CCB05DC4B80}"/>
              </a:ext>
            </a:extLst>
          </p:cNvPr>
          <p:cNvSpPr/>
          <p:nvPr/>
        </p:nvSpPr>
        <p:spPr>
          <a:xfrm rot="903143">
            <a:off x="2351248" y="1719617"/>
            <a:ext cx="4239491" cy="118225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내일 점심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뭐 먹을까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!?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068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실 전화기(5인용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1685" y="27432"/>
            <a:ext cx="7808850" cy="680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305331" y="1529694"/>
            <a:ext cx="1773981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Response</a:t>
            </a:r>
          </a:p>
        </p:txBody>
      </p:sp>
      <p:sp>
        <p:nvSpPr>
          <p:cNvPr id="7" name="화살표: 오른쪽 7">
            <a:extLst>
              <a:ext uri="{FF2B5EF4-FFF2-40B4-BE49-F238E27FC236}">
                <a16:creationId xmlns:a16="http://schemas.microsoft.com/office/drawing/2014/main" id="{3888A8C3-CCDE-4926-6D53-9CCB05DC4B80}"/>
              </a:ext>
            </a:extLst>
          </p:cNvPr>
          <p:cNvSpPr/>
          <p:nvPr/>
        </p:nvSpPr>
        <p:spPr>
          <a:xfrm rot="903143" flipH="1">
            <a:off x="2314711" y="1719617"/>
            <a:ext cx="3686225" cy="118225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짜장면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414" y="3845068"/>
            <a:ext cx="3312817" cy="250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5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프론트엔드와 백엔드 차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617" y="61232"/>
            <a:ext cx="6796767" cy="679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78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블라인드 | 블라블라: 오늘 봄이네 봄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45" y="0"/>
            <a:ext cx="7783739" cy="681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692" y="776569"/>
            <a:ext cx="3110766" cy="333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8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쉿 조용히해 나의 아기 고양이 이거 어디서 나온 드립임?? | (백업)유머 게시판(2020-2021) | RULI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494" y="366711"/>
            <a:ext cx="8859012" cy="613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2" y="1233307"/>
            <a:ext cx="3154247" cy="361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63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REST API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94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6" y="291712"/>
            <a:ext cx="10109523" cy="586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3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네트워크] RESTful한 AP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44" b="14682"/>
          <a:stretch/>
        </p:blipFill>
        <p:spPr bwMode="auto">
          <a:xfrm>
            <a:off x="0" y="0"/>
            <a:ext cx="12192000" cy="562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19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6628221" y="833378"/>
            <a:ext cx="5050633" cy="262745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 API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통신에서 지켜야할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규칙이라고 생각하면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편합니다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pic>
        <p:nvPicPr>
          <p:cNvPr id="4098" name="Picture 2" descr="시간 훅가는 페이지 - 만우절에 꼭 지켜야 할 규칙 | Face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20" y="450889"/>
            <a:ext cx="6086525" cy="391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우끼요 # 068 # 유머 / 개그 / 웃긴사진 / 웃긴자료 / 웃긴짤 /웃긴영상 / 웃긴동영상 / 심심풀이 / 재미 / 웃긴모음 :  네이버 블로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441" y="316567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20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HTTP</a:t>
            </a: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 구조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31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간단정리] HTTP Request/Response 구조 — 넌 잘하고 있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399"/>
            <a:ext cx="10636295" cy="504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37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퍼즐을 통한 소확행, 행복퍼즐에 오신 것을 환영합니다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0577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B10F5F9B-0704-E970-2BAE-2926435964C4}"/>
              </a:ext>
            </a:extLst>
          </p:cNvPr>
          <p:cNvSpPr/>
          <p:nvPr/>
        </p:nvSpPr>
        <p:spPr>
          <a:xfrm>
            <a:off x="6264102" y="1"/>
            <a:ext cx="5927898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START LINE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어떤 방식인지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어디로 가는지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버전 표시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4135D8E-34F7-93C0-4480-77D8782F61C8}"/>
              </a:ext>
            </a:extLst>
          </p:cNvPr>
          <p:cNvCxnSpPr>
            <a:cxnSpLocks/>
          </p:cNvCxnSpPr>
          <p:nvPr/>
        </p:nvCxnSpPr>
        <p:spPr>
          <a:xfrm>
            <a:off x="3825240" y="640080"/>
            <a:ext cx="2677160" cy="101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8">
            <a:extLst>
              <a:ext uri="{FF2B5EF4-FFF2-40B4-BE49-F238E27FC236}">
                <a16:creationId xmlns:a16="http://schemas.microsoft.com/office/drawing/2014/main" id="{B10F5F9B-0704-E970-2BAE-2926435964C4}"/>
              </a:ext>
            </a:extLst>
          </p:cNvPr>
          <p:cNvSpPr/>
          <p:nvPr/>
        </p:nvSpPr>
        <p:spPr>
          <a:xfrm>
            <a:off x="6264102" y="1788161"/>
            <a:ext cx="5927898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HEADER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호스트 및 클라이언트 정보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연결 관리 등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4135D8E-34F7-93C0-4480-77D8782F61C8}"/>
              </a:ext>
            </a:extLst>
          </p:cNvPr>
          <p:cNvCxnSpPr>
            <a:cxnSpLocks/>
          </p:cNvCxnSpPr>
          <p:nvPr/>
        </p:nvCxnSpPr>
        <p:spPr>
          <a:xfrm>
            <a:off x="3931920" y="2428240"/>
            <a:ext cx="2570480" cy="101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0F5F9B-0704-E970-2BAE-2926435964C4}"/>
              </a:ext>
            </a:extLst>
          </p:cNvPr>
          <p:cNvSpPr/>
          <p:nvPr/>
        </p:nvSpPr>
        <p:spPr>
          <a:xfrm>
            <a:off x="6264102" y="3804921"/>
            <a:ext cx="5927898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BODY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전달하려는 데이터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4135D8E-34F7-93C0-4480-77D8782F61C8}"/>
              </a:ext>
            </a:extLst>
          </p:cNvPr>
          <p:cNvCxnSpPr>
            <a:cxnSpLocks/>
          </p:cNvCxnSpPr>
          <p:nvPr/>
        </p:nvCxnSpPr>
        <p:spPr>
          <a:xfrm flipV="1">
            <a:off x="2281646" y="4455160"/>
            <a:ext cx="4220754" cy="76998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44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333746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요청 메소드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339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7B8BC5-2737-B493-7C07-8A7F1CCCDB59}"/>
              </a:ext>
            </a:extLst>
          </p:cNvPr>
          <p:cNvSpPr txBox="1"/>
          <p:nvPr/>
        </p:nvSpPr>
        <p:spPr>
          <a:xfrm>
            <a:off x="1424294" y="428178"/>
            <a:ext cx="103105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</a:t>
            </a:r>
          </a:p>
          <a:p>
            <a:r>
              <a:rPr lang="en-US" altLang="ko-KR" sz="96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</a:t>
            </a:r>
          </a:p>
          <a:p>
            <a:r>
              <a:rPr lang="en-US" altLang="ko-KR" sz="96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</a:t>
            </a:r>
          </a:p>
          <a:p>
            <a:r>
              <a:rPr lang="en-US" altLang="ko-KR" sz="96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</a:t>
            </a:r>
            <a:endParaRPr lang="ko-KR" altLang="en-US" sz="9600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3FD6E-9B87-9261-8FAE-68665799F3F9}"/>
              </a:ext>
            </a:extLst>
          </p:cNvPr>
          <p:cNvSpPr txBox="1"/>
          <p:nvPr/>
        </p:nvSpPr>
        <p:spPr>
          <a:xfrm>
            <a:off x="2302945" y="723900"/>
            <a:ext cx="228203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dirty="0" err="1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reate</a:t>
            </a:r>
            <a:endParaRPr lang="ko-KR" altLang="en-US" sz="66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17C11-E2EC-A031-6FA4-FC8FC1107937}"/>
              </a:ext>
            </a:extLst>
          </p:cNvPr>
          <p:cNvSpPr txBox="1"/>
          <p:nvPr/>
        </p:nvSpPr>
        <p:spPr>
          <a:xfrm>
            <a:off x="2302945" y="2238375"/>
            <a:ext cx="16321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ead</a:t>
            </a:r>
            <a:endParaRPr lang="ko-KR" altLang="en-US" sz="66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21BF5-03F0-E5DA-74F9-5A3142298B96}"/>
              </a:ext>
            </a:extLst>
          </p:cNvPr>
          <p:cNvSpPr txBox="1"/>
          <p:nvPr/>
        </p:nvSpPr>
        <p:spPr>
          <a:xfrm>
            <a:off x="2302945" y="3648075"/>
            <a:ext cx="24615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dirty="0" err="1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pdate</a:t>
            </a:r>
            <a:endParaRPr lang="ko-KR" altLang="en-US" sz="6600" dirty="0">
              <a:solidFill>
                <a:srgbClr val="00B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3E2A8-CCF7-8A59-BDB5-E45B2A5C9041}"/>
              </a:ext>
            </a:extLst>
          </p:cNvPr>
          <p:cNvSpPr txBox="1"/>
          <p:nvPr/>
        </p:nvSpPr>
        <p:spPr>
          <a:xfrm>
            <a:off x="2302945" y="5162550"/>
            <a:ext cx="21563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dirty="0" err="1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elete</a:t>
            </a:r>
            <a:endParaRPr lang="ko-KR" altLang="en-US" sz="6600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06DAB26-81B8-FE1E-3330-C9563893320E}"/>
              </a:ext>
            </a:extLst>
          </p:cNvPr>
          <p:cNvSpPr/>
          <p:nvPr/>
        </p:nvSpPr>
        <p:spPr>
          <a:xfrm>
            <a:off x="5069027" y="1058823"/>
            <a:ext cx="542925" cy="43815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28720-AB5F-E4C8-BD36-0844B7BA80F7}"/>
              </a:ext>
            </a:extLst>
          </p:cNvPr>
          <p:cNvSpPr txBox="1"/>
          <p:nvPr/>
        </p:nvSpPr>
        <p:spPr>
          <a:xfrm>
            <a:off x="6096000" y="554623"/>
            <a:ext cx="30171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dirty="0">
                <a:solidFill>
                  <a:srgbClr val="0070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</a:t>
            </a:r>
            <a:endParaRPr lang="ko-KR" altLang="en-US" sz="8800" dirty="0">
              <a:solidFill>
                <a:srgbClr val="0070C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D16793-9262-60B6-670B-1EC0AF036B85}"/>
              </a:ext>
            </a:extLst>
          </p:cNvPr>
          <p:cNvSpPr txBox="1"/>
          <p:nvPr/>
        </p:nvSpPr>
        <p:spPr>
          <a:xfrm>
            <a:off x="6096000" y="2069098"/>
            <a:ext cx="226055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</a:t>
            </a:r>
            <a:endParaRPr lang="ko-KR" altLang="en-US" sz="8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AD24510-BF68-22FC-E707-42FFC250FDAD}"/>
              </a:ext>
            </a:extLst>
          </p:cNvPr>
          <p:cNvSpPr/>
          <p:nvPr/>
        </p:nvSpPr>
        <p:spPr>
          <a:xfrm>
            <a:off x="5069027" y="2573298"/>
            <a:ext cx="542925" cy="4381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A34BA3A-1C6C-2A37-558A-8D28D5FF4090}"/>
              </a:ext>
            </a:extLst>
          </p:cNvPr>
          <p:cNvSpPr/>
          <p:nvPr/>
        </p:nvSpPr>
        <p:spPr>
          <a:xfrm>
            <a:off x="5069027" y="3982998"/>
            <a:ext cx="542925" cy="43815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11A796-ECFC-02D8-D5DF-D9FE3DC1FD7E}"/>
              </a:ext>
            </a:extLst>
          </p:cNvPr>
          <p:cNvSpPr txBox="1"/>
          <p:nvPr/>
        </p:nvSpPr>
        <p:spPr>
          <a:xfrm>
            <a:off x="6096000" y="3478798"/>
            <a:ext cx="229742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PUT</a:t>
            </a:r>
            <a:endParaRPr lang="ko-KR" altLang="en-US" sz="8800" dirty="0">
              <a:solidFill>
                <a:srgbClr val="00B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FE719-717C-0333-F3BB-D8FDBE936449}"/>
              </a:ext>
            </a:extLst>
          </p:cNvPr>
          <p:cNvSpPr txBox="1"/>
          <p:nvPr/>
        </p:nvSpPr>
        <p:spPr>
          <a:xfrm>
            <a:off x="6059131" y="4993273"/>
            <a:ext cx="42450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DELETE</a:t>
            </a:r>
            <a:endParaRPr lang="ko-KR" altLang="en-US" sz="8800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B7D7E72F-78E8-E657-79AF-09809A664E71}"/>
              </a:ext>
            </a:extLst>
          </p:cNvPr>
          <p:cNvSpPr/>
          <p:nvPr/>
        </p:nvSpPr>
        <p:spPr>
          <a:xfrm>
            <a:off x="5069027" y="5497473"/>
            <a:ext cx="542925" cy="4381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8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9BFA05D-3B6F-B5B4-93E5-35687A43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15" y="381000"/>
            <a:ext cx="8763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97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751D3EB-DE2B-C024-23DC-5FFC6F6E0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866775"/>
            <a:ext cx="10563225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05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434B-AA8A-2DF1-81A0-79ABF3BF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3970E2-E3E1-12FB-6494-0C560A54F60D}"/>
              </a:ext>
            </a:extLst>
          </p:cNvPr>
          <p:cNvSpPr txBox="1"/>
          <p:nvPr/>
        </p:nvSpPr>
        <p:spPr>
          <a:xfrm>
            <a:off x="0" y="0"/>
            <a:ext cx="12192000" cy="652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CORS</a:t>
            </a:r>
          </a:p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(Cross-Origin</a:t>
            </a:r>
          </a:p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Resource Sharing)</a:t>
            </a:r>
          </a:p>
        </p:txBody>
      </p:sp>
    </p:spTree>
    <p:extLst>
      <p:ext uri="{BB962C8B-B14F-4D97-AF65-F5344CB8AC3E}">
        <p14:creationId xmlns:p14="http://schemas.microsoft.com/office/powerpoint/2010/main" val="362268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CE25151-982E-4743-02FD-68018A7C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640" y="166375"/>
            <a:ext cx="10293985" cy="6463025"/>
          </a:xfrm>
          <a:prstGeom prst="rect">
            <a:avLst/>
          </a:prstGeom>
        </p:spPr>
      </p:pic>
      <p:pic>
        <p:nvPicPr>
          <p:cNvPr id="2056" name="Picture 8" descr="[Dank Dubs] Guess Who">
            <a:extLst>
              <a:ext uri="{FF2B5EF4-FFF2-40B4-BE49-F238E27FC236}">
                <a16:creationId xmlns:a16="http://schemas.microsoft.com/office/drawing/2014/main" id="{9F73BA0F-B273-8FAC-93AD-9F8838974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0" y="166375"/>
            <a:ext cx="3352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71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제주 그란데 장소이전. 아라동 멕시칸요리 : 네이버 블로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85725"/>
            <a:ext cx="4149725" cy="553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모서리가 둥근 직사각형 2"/>
          <p:cNvSpPr/>
          <p:nvPr/>
        </p:nvSpPr>
        <p:spPr>
          <a:xfrm>
            <a:off x="5297134" y="419067"/>
            <a:ext cx="5766154" cy="180951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그란데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말입니다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국경은 왜 필요하죠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!?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297134" y="2588273"/>
            <a:ext cx="5766154" cy="321245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다른 나라 사람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테러리스트 등이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마구 입국하면 문제가 생기기 때문입니다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그렇다면 브라우저는 아무 데이터나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받아 줘야만 할까요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!?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당연히 안되겠죠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2862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4E515BA-726D-CAB0-3C20-5FEBC351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515"/>
          <a:stretch/>
        </p:blipFill>
        <p:spPr>
          <a:xfrm>
            <a:off x="7522210" y="2751075"/>
            <a:ext cx="4423048" cy="3839111"/>
          </a:xfrm>
          <a:prstGeom prst="rect">
            <a:avLst/>
          </a:prstGeom>
        </p:spPr>
      </p:pic>
      <p:pic>
        <p:nvPicPr>
          <p:cNvPr id="1026" name="Picture 2" descr="웃긴 짤들 338편 - YouTube">
            <a:extLst>
              <a:ext uri="{FF2B5EF4-FFF2-40B4-BE49-F238E27FC236}">
                <a16:creationId xmlns:a16="http://schemas.microsoft.com/office/drawing/2014/main" id="{A3EE2403-3A13-B42D-67EF-B64B2B2AC3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6" b="13291"/>
          <a:stretch/>
        </p:blipFill>
        <p:spPr bwMode="auto">
          <a:xfrm>
            <a:off x="139205" y="145142"/>
            <a:ext cx="8563648" cy="476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32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일사일언] 끼리끼리 논다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3790"/>
            <a:ext cx="10182880" cy="548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모서리가 둥근 직사각형 5"/>
          <p:cNvSpPr/>
          <p:nvPr/>
        </p:nvSpPr>
        <p:spPr>
          <a:xfrm>
            <a:off x="2693445" y="146015"/>
            <a:ext cx="4795990" cy="13702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서비스도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출신이 같으면 서로를 믿고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데이터를 주고 받을 수 있습니다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95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FD9AC5-A29E-261A-DCD0-D2B32021E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3" b="50000"/>
          <a:stretch/>
        </p:blipFill>
        <p:spPr>
          <a:xfrm>
            <a:off x="0" y="0"/>
            <a:ext cx="9203128" cy="6495143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13BD5A-52D1-1D3F-E748-E468BB947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970" y="1802669"/>
            <a:ext cx="1618830" cy="161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9A8CA-6D27-D2D2-CB62-097F748C5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441" y="1628741"/>
            <a:ext cx="1618830" cy="161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F643E0-7E3F-850B-EBD6-FA070FC45BA6}"/>
              </a:ext>
            </a:extLst>
          </p:cNvPr>
          <p:cNvSpPr txBox="1"/>
          <p:nvPr/>
        </p:nvSpPr>
        <p:spPr>
          <a:xfrm>
            <a:off x="4822895" y="417674"/>
            <a:ext cx="127310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멈춰라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7AC03-C0DE-5492-06A5-55F300F94248}"/>
              </a:ext>
            </a:extLst>
          </p:cNvPr>
          <p:cNvSpPr txBox="1"/>
          <p:nvPr/>
        </p:nvSpPr>
        <p:spPr>
          <a:xfrm>
            <a:off x="4822894" y="417674"/>
            <a:ext cx="127310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멈춰라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61B7A-C0D3-157A-6FB4-A4D5310E9267}"/>
              </a:ext>
            </a:extLst>
          </p:cNvPr>
          <p:cNvSpPr txBox="1"/>
          <p:nvPr/>
        </p:nvSpPr>
        <p:spPr>
          <a:xfrm>
            <a:off x="6256406" y="248396"/>
            <a:ext cx="3634328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나는 브라우저다</a:t>
            </a:r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어디서 오는 데이터인지</a:t>
            </a:r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출처를 밝혀라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D3BBB-EFD8-BE39-5802-AC063CE61731}"/>
              </a:ext>
            </a:extLst>
          </p:cNvPr>
          <p:cNvSpPr txBox="1"/>
          <p:nvPr/>
        </p:nvSpPr>
        <p:spPr>
          <a:xfrm>
            <a:off x="6256406" y="248396"/>
            <a:ext cx="3307316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나는 브라우저다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어디로 가는 요청인지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출처를 밝혀라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26" name="Picture 2" descr="28 600+ Request Photos, taleaux et images libre de droits - iStock |  Demande, Request for proposal, Strategy">
            <a:extLst>
              <a:ext uri="{FF2B5EF4-FFF2-40B4-BE49-F238E27FC236}">
                <a16:creationId xmlns:a16="http://schemas.microsoft.com/office/drawing/2014/main" id="{AC25A25B-EDCE-140E-6A4E-E756C1305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21895" y1="41741" x2="22386" y2="54911"/>
                        <a14:backgroundMark x1="22386" y1="54911" x2="31699" y2="70982"/>
                        <a14:backgroundMark x1="31699" y1="70982" x2="39052" y2="73884"/>
                        <a14:backgroundMark x1="52451" y1="74107" x2="62582" y2="74777"/>
                        <a14:backgroundMark x1="25817" y1="51339" x2="43627" y2="72545"/>
                        <a14:backgroundMark x1="43627" y1="72545" x2="47549" y2="85714"/>
                        <a14:backgroundMark x1="47549" y1="85714" x2="47549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14" t="13917" r="25442" b="28666"/>
          <a:stretch/>
        </p:blipFill>
        <p:spPr bwMode="auto">
          <a:xfrm>
            <a:off x="1724555" y="893234"/>
            <a:ext cx="1769009" cy="147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95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95918-021F-1CEC-E6BF-98EE74CC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8CB03A-95B3-71A7-A3E3-809CE278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1" y="114041"/>
            <a:ext cx="8718709" cy="63915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AEE947-7138-B6AB-EEAC-C5A6EBB7C150}"/>
              </a:ext>
            </a:extLst>
          </p:cNvPr>
          <p:cNvSpPr txBox="1"/>
          <p:nvPr/>
        </p:nvSpPr>
        <p:spPr>
          <a:xfrm>
            <a:off x="3175070" y="665324"/>
            <a:ext cx="127310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멈춰라</a:t>
            </a:r>
            <a:r>
              <a:rPr lang="en-US" altLang="ko-KR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A71F1-E92F-EA83-13B2-FEE0C5F01181}"/>
              </a:ext>
            </a:extLst>
          </p:cNvPr>
          <p:cNvSpPr txBox="1"/>
          <p:nvPr/>
        </p:nvSpPr>
        <p:spPr>
          <a:xfrm>
            <a:off x="3248560" y="449880"/>
            <a:ext cx="1255472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몰라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 </a:t>
            </a:r>
            <a:r>
              <a:rPr lang="ko-KR" altLang="en-US" sz="28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ㅎㅎ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72404-EEBF-BE9F-8AB2-608B864D5CBB}"/>
              </a:ext>
            </a:extLst>
          </p:cNvPr>
          <p:cNvSpPr txBox="1"/>
          <p:nvPr/>
        </p:nvSpPr>
        <p:spPr>
          <a:xfrm>
            <a:off x="1755844" y="3429000"/>
            <a:ext cx="1492716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어디로</a:t>
            </a:r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가는가？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B01AF6-D741-3653-8A73-860D8225F4B1}"/>
              </a:ext>
            </a:extLst>
          </p:cNvPr>
          <p:cNvSpPr txBox="1"/>
          <p:nvPr/>
        </p:nvSpPr>
        <p:spPr>
          <a:xfrm>
            <a:off x="4581822" y="3434773"/>
            <a:ext cx="127310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어디로？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5CB9E-FBA2-8B84-E9C3-5C8B58D9A6B7}"/>
              </a:ext>
            </a:extLst>
          </p:cNvPr>
          <p:cNvSpPr txBox="1"/>
          <p:nvPr/>
        </p:nvSpPr>
        <p:spPr>
          <a:xfrm>
            <a:off x="4581822" y="3434773"/>
            <a:ext cx="1165704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리얼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몰라요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10F4D-17B8-47F7-840F-031B246E6459}"/>
              </a:ext>
            </a:extLst>
          </p:cNvPr>
          <p:cNvSpPr txBox="1"/>
          <p:nvPr/>
        </p:nvSpPr>
        <p:spPr>
          <a:xfrm>
            <a:off x="7610179" y="3382685"/>
            <a:ext cx="1492716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어디로？</a:t>
            </a:r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B9A98C-673D-252C-950A-CA3894085E8A}"/>
              </a:ext>
            </a:extLst>
          </p:cNvPr>
          <p:cNvSpPr txBox="1"/>
          <p:nvPr/>
        </p:nvSpPr>
        <p:spPr>
          <a:xfrm>
            <a:off x="7610179" y="3382685"/>
            <a:ext cx="3217547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그럼 어디 소속인지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표시하는 깃발이라도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가져왔겠지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3482B3FD-E151-4559-F3E9-88E38B6BB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349" y="803955"/>
            <a:ext cx="1618830" cy="161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CC698-1AC1-AD69-7D21-3FB945660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14" y="3718028"/>
            <a:ext cx="1618830" cy="161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B52CDE-38B1-03AF-DFE9-04C316B5F11E}"/>
              </a:ext>
            </a:extLst>
          </p:cNvPr>
          <p:cNvSpPr txBox="1"/>
          <p:nvPr/>
        </p:nvSpPr>
        <p:spPr>
          <a:xfrm>
            <a:off x="1755844" y="3429000"/>
            <a:ext cx="1686680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어딘지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모르는가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8" name="Picture 2" descr="28 600+ Request Photos, taleaux et images libre de droits - iStock |  Demande, Request for proposal, Strategy">
            <a:extLst>
              <a:ext uri="{FF2B5EF4-FFF2-40B4-BE49-F238E27FC236}">
                <a16:creationId xmlns:a16="http://schemas.microsoft.com/office/drawing/2014/main" id="{B6E86772-22A8-4824-18E0-4F0207887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21895" y1="41741" x2="22386" y2="54911"/>
                        <a14:backgroundMark x1="22386" y1="54911" x2="31699" y2="70982"/>
                        <a14:backgroundMark x1="31699" y1="70982" x2="39052" y2="73884"/>
                        <a14:backgroundMark x1="52451" y1="74107" x2="62582" y2="74777"/>
                        <a14:backgroundMark x1="25817" y1="51339" x2="43627" y2="72545"/>
                        <a14:backgroundMark x1="43627" y1="72545" x2="47549" y2="85714"/>
                        <a14:backgroundMark x1="47549" y1="85714" x2="47549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14" t="13917" r="25442" b="28666"/>
          <a:stretch/>
        </p:blipFill>
        <p:spPr bwMode="auto">
          <a:xfrm>
            <a:off x="1183445" y="300507"/>
            <a:ext cx="1769009" cy="147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41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5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2324-7E9A-C50E-F84D-97D4E878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DB25CD-5ED2-462C-F945-97C7BB0C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128"/>
          <a:stretch/>
        </p:blipFill>
        <p:spPr>
          <a:xfrm>
            <a:off x="131992" y="108997"/>
            <a:ext cx="8950015" cy="32345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5FC222-1FA6-486A-3ACF-48CC9EE5CD91}"/>
              </a:ext>
            </a:extLst>
          </p:cNvPr>
          <p:cNvSpPr txBox="1"/>
          <p:nvPr/>
        </p:nvSpPr>
        <p:spPr>
          <a:xfrm>
            <a:off x="2831597" y="547255"/>
            <a:ext cx="1029203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</a:t>
            </a:r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92DC1-9427-1A92-D33E-1F8F13BAAC1F}"/>
              </a:ext>
            </a:extLst>
          </p:cNvPr>
          <p:cNvSpPr txBox="1"/>
          <p:nvPr/>
        </p:nvSpPr>
        <p:spPr>
          <a:xfrm>
            <a:off x="2831597" y="547255"/>
            <a:ext cx="1140056" cy="95410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없는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데여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!?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EDB68-2F4B-650B-47F0-BA99D39353DF}"/>
              </a:ext>
            </a:extLst>
          </p:cNvPr>
          <p:cNvSpPr txBox="1"/>
          <p:nvPr/>
        </p:nvSpPr>
        <p:spPr>
          <a:xfrm>
            <a:off x="6945160" y="540329"/>
            <a:ext cx="2461424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어디로？</a:t>
            </a:r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sz="2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4F589-9DD4-D7F2-E296-A97F3290A217}"/>
              </a:ext>
            </a:extLst>
          </p:cNvPr>
          <p:cNvSpPr txBox="1"/>
          <p:nvPr/>
        </p:nvSpPr>
        <p:spPr>
          <a:xfrm>
            <a:off x="6945159" y="540329"/>
            <a:ext cx="3371859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 소속인지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 수 없다면</a:t>
            </a:r>
            <a:endParaRPr lang="en-US" altLang="ko-KR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보내줄 수 없다</a:t>
            </a:r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5B06444D-E269-68A4-B716-ADFB6291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502" y="341285"/>
            <a:ext cx="1384995" cy="138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28 600+ Request Photos, taleaux et images libre de droits - iStock |  Demande, Request for proposal, Strategy">
            <a:extLst>
              <a:ext uri="{FF2B5EF4-FFF2-40B4-BE49-F238E27FC236}">
                <a16:creationId xmlns:a16="http://schemas.microsoft.com/office/drawing/2014/main" id="{A2693C76-4CD3-F074-9302-7AF0B38FE1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21895" y1="41741" x2="22386" y2="54911"/>
                        <a14:backgroundMark x1="22386" y1="54911" x2="31699" y2="70982"/>
                        <a14:backgroundMark x1="31699" y1="70982" x2="39052" y2="73884"/>
                        <a14:backgroundMark x1="52451" y1="74107" x2="62582" y2="74777"/>
                        <a14:backgroundMark x1="25817" y1="51339" x2="43627" y2="72545"/>
                        <a14:backgroundMark x1="43627" y1="72545" x2="47549" y2="85714"/>
                        <a14:backgroundMark x1="47549" y1="85714" x2="47549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14" t="13917" r="25442" b="28666"/>
          <a:stretch/>
        </p:blipFill>
        <p:spPr bwMode="auto">
          <a:xfrm>
            <a:off x="61632" y="142703"/>
            <a:ext cx="2732988" cy="227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43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38CC-65E7-6C59-040A-2B051EA6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A08475F-0113-F983-F0BB-4F1938CDA6CD}"/>
              </a:ext>
            </a:extLst>
          </p:cNvPr>
          <p:cNvGrpSpPr/>
          <p:nvPr/>
        </p:nvGrpSpPr>
        <p:grpSpPr>
          <a:xfrm>
            <a:off x="185962" y="479432"/>
            <a:ext cx="6060106" cy="6190656"/>
            <a:chOff x="232144" y="191671"/>
            <a:chExt cx="4586810" cy="419560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1D26A23-DE63-58E3-B496-59F6E4FF5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" r="60824"/>
            <a:stretch/>
          </p:blipFill>
          <p:spPr>
            <a:xfrm>
              <a:off x="232144" y="191671"/>
              <a:ext cx="4586810" cy="4195601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D7050C5-2063-630F-E0C8-817BD57F1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749" b="47493" l="4207" r="39006">
                          <a14:foregroundMark x1="28298" y1="36675" x2="24857" y2="44327"/>
                          <a14:foregroundMark x1="24857" y1="44327" x2="17782" y2="47493"/>
                          <a14:foregroundMark x1="17782" y1="47493" x2="10325" y2="41953"/>
                          <a14:foregroundMark x1="10325" y1="41953" x2="9178" y2="40633"/>
                        </a14:backgroundRemoval>
                      </a14:imgEffect>
                    </a14:imgLayer>
                  </a14:imgProps>
                </a:ext>
              </a:extLst>
            </a:blip>
            <a:srcRect r="56583" b="50128"/>
            <a:stretch/>
          </p:blipFill>
          <p:spPr>
            <a:xfrm rot="15643500">
              <a:off x="597088" y="832694"/>
              <a:ext cx="3151837" cy="2623594"/>
            </a:xfrm>
            <a:prstGeom prst="rect">
              <a:avLst/>
            </a:prstGeom>
          </p:spPr>
        </p:pic>
      </p:grpSp>
      <p:sp>
        <p:nvSpPr>
          <p:cNvPr id="7" name="모서리가 둥근 직사각형 3">
            <a:extLst>
              <a:ext uri="{FF2B5EF4-FFF2-40B4-BE49-F238E27FC236}">
                <a16:creationId xmlns:a16="http://schemas.microsoft.com/office/drawing/2014/main" id="{C119DC20-E142-8084-D28E-2C0A73B9586F}"/>
              </a:ext>
            </a:extLst>
          </p:cNvPr>
          <p:cNvSpPr/>
          <p:nvPr/>
        </p:nvSpPr>
        <p:spPr>
          <a:xfrm>
            <a:off x="6391564" y="1036565"/>
            <a:ext cx="5696960" cy="407114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브라우저는 보안상의 이유로 실행되는 </a:t>
            </a:r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어플리케이션이 다른 리소스에</a:t>
            </a:r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접근하는 것을 제한 합니다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웹 어플리케이션이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kern="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request </a:t>
            </a:r>
            <a:r>
              <a:rPr lang="ko-KR" altLang="en-US" sz="2400" kern="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보낼 때</a:t>
            </a:r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origin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헤더를 추가하고</a:t>
            </a:r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응답을 하는 서버에서 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origin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대한</a:t>
            </a:r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적절한 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header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response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담아서</a:t>
            </a:r>
            <a:endParaRPr lang="en-US" altLang="ko-KR" sz="2400" kern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보내지 </a:t>
            </a:r>
            <a:r>
              <a:rPr lang="ko-KR" altLang="en-US" sz="2400" kern="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않으면 </a:t>
            </a:r>
            <a:r>
              <a:rPr lang="ko-KR" altLang="en-US" sz="2400" kern="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브라우저가</a:t>
            </a:r>
            <a:endParaRPr lang="en-US" altLang="ko-KR" sz="2400" kern="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kern="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 </a:t>
            </a:r>
            <a:r>
              <a:rPr lang="ko-KR" altLang="en-US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자체를 차단합니다</a:t>
            </a:r>
            <a:r>
              <a:rPr lang="en-US" altLang="ko-KR" sz="2400" kern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pic>
        <p:nvPicPr>
          <p:cNvPr id="2" name="Picture 2" descr="28 600+ Request Photos, taleaux et images libre de droits - iStock |  Demande, Request for proposal, Strategy">
            <a:extLst>
              <a:ext uri="{FF2B5EF4-FFF2-40B4-BE49-F238E27FC236}">
                <a16:creationId xmlns:a16="http://schemas.microsoft.com/office/drawing/2014/main" id="{CBD5DA45-A894-142D-110A-84764DBB81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21895" y1="41741" x2="22386" y2="54911"/>
                        <a14:backgroundMark x1="22386" y1="54911" x2="31699" y2="70982"/>
                        <a14:backgroundMark x1="31699" y1="70982" x2="39052" y2="73884"/>
                        <a14:backgroundMark x1="52451" y1="74107" x2="62582" y2="74777"/>
                        <a14:backgroundMark x1="25817" y1="51339" x2="43627" y2="72545"/>
                        <a14:backgroundMark x1="43627" y1="72545" x2="47549" y2="85714"/>
                        <a14:backgroundMark x1="47549" y1="85714" x2="47549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014" t="13917" r="25442" b="28666"/>
          <a:stretch/>
        </p:blipFill>
        <p:spPr bwMode="auto">
          <a:xfrm>
            <a:off x="-95385" y="187912"/>
            <a:ext cx="2732988" cy="227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0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7941-425F-3B0C-EF69-C78C021F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909B41-A26B-DB08-E263-68B38A456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" y="69193"/>
            <a:ext cx="7700970" cy="5149351"/>
          </a:xfrm>
          <a:prstGeom prst="rect">
            <a:avLst/>
          </a:prstGeom>
        </p:spPr>
      </p:pic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B10F5F9B-0704-E970-2BAE-2926435964C4}"/>
              </a:ext>
            </a:extLst>
          </p:cNvPr>
          <p:cNvSpPr/>
          <p:nvPr/>
        </p:nvSpPr>
        <p:spPr>
          <a:xfrm>
            <a:off x="7970982" y="939719"/>
            <a:ext cx="4221018" cy="44820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전쟁에서 깃발을 이용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아군인지 적군인지를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쉽게 판단하는 것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브라우저도 헤더의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origin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먼저 체크하여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데이터의 안전성을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체크합니다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4135D8E-34F7-93C0-4480-77D8782F61C8}"/>
              </a:ext>
            </a:extLst>
          </p:cNvPr>
          <p:cNvCxnSpPr>
            <a:cxnSpLocks/>
          </p:cNvCxnSpPr>
          <p:nvPr/>
        </p:nvCxnSpPr>
        <p:spPr>
          <a:xfrm>
            <a:off x="3472873" y="1639456"/>
            <a:ext cx="4747491" cy="40178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05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프론트엔드] - CORS의 역습 | 찬미니즘">
            <a:extLst>
              <a:ext uri="{FF2B5EF4-FFF2-40B4-BE49-F238E27FC236}">
                <a16:creationId xmlns:a16="http://schemas.microsoft.com/office/drawing/2014/main" id="{26B63520-1A13-03F0-8511-A0FE005D87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1" t="5341"/>
          <a:stretch/>
        </p:blipFill>
        <p:spPr bwMode="auto">
          <a:xfrm>
            <a:off x="92363" y="92366"/>
            <a:ext cx="11931673" cy="676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24D4DBD-4D53-B79A-39A8-7FD8705B49FD}"/>
              </a:ext>
            </a:extLst>
          </p:cNvPr>
          <p:cNvSpPr/>
          <p:nvPr/>
        </p:nvSpPr>
        <p:spPr>
          <a:xfrm>
            <a:off x="4488873" y="2466109"/>
            <a:ext cx="3657600" cy="36945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4B7D59-CB25-54ED-FA1D-7C21D7F93523}"/>
              </a:ext>
            </a:extLst>
          </p:cNvPr>
          <p:cNvSpPr/>
          <p:nvPr/>
        </p:nvSpPr>
        <p:spPr>
          <a:xfrm>
            <a:off x="3745345" y="4262580"/>
            <a:ext cx="5112328" cy="3694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A16F18-89BD-DF5E-9C09-0C7A4522C1C9}"/>
              </a:ext>
            </a:extLst>
          </p:cNvPr>
          <p:cNvSpPr/>
          <p:nvPr/>
        </p:nvSpPr>
        <p:spPr>
          <a:xfrm>
            <a:off x="572654" y="5560290"/>
            <a:ext cx="5112328" cy="6650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0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B16CE-7D4B-246F-7AAA-DC36AB54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D2A892-0F03-6C33-AF89-DB9783FE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7" y="109867"/>
            <a:ext cx="10288436" cy="3553321"/>
          </a:xfrm>
          <a:prstGeom prst="rect">
            <a:avLst/>
          </a:prstGeom>
        </p:spPr>
      </p:pic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E0109284-BE48-D176-5E96-049F6180C3A2}"/>
              </a:ext>
            </a:extLst>
          </p:cNvPr>
          <p:cNvSpPr/>
          <p:nvPr/>
        </p:nvSpPr>
        <p:spPr>
          <a:xfrm>
            <a:off x="2235200" y="3429000"/>
            <a:ext cx="9125527" cy="29256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서버에 위와 같은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코드등으로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자신에게 접근이 가능한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프론트엔드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주소를 설정 할 수 있습니다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지금은 모든 요청에 대한 응답을 처리하는 코드이고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실제로 위와 같이 설정을 하면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Spring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알아서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요청을 보낸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프론트엔드의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주소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origin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헤더에 추가해서 보내줍니다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458C5E-7347-A285-EAC0-8FF27FD61214}"/>
              </a:ext>
            </a:extLst>
          </p:cNvPr>
          <p:cNvCxnSpPr>
            <a:cxnSpLocks/>
          </p:cNvCxnSpPr>
          <p:nvPr/>
        </p:nvCxnSpPr>
        <p:spPr>
          <a:xfrm>
            <a:off x="2512291" y="3103418"/>
            <a:ext cx="249382" cy="66501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83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272626-BBF5-3AE0-C045-D116E004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3" y="2363830"/>
            <a:ext cx="8859486" cy="3534268"/>
          </a:xfrm>
          <a:prstGeom prst="rect">
            <a:avLst/>
          </a:prstGeom>
        </p:spPr>
      </p:pic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4959927" y="318655"/>
            <a:ext cx="6557818" cy="1667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혹은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스프링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어노테이션을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이용해서 편리하게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설정도 가능합니다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 flipV="1">
            <a:off x="2382981" y="1667105"/>
            <a:ext cx="2863274" cy="118456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08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7EEB-5A3C-29BE-C8AD-D65F2463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6469F5-7C62-0CA3-4EEE-BCB3729A3896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CORS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체험하기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0260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92FC-475D-2EB6-9F31-129AAD9F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2597" y="94544"/>
            <a:ext cx="8808334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'/dynamic/:mood'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'dynamic'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DynamicPage.vue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'/user/:id'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'user'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UserPage.vue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CorsPage.vue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'/: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pathMatch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(.*)*'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notfound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NotFound.vue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],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});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8554276" y="2631114"/>
            <a:ext cx="3637724" cy="1667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확인을 위한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 flipV="1">
            <a:off x="3149248" y="3464695"/>
            <a:ext cx="5566489" cy="59228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13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4328" y="137490"/>
            <a:ext cx="8989671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nav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Home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"/about"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About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"/dynamic/happy"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Happy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"/dynamic/exciting"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Exciting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"/user"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User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8554276" y="2631114"/>
            <a:ext cx="3637724" cy="16671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페이지에 접근이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가능하도록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링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6701742" y="3333509"/>
            <a:ext cx="2013995" cy="13118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7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3305" y="48243"/>
            <a:ext cx="11455079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CORS PAGE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CORS_URL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'https://port-0-tetz-night-back-m5yo5gmx92cc34bc.sel4.cloudtype.app'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checkCors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CORS_URL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/on'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fetch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json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'CORS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응답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'CORS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응답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checkCors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8554276" y="48244"/>
            <a:ext cx="3637724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 확인을 위한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포인트 루트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 flipV="1">
            <a:off x="5359078" y="775504"/>
            <a:ext cx="3356659" cy="137738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8554276" y="2880152"/>
            <a:ext cx="3637724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설정이 되어있는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포인트로 요청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6041985" y="3553428"/>
            <a:ext cx="2673752" cy="1062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8554276" y="4778400"/>
            <a:ext cx="3637724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서버에서 받은 응답을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6516547" y="4653023"/>
            <a:ext cx="2199190" cy="80927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07" y="198839"/>
            <a:ext cx="5125165" cy="4029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오른쪽 화살표 3"/>
          <p:cNvSpPr/>
          <p:nvPr/>
        </p:nvSpPr>
        <p:spPr>
          <a:xfrm rot="12833419">
            <a:off x="4340506" y="1736202"/>
            <a:ext cx="798654" cy="7407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557" y="3409640"/>
            <a:ext cx="8402223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2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3305" y="48243"/>
            <a:ext cx="11455079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CORS PAGE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CORS_URL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'https://port-0-tetz-night-back-m5yo5gmx92cc34bc.sel4.cloudtype.app'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checkCors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CORS_URL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 smtClean="0">
                <a:solidFill>
                  <a:srgbClr val="CE9178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/off'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fetch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json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'CORS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응답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'CORS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응답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checkCors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8554276" y="2880152"/>
            <a:ext cx="3637724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설정이 없는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포인트로 변경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6041985" y="3553428"/>
            <a:ext cx="2673752" cy="1062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21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07" y="198839"/>
            <a:ext cx="5125165" cy="4029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오른쪽 화살표 3"/>
          <p:cNvSpPr/>
          <p:nvPr/>
        </p:nvSpPr>
        <p:spPr>
          <a:xfrm rot="12833419">
            <a:off x="4340506" y="1736202"/>
            <a:ext cx="798654" cy="7407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829" y="3398489"/>
            <a:ext cx="8926171" cy="2676899"/>
          </a:xfrm>
          <a:prstGeom prst="rect">
            <a:avLst/>
          </a:prstGeom>
        </p:spPr>
      </p:pic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6962823" y="1411750"/>
            <a:ext cx="4195171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이슈가 발생합니다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25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7EEB-5A3C-29BE-C8AD-D65F2463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6469F5-7C62-0CA3-4EEE-BCB3729A3896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CORS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백엔드</a:t>
            </a: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코드 보기</a:t>
            </a:r>
            <a:r>
              <a:rPr lang="en-US" altLang="ko-KR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702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3" y="1684398"/>
            <a:ext cx="9278645" cy="3743847"/>
          </a:xfrm>
          <a:prstGeom prst="rect">
            <a:avLst/>
          </a:prstGeom>
        </p:spPr>
      </p:pic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4896675" y="1071912"/>
            <a:ext cx="6550687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스프링의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어노테이션을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이용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모든 출처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(*)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접근을 허용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 flipV="1">
            <a:off x="2523281" y="1755813"/>
            <a:ext cx="2534856" cy="48967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0313" y="231494"/>
            <a:ext cx="10333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https://</a:t>
            </a:r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.app/</a:t>
            </a:r>
            <a:r>
              <a:rPr lang="en-US" altLang="ko-KR" sz="3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/on  </a:t>
            </a:r>
            <a:r>
              <a:rPr lang="ko-KR" altLang="en-US" sz="3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</a:t>
            </a:r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포인트 서버의 코드</a:t>
            </a:r>
            <a:endParaRPr lang="ko-KR" altLang="en-US" sz="3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882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25" y="2068980"/>
            <a:ext cx="9250066" cy="3391373"/>
          </a:xfrm>
          <a:prstGeom prst="rect">
            <a:avLst/>
          </a:prstGeom>
        </p:spPr>
      </p:pic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4653607" y="1164509"/>
            <a:ext cx="7245168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스프링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어노테이션이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없어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동일 소스에 대한 접근만 허용하는 상태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 flipV="1">
            <a:off x="2280213" y="1848410"/>
            <a:ext cx="2534856" cy="48967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60313" y="231494"/>
            <a:ext cx="10411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https://</a:t>
            </a:r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.app/</a:t>
            </a:r>
            <a:r>
              <a:rPr lang="en-US" altLang="ko-KR" sz="3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/off  </a:t>
            </a:r>
            <a:r>
              <a:rPr lang="ko-KR" altLang="en-US" sz="3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</a:t>
            </a:r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포인트 서버의 코드</a:t>
            </a:r>
            <a:endParaRPr lang="ko-KR" altLang="en-US" sz="3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606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블라인드 | 유우머: 위선도 선이고, 악법도 법이라면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41"/>
          <a:stretch/>
        </p:blipFill>
        <p:spPr bwMode="auto">
          <a:xfrm>
            <a:off x="264486" y="497711"/>
            <a:ext cx="7175410" cy="622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789" y="2097215"/>
            <a:ext cx="2165443" cy="26327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4486" y="138896"/>
            <a:ext cx="10639451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강사님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</a:p>
          <a:p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이거 </a:t>
            </a:r>
            <a:r>
              <a:rPr lang="ko-KR" altLang="en-US" sz="3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백엔드에서만</a:t>
            </a:r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해줘야 하나요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!? </a:t>
            </a:r>
            <a:r>
              <a:rPr lang="ko-KR" altLang="en-US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프론트는 못하나요</a:t>
            </a:r>
            <a:r>
              <a:rPr lang="en-US" altLang="ko-KR" sz="3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ko-KR" altLang="en-US" sz="3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6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가능짤 - 뽐뿌:짤방갤러리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" y="163672"/>
            <a:ext cx="9914400" cy="658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7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7EEB-5A3C-29BE-C8AD-D65F2463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6469F5-7C62-0CA3-4EEE-BCB3729A3896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Vue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PROXY </a:t>
            </a: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설정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21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제주 그란데 장소이전. 아라동 멕시칸요리 : 네이버 블로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85725"/>
            <a:ext cx="4149725" cy="553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모서리가 둥근 직사각형 2"/>
          <p:cNvSpPr/>
          <p:nvPr/>
        </p:nvSpPr>
        <p:spPr>
          <a:xfrm>
            <a:off x="5297134" y="419067"/>
            <a:ext cx="5766154" cy="10856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그란데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말입니다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뭐죠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Picture 2" descr="인성이 쓰레기인 우리 대리님.jpg - 뽐뿌:자유게시판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288" y="1804464"/>
            <a:ext cx="6804175" cy="442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40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PROXY SERVER란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73" y="121494"/>
            <a:ext cx="100203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1770927" y="4382271"/>
            <a:ext cx="8497546" cy="20301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클라이언트 요청을 마치 다른 서버에서 보내는 것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꾸미는 것을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라고 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클라이언트의 요청을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대리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대신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)’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해주는 개념이죠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 flipH="1">
            <a:off x="6111433" y="3287210"/>
            <a:ext cx="416690" cy="121534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48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96456" y="103955"/>
            <a:ext cx="11663422" cy="50783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export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defineConfig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plugins: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[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(),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vueDevTools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()],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resolve: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alias: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'@'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fileURLToPath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new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EC9B0"/>
                </a:solidFill>
                <a:latin typeface="JetBrains Mono" panose="020B0509020102050004" pitchFamily="49" charset="0"/>
              </a:rPr>
              <a:t>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src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meta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server: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proxy: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target: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'https://port-0-tetz-night-back-m5yo5gmx92cc34bc.sel4.cloudtype.app'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changeOrigin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rewrite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path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replace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D16969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^</a:t>
            </a:r>
            <a:r>
              <a:rPr lang="en-US" altLang="ko-KR" dirty="0">
                <a:solidFill>
                  <a:srgbClr val="D7BA7D"/>
                </a:solidFill>
                <a:latin typeface="JetBrains Mono" panose="020B0509020102050004" pitchFamily="49" charset="0"/>
              </a:rPr>
              <a:t>\/</a:t>
            </a:r>
            <a:r>
              <a:rPr lang="en-US" altLang="ko-KR" dirty="0" err="1">
                <a:solidFill>
                  <a:srgbClr val="D16969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D16969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});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2187616" y="4660064"/>
            <a:ext cx="8497546" cy="20301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vite.config.js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위와 같이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서버를 등록해 줍니다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백엔드의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엔드포인트를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‘/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api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라는 요청으로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대리해주는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등록이 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1527858" y="4178461"/>
            <a:ext cx="1111170" cy="75235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03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6" y="169819"/>
            <a:ext cx="4866636" cy="6133295"/>
          </a:xfrm>
          <a:prstGeom prst="rect">
            <a:avLst/>
          </a:prstGeom>
        </p:spPr>
      </p:pic>
      <p:pic>
        <p:nvPicPr>
          <p:cNvPr id="7170" name="Picture 2" descr="IB 학생, 오늘의 할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698" y="2307962"/>
            <a:ext cx="6166653" cy="344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5621274" y="1014038"/>
            <a:ext cx="6222077" cy="907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직접 그려서 설명 하겠습니다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ㅎㅎㅎㅎ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973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9449" y="59818"/>
            <a:ext cx="10150998" cy="61863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CORS_URL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'https://port-0-tetz-night-back-m5yo5gmx92cc34bc.sel4.cloudtype.app'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PROXY_URL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checkCors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PROXY_URL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cors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/off'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fetch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json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'CORS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응답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corsData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'CORS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응답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checkCors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6967959" y="1086076"/>
            <a:ext cx="4911524" cy="777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등록한 주소를 선언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3750197" y="1354238"/>
            <a:ext cx="3576578" cy="15047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6620719" y="2131685"/>
            <a:ext cx="5571281" cy="2127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 주소를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등록 주소로 변경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백엔드에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설정이 안된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포인트로 요청은 유지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9F9B51E-75B7-FCF7-AC7E-03FCCCD5A1D9}"/>
              </a:ext>
            </a:extLst>
          </p:cNvPr>
          <p:cNvCxnSpPr>
            <a:cxnSpLocks/>
          </p:cNvCxnSpPr>
          <p:nvPr/>
        </p:nvCxnSpPr>
        <p:spPr>
          <a:xfrm>
            <a:off x="6331352" y="2476984"/>
            <a:ext cx="520861" cy="27779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92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07" y="198839"/>
            <a:ext cx="5125165" cy="4029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오른쪽 화살표 4"/>
          <p:cNvSpPr/>
          <p:nvPr/>
        </p:nvSpPr>
        <p:spPr>
          <a:xfrm rot="12833419">
            <a:off x="4340506" y="1736202"/>
            <a:ext cx="798654" cy="7407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092" y="3420433"/>
            <a:ext cx="8811398" cy="977947"/>
          </a:xfrm>
          <a:prstGeom prst="rect">
            <a:avLst/>
          </a:prstGeom>
        </p:spPr>
      </p:pic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328AF76D-D3E1-B805-C004-3B89EE291152}"/>
              </a:ext>
            </a:extLst>
          </p:cNvPr>
          <p:cNvSpPr/>
          <p:nvPr/>
        </p:nvSpPr>
        <p:spPr>
          <a:xfrm>
            <a:off x="6534560" y="1367756"/>
            <a:ext cx="4195171" cy="1224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이슈가 사라집니다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613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눈물 감동 박수 흑형 좋아하는 감동적이야 축하&#10;&lt;script src=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" y="139599"/>
            <a:ext cx="10199774" cy="579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99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제주 그란데 장소이전. 아라동 멕시칸요리 : 네이버 블로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85725"/>
            <a:ext cx="4149725" cy="553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모서리가 둥근 직사각형 2"/>
          <p:cNvSpPr/>
          <p:nvPr/>
        </p:nvSpPr>
        <p:spPr>
          <a:xfrm>
            <a:off x="5297134" y="85725"/>
            <a:ext cx="5766154" cy="158335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그란데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말입니다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프론트에서 마음대로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회피하면 될까요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5297134" y="1831125"/>
            <a:ext cx="5766154" cy="454306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당연히 보안적으로 위험합니다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기본적으로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백엔드에서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접근이 가능한 주소를 명확히 처리하는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방식으로 적용해야만 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방법은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환경에서만 지원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서비스로 빌드가 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설정은 자동 삭제 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5479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우아한 테크코스] 프리코스 후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00" y="257020"/>
            <a:ext cx="5909560" cy="364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모서리가 둥근 직사각형 2"/>
          <p:cNvSpPr/>
          <p:nvPr/>
        </p:nvSpPr>
        <p:spPr>
          <a:xfrm>
            <a:off x="6246258" y="257020"/>
            <a:ext cx="5766154" cy="125926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그러면 이러한 기능을 왜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제공하는거죠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6246258" y="1770928"/>
            <a:ext cx="5766154" cy="387751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환경의 경우 개발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백엔드에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쉽게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접근이 안되는 경우가 많으며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포트 또는 주소 요청을 변경하는 경우가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많습니다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이럴 때 마다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CORS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터진다면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!?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개발이 힘들어지기 때문에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 환경에서만 이를 지원합니다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848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70C0"/>
                </a:solidFill>
              </a:rPr>
              <a:t>실습</a:t>
            </a:r>
            <a:r>
              <a:rPr lang="en-US" altLang="ko-KR" dirty="0" smtClean="0">
                <a:solidFill>
                  <a:srgbClr val="0070C0"/>
                </a:solidFill>
              </a:rPr>
              <a:t>, Proxy </a:t>
            </a:r>
            <a:r>
              <a:rPr lang="ko-KR" altLang="en-US" dirty="0" smtClean="0">
                <a:solidFill>
                  <a:srgbClr val="0070C0"/>
                </a:solidFill>
              </a:rPr>
              <a:t>추가 및 </a:t>
            </a:r>
            <a:r>
              <a:rPr lang="ko-KR" altLang="en-US" dirty="0" err="1" smtClean="0">
                <a:solidFill>
                  <a:srgbClr val="0070C0"/>
                </a:solidFill>
              </a:rPr>
              <a:t>백엔드</a:t>
            </a:r>
            <a:r>
              <a:rPr lang="ko-KR" altLang="en-US" dirty="0" smtClean="0">
                <a:solidFill>
                  <a:srgbClr val="0070C0"/>
                </a:solidFill>
              </a:rPr>
              <a:t> 데이터 받기</a:t>
            </a:r>
            <a:r>
              <a:rPr lang="en-US" altLang="ko-KR" dirty="0" smtClean="0">
                <a:solidFill>
                  <a:srgbClr val="0070C0"/>
                </a:solidFill>
              </a:rPr>
              <a:t>!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CorsExPage.vue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 추가해 주세요</a:t>
            </a:r>
            <a:endParaRPr lang="en-US" altLang="ko-KR" dirty="0" smtClean="0"/>
          </a:p>
          <a:p>
            <a:r>
              <a:rPr lang="en-US" altLang="ko-KR" dirty="0" smtClean="0"/>
              <a:t>/ex-</a:t>
            </a:r>
            <a:r>
              <a:rPr lang="en-US" altLang="ko-KR" dirty="0" err="1" smtClean="0"/>
              <a:t>cors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주소 요청이 발생하면</a:t>
            </a:r>
            <a:r>
              <a:rPr lang="en-US" altLang="ko-KR" dirty="0"/>
              <a:t> </a:t>
            </a:r>
            <a:r>
              <a:rPr lang="en-US" altLang="ko-KR" dirty="0" err="1" smtClean="0"/>
              <a:t>CorsExPage.vue</a:t>
            </a:r>
            <a:r>
              <a:rPr lang="en-US" altLang="ko-KR" dirty="0" smtClean="0"/>
              <a:t> </a:t>
            </a:r>
            <a:r>
              <a:rPr lang="ko-KR" altLang="en-US" dirty="0" smtClean="0"/>
              <a:t>페이지가 뜨도록 </a:t>
            </a:r>
            <a:r>
              <a:rPr lang="en-US" altLang="ko-KR" dirty="0" smtClean="0"/>
              <a:t>router </a:t>
            </a:r>
            <a:r>
              <a:rPr lang="ko-KR" altLang="en-US" dirty="0" smtClean="0"/>
              <a:t>설정 및 </a:t>
            </a:r>
            <a:r>
              <a:rPr lang="en-US" altLang="ko-KR" dirty="0" err="1" smtClean="0"/>
              <a:t>App.vue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Link </a:t>
            </a:r>
            <a:r>
              <a:rPr lang="ko-KR" altLang="en-US" dirty="0" smtClean="0"/>
              <a:t>도 추가해 주세요</a:t>
            </a:r>
            <a:endParaRPr lang="en-US" altLang="ko-KR" dirty="0" smtClean="0"/>
          </a:p>
          <a:p>
            <a:r>
              <a:rPr lang="en-US" altLang="ko-KR" dirty="0" err="1" smtClean="0"/>
              <a:t>CorsExPage</a:t>
            </a:r>
            <a:r>
              <a:rPr lang="ko-KR" altLang="en-US" dirty="0" smtClean="0"/>
              <a:t> 는 아래의 </a:t>
            </a:r>
            <a:r>
              <a:rPr lang="ko-KR" altLang="en-US" dirty="0" err="1" smtClean="0"/>
              <a:t>엔드</a:t>
            </a:r>
            <a:r>
              <a:rPr lang="ko-KR" altLang="en-US" dirty="0" smtClean="0"/>
              <a:t> 포인트로</a:t>
            </a:r>
            <a:r>
              <a:rPr lang="en-US" altLang="ko-KR" dirty="0" smtClean="0"/>
              <a:t> get </a:t>
            </a:r>
            <a:r>
              <a:rPr lang="ko-KR" altLang="en-US" dirty="0" smtClean="0"/>
              <a:t>방식 요청을 보내고 해당 데이터를 받아서 </a:t>
            </a:r>
            <a:r>
              <a:rPr lang="en-US" altLang="ko-KR" dirty="0" smtClean="0"/>
              <a:t>console.log </a:t>
            </a:r>
            <a:r>
              <a:rPr lang="ko-KR" altLang="en-US" dirty="0" smtClean="0"/>
              <a:t>에 출력하는 기능을 가집니다</a:t>
            </a:r>
            <a:endParaRPr lang="en-US" altLang="ko-KR" dirty="0" smtClean="0"/>
          </a:p>
          <a:p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port-0-tetz-night-back-m5yo5gmx92cc34bc.sel4.cloudtype.app/cors/ex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75156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70C0"/>
                </a:solidFill>
              </a:rPr>
              <a:t>실습</a:t>
            </a:r>
            <a:r>
              <a:rPr lang="en-US" altLang="ko-KR" dirty="0" smtClean="0">
                <a:solidFill>
                  <a:srgbClr val="0070C0"/>
                </a:solidFill>
              </a:rPr>
              <a:t>, Proxy </a:t>
            </a:r>
            <a:r>
              <a:rPr lang="ko-KR" altLang="en-US" dirty="0" smtClean="0">
                <a:solidFill>
                  <a:srgbClr val="0070C0"/>
                </a:solidFill>
              </a:rPr>
              <a:t>추가 및 </a:t>
            </a:r>
            <a:r>
              <a:rPr lang="ko-KR" altLang="en-US" dirty="0" err="1" smtClean="0">
                <a:solidFill>
                  <a:srgbClr val="0070C0"/>
                </a:solidFill>
              </a:rPr>
              <a:t>백엔드</a:t>
            </a:r>
            <a:r>
              <a:rPr lang="ko-KR" altLang="en-US" dirty="0" smtClean="0">
                <a:solidFill>
                  <a:srgbClr val="0070C0"/>
                </a:solidFill>
              </a:rPr>
              <a:t> 데이터 받기</a:t>
            </a:r>
            <a:r>
              <a:rPr lang="en-US" altLang="ko-KR" dirty="0" smtClean="0">
                <a:solidFill>
                  <a:srgbClr val="0070C0"/>
                </a:solidFill>
              </a:rPr>
              <a:t>!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추가 사항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 </a:t>
            </a:r>
            <a:r>
              <a:rPr lang="en-US" altLang="ko-KR" dirty="0" smtClean="0"/>
              <a:t>X)</a:t>
            </a:r>
          </a:p>
          <a:p>
            <a:pPr lvl="1"/>
            <a:r>
              <a:rPr lang="ko-KR" altLang="en-US" dirty="0" smtClean="0"/>
              <a:t>위에 제공 된 </a:t>
            </a:r>
            <a:r>
              <a:rPr lang="ko-KR" altLang="en-US" dirty="0" err="1" smtClean="0"/>
              <a:t>엔드포인트를</a:t>
            </a:r>
            <a:r>
              <a:rPr lang="ko-KR" altLang="en-US" dirty="0" smtClean="0"/>
              <a:t> 추가 </a:t>
            </a:r>
            <a:r>
              <a:rPr lang="en-US" altLang="ko-KR" dirty="0" smtClean="0"/>
              <a:t>proxy </a:t>
            </a:r>
            <a:r>
              <a:rPr lang="ko-KR" altLang="en-US" dirty="0" smtClean="0"/>
              <a:t>로 설정하여 처리해 주세요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proxy </a:t>
            </a:r>
            <a:r>
              <a:rPr lang="ko-KR" altLang="en-US" dirty="0" smtClean="0"/>
              <a:t>주소는 원하시는 대로 하시면 됩니다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10988" y="3395399"/>
            <a:ext cx="11245582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server: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proxy: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target: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'https://port-0-tetz-night-back-m5yo5gmx92cc34bc.sel4.cloudtype.app'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changeOrigin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rewrite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path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replace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D16969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^</a:t>
            </a:r>
            <a:r>
              <a:rPr lang="en-US" altLang="ko-KR" dirty="0">
                <a:solidFill>
                  <a:srgbClr val="D7BA7D"/>
                </a:solidFill>
                <a:latin typeface="JetBrains Mono" panose="020B0509020102050004" pitchFamily="49" charset="0"/>
              </a:rPr>
              <a:t>\/</a:t>
            </a:r>
            <a:r>
              <a:rPr lang="en-US" altLang="ko-KR" dirty="0" err="1">
                <a:solidFill>
                  <a:srgbClr val="D16969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D16969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JetBrains Mono" panose="020B05090201020500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JetBrains Mono" panose="020B0509020102050004" pitchFamily="49" charset="0"/>
              </a:rPr>
              <a:t>여기를 구현해 주세요</a:t>
            </a:r>
            <a:endParaRPr lang="ko-KR" altLang="en-US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},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},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7859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55" y="163561"/>
            <a:ext cx="5458587" cy="3848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55" y="4164565"/>
            <a:ext cx="11712751" cy="79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11147</TotalTime>
  <Words>656</Words>
  <Application>Microsoft Office PowerPoint</Application>
  <PresentationFormat>와이드스크린</PresentationFormat>
  <Paragraphs>300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4" baseType="lpstr">
      <vt:lpstr>나눔스퀘어 Bold</vt:lpstr>
      <vt:lpstr>맑은 고딕</vt:lpstr>
      <vt:lpstr>Jetbrains Mono</vt:lpstr>
      <vt:lpstr>Arial</vt:lpstr>
      <vt:lpstr>나눔스퀘어 ExtraBold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실습, Proxy 추가 및 백엔드 데이터 받기!</vt:lpstr>
      <vt:lpstr>실습, Proxy 추가 및 백엔드 데이터 받기!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157</dc:creator>
  <cp:lastModifiedBy>student</cp:lastModifiedBy>
  <cp:revision>1648</cp:revision>
  <dcterms:created xsi:type="dcterms:W3CDTF">2022-05-29T13:34:07Z</dcterms:created>
  <dcterms:modified xsi:type="dcterms:W3CDTF">2025-04-02T03:35:52Z</dcterms:modified>
</cp:coreProperties>
</file>